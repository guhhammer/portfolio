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sldIdLst>
    <p:sldId id="256" r:id="rId2"/>
    <p:sldId id="257" r:id="rId3"/>
    <p:sldId id="284" r:id="rId4"/>
    <p:sldId id="287" r:id="rId5"/>
    <p:sldId id="288" r:id="rId6"/>
    <p:sldId id="289" r:id="rId7"/>
    <p:sldId id="290" r:id="rId8"/>
    <p:sldId id="301" r:id="rId9"/>
    <p:sldId id="291" r:id="rId10"/>
    <p:sldId id="292" r:id="rId11"/>
    <p:sldId id="280" r:id="rId12"/>
    <p:sldId id="294" r:id="rId13"/>
    <p:sldId id="295" r:id="rId14"/>
    <p:sldId id="296" r:id="rId15"/>
    <p:sldId id="304" r:id="rId16"/>
    <p:sldId id="305" r:id="rId17"/>
    <p:sldId id="306" r:id="rId18"/>
    <p:sldId id="307" r:id="rId19"/>
    <p:sldId id="297" r:id="rId20"/>
    <p:sldId id="299" r:id="rId21"/>
    <p:sldId id="298" r:id="rId22"/>
    <p:sldId id="300" r:id="rId23"/>
    <p:sldId id="302" r:id="rId24"/>
    <p:sldId id="303" r:id="rId25"/>
    <p:sldId id="308" r:id="rId26"/>
    <p:sldId id="309" r:id="rId27"/>
    <p:sldId id="310" r:id="rId28"/>
    <p:sldId id="311" r:id="rId29"/>
    <p:sldId id="259" r:id="rId30"/>
    <p:sldId id="283" r:id="rId31"/>
    <p:sldId id="285" r:id="rId32"/>
    <p:sldId id="258" r:id="rId33"/>
    <p:sldId id="260" r:id="rId34"/>
    <p:sldId id="261" r:id="rId35"/>
    <p:sldId id="262" r:id="rId36"/>
    <p:sldId id="264" r:id="rId37"/>
    <p:sldId id="265" r:id="rId38"/>
    <p:sldId id="266" r:id="rId39"/>
    <p:sldId id="267" r:id="rId40"/>
    <p:sldId id="268" r:id="rId41"/>
    <p:sldId id="269" r:id="rId42"/>
    <p:sldId id="270" r:id="rId43"/>
    <p:sldId id="272" r:id="rId44"/>
    <p:sldId id="271" r:id="rId45"/>
    <p:sldId id="273" r:id="rId46"/>
    <p:sldId id="274" r:id="rId47"/>
    <p:sldId id="275" r:id="rId48"/>
    <p:sldId id="277" r:id="rId49"/>
    <p:sldId id="279" r:id="rId50"/>
    <p:sldId id="293" r:id="rId51"/>
    <p:sldId id="281" r:id="rId52"/>
    <p:sldId id="276" r:id="rId53"/>
    <p:sldId id="278" r:id="rId54"/>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38" autoAdjust="0"/>
    <p:restoredTop sz="95226" autoAdjust="0"/>
  </p:normalViewPr>
  <p:slideViewPr>
    <p:cSldViewPr snapToGrid="0">
      <p:cViewPr varScale="1">
        <p:scale>
          <a:sx n="82" d="100"/>
          <a:sy n="82" d="100"/>
        </p:scale>
        <p:origin x="67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798E-90C4-48E6-B39B-37FF65347ABD}"/>
              </a:ext>
            </a:extLst>
          </p:cNvPr>
          <p:cNvSpPr>
            <a:spLocks noGrp="1"/>
          </p:cNvSpPr>
          <p:nvPr>
            <p:ph type="ctrTitle"/>
          </p:nvPr>
        </p:nvSpPr>
        <p:spPr>
          <a:xfrm>
            <a:off x="2197100" y="1079500"/>
            <a:ext cx="7797799" cy="2138400"/>
          </a:xfrm>
        </p:spPr>
        <p:txBody>
          <a:bodyPr anchor="b">
            <a:normAutofit/>
          </a:bodyPr>
          <a:lstStyle>
            <a:lvl1pPr algn="ctr">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3D95C8C-0A7F-40D9-A690-3D5898EFFE81}"/>
              </a:ext>
            </a:extLst>
          </p:cNvPr>
          <p:cNvSpPr>
            <a:spLocks noGrp="1"/>
          </p:cNvSpPr>
          <p:nvPr>
            <p:ph type="subTitle" idx="1"/>
          </p:nvPr>
        </p:nvSpPr>
        <p:spPr>
          <a:xfrm>
            <a:off x="3308350" y="4113213"/>
            <a:ext cx="5575300" cy="1655762"/>
          </a:xfrm>
        </p:spPr>
        <p:txBody>
          <a:bodyPr/>
          <a:lstStyle>
            <a:lvl1pPr marL="0" indent="0" algn="ctr">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D1322F3-E47A-4D6E-96A8-AB5C73BA9906}"/>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6/17/2021</a:t>
            </a:fld>
            <a:endParaRPr lang="en-US" dirty="0"/>
          </a:p>
        </p:txBody>
      </p:sp>
      <p:sp>
        <p:nvSpPr>
          <p:cNvPr id="5" name="Footer Placeholder 4">
            <a:extLst>
              <a:ext uri="{FF2B5EF4-FFF2-40B4-BE49-F238E27FC236}">
                <a16:creationId xmlns:a16="http://schemas.microsoft.com/office/drawing/2014/main" id="{737BF5CE-9E66-4FD5-949F-34E11607C6DF}"/>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EEDAB7A-4032-416A-B04E-1F4878912E0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‹nº›</a:t>
            </a:fld>
            <a:endParaRPr lang="en-US" dirty="0"/>
          </a:p>
        </p:txBody>
      </p:sp>
      <p:cxnSp>
        <p:nvCxnSpPr>
          <p:cNvPr id="7" name="Straight Connector 6">
            <a:extLst>
              <a:ext uri="{FF2B5EF4-FFF2-40B4-BE49-F238E27FC236}">
                <a16:creationId xmlns:a16="http://schemas.microsoft.com/office/drawing/2014/main" id="{701C0CAB-6A03-4C6A-9FAA-219847753628}"/>
              </a:ext>
            </a:extLst>
          </p:cNvPr>
          <p:cNvCxnSpPr>
            <a:cxnSpLocks/>
          </p:cNvCxnSpPr>
          <p:nvPr/>
        </p:nvCxnSpPr>
        <p:spPr>
          <a:xfrm>
            <a:off x="5826000"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F982E0B2-AA9C-441C-A08E-A9DF9CF12116}"/>
              </a:ext>
            </a:extLst>
          </p:cNvPr>
          <p:cNvGrpSpPr/>
          <p:nvPr/>
        </p:nvGrpSpPr>
        <p:grpSpPr>
          <a:xfrm>
            <a:off x="9728046" y="4869342"/>
            <a:ext cx="1623711" cy="630920"/>
            <a:chOff x="9588346" y="4824892"/>
            <a:chExt cx="1623711" cy="630920"/>
          </a:xfrm>
        </p:grpSpPr>
        <p:sp>
          <p:nvSpPr>
            <p:cNvPr id="16" name="Freeform: Shape 15">
              <a:extLst>
                <a:ext uri="{FF2B5EF4-FFF2-40B4-BE49-F238E27FC236}">
                  <a16:creationId xmlns:a16="http://schemas.microsoft.com/office/drawing/2014/main" id="{A4A2E074-C10D-4C57-AB72-B631E4D77102}"/>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0B037EB3-1772-4BA8-A95A-E5DBDFEA32B0}"/>
                </a:ext>
              </a:extLst>
            </p:cNvPr>
            <p:cNvGrpSpPr/>
            <p:nvPr/>
          </p:nvGrpSpPr>
          <p:grpSpPr>
            <a:xfrm rot="2700000" flipH="1">
              <a:off x="10112436" y="4359902"/>
              <a:ext cx="571820" cy="1620000"/>
              <a:chOff x="8482785" y="4330454"/>
              <a:chExt cx="571820" cy="1620000"/>
            </a:xfrm>
          </p:grpSpPr>
          <p:sp>
            <p:nvSpPr>
              <p:cNvPr id="18" name="Freeform: Shape 17">
                <a:extLst>
                  <a:ext uri="{FF2B5EF4-FFF2-40B4-BE49-F238E27FC236}">
                    <a16:creationId xmlns:a16="http://schemas.microsoft.com/office/drawing/2014/main" id="{A1F47AC1-63D0-47F3-9728-1A0A0543494B}"/>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9" name="Straight Connector 18">
                <a:extLst>
                  <a:ext uri="{FF2B5EF4-FFF2-40B4-BE49-F238E27FC236}">
                    <a16:creationId xmlns:a16="http://schemas.microsoft.com/office/drawing/2014/main" id="{803A57D6-0C36-4560-A08A-16768551EF6F}"/>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4071589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A217A-A229-4751-8D09-0CAD914F628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A9DEA33-60C3-4B28-B3EF-E93D6D46A3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7D3B28-C66B-4279-AB67-2BC1D01239A4}"/>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6/17/2021</a:t>
            </a:fld>
            <a:endParaRPr lang="en-US"/>
          </a:p>
        </p:txBody>
      </p:sp>
      <p:sp>
        <p:nvSpPr>
          <p:cNvPr id="5" name="Footer Placeholder 4">
            <a:extLst>
              <a:ext uri="{FF2B5EF4-FFF2-40B4-BE49-F238E27FC236}">
                <a16:creationId xmlns:a16="http://schemas.microsoft.com/office/drawing/2014/main" id="{8928FF39-A0DA-4F77-9297-B83C86B575D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9D7D65A-9D4E-42F6-A8BF-1EEAFB180710}"/>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‹nº›</a:t>
            </a:fld>
            <a:endParaRPr lang="en-US"/>
          </a:p>
        </p:txBody>
      </p:sp>
    </p:spTree>
    <p:extLst>
      <p:ext uri="{BB962C8B-B14F-4D97-AF65-F5344CB8AC3E}">
        <p14:creationId xmlns:p14="http://schemas.microsoft.com/office/powerpoint/2010/main" val="1799064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017BB-B242-4CC6-887C-83E08CE2D54A}"/>
              </a:ext>
            </a:extLst>
          </p:cNvPr>
          <p:cNvSpPr>
            <a:spLocks noGrp="1"/>
          </p:cNvSpPr>
          <p:nvPr>
            <p:ph type="title"/>
          </p:nvPr>
        </p:nvSpPr>
        <p:spPr>
          <a:xfrm>
            <a:off x="1079500" y="2252663"/>
            <a:ext cx="4457700" cy="2349500"/>
          </a:xfrm>
        </p:spPr>
        <p:txBody>
          <a:bodyPr anchor="ctr" anchorCtr="0">
            <a:normAutofit/>
          </a:bodyPr>
          <a:lstStyle>
            <a:lvl1pPr algn="ctr">
              <a:defRPr sz="2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695823-EA83-493F-8FEC-C72B5B9CF2FD}"/>
              </a:ext>
            </a:extLst>
          </p:cNvPr>
          <p:cNvSpPr>
            <a:spLocks noGrp="1"/>
          </p:cNvSpPr>
          <p:nvPr>
            <p:ph type="body" idx="1"/>
          </p:nvPr>
        </p:nvSpPr>
        <p:spPr>
          <a:xfrm>
            <a:off x="6654800" y="2252664"/>
            <a:ext cx="4451348" cy="2349500"/>
          </a:xfrm>
        </p:spPr>
        <p:txBody>
          <a:bodyPr anchor="ctr" anchorCtr="0"/>
          <a:lstStyle>
            <a:lvl1pPr marL="0" indent="0">
              <a:buNone/>
              <a:defRPr sz="2400" i="1">
                <a:solidFill>
                  <a:schemeClr val="tx1">
                    <a:alpha val="7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E08E54-36BB-4AB4-BE1F-5FA8207BEAF8}"/>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6/17/2021</a:t>
            </a:fld>
            <a:endParaRPr lang="en-US"/>
          </a:p>
        </p:txBody>
      </p:sp>
      <p:sp>
        <p:nvSpPr>
          <p:cNvPr id="5" name="Footer Placeholder 4">
            <a:extLst>
              <a:ext uri="{FF2B5EF4-FFF2-40B4-BE49-F238E27FC236}">
                <a16:creationId xmlns:a16="http://schemas.microsoft.com/office/drawing/2014/main" id="{C0453A6A-C55A-40A1-A3BB-DB417047F54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6D6E656-7AC0-4BD3-AFE5-4B5122E2F2D8}"/>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‹nº›</a:t>
            </a:fld>
            <a:endParaRPr lang="en-US"/>
          </a:p>
        </p:txBody>
      </p:sp>
      <p:grpSp>
        <p:nvGrpSpPr>
          <p:cNvPr id="20" name="Group 19">
            <a:extLst>
              <a:ext uri="{FF2B5EF4-FFF2-40B4-BE49-F238E27FC236}">
                <a16:creationId xmlns:a16="http://schemas.microsoft.com/office/drawing/2014/main" id="{E9ABE19D-0B51-4388-93D1-0CD6B767115D}"/>
              </a:ext>
            </a:extLst>
          </p:cNvPr>
          <p:cNvGrpSpPr/>
          <p:nvPr/>
        </p:nvGrpSpPr>
        <p:grpSpPr>
          <a:xfrm>
            <a:off x="999771" y="932104"/>
            <a:ext cx="913428" cy="1032464"/>
            <a:chOff x="999771" y="932104"/>
            <a:chExt cx="913428" cy="1032464"/>
          </a:xfrm>
        </p:grpSpPr>
        <p:grpSp>
          <p:nvGrpSpPr>
            <p:cNvPr id="21" name="Group 20">
              <a:extLst>
                <a:ext uri="{FF2B5EF4-FFF2-40B4-BE49-F238E27FC236}">
                  <a16:creationId xmlns:a16="http://schemas.microsoft.com/office/drawing/2014/main" id="{46226ED6-7133-4222-9552-0EA4B1B3C9FB}"/>
                </a:ext>
              </a:extLst>
            </p:cNvPr>
            <p:cNvGrpSpPr/>
            <p:nvPr/>
          </p:nvGrpSpPr>
          <p:grpSpPr>
            <a:xfrm rot="8100000" flipV="1">
              <a:off x="1047457" y="1290386"/>
              <a:ext cx="865742" cy="628383"/>
              <a:chOff x="558167" y="958515"/>
              <a:chExt cx="865742" cy="628383"/>
            </a:xfrm>
            <a:solidFill>
              <a:schemeClr val="accent3"/>
            </a:solidFill>
          </p:grpSpPr>
          <p:sp>
            <p:nvSpPr>
              <p:cNvPr id="28" name="Freeform: Shape 27">
                <a:extLst>
                  <a:ext uri="{FF2B5EF4-FFF2-40B4-BE49-F238E27FC236}">
                    <a16:creationId xmlns:a16="http://schemas.microsoft.com/office/drawing/2014/main" id="{BE810E40-D42F-4034-93BA-54446465D20B}"/>
                  </a:ext>
                </a:extLst>
              </p:cNvPr>
              <p:cNvSpPr/>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9" name="Freeform: Shape 28">
                <a:extLst>
                  <a:ext uri="{FF2B5EF4-FFF2-40B4-BE49-F238E27FC236}">
                    <a16:creationId xmlns:a16="http://schemas.microsoft.com/office/drawing/2014/main" id="{60F6BFC2-CA89-42B8-8A5A-E9F26BA87FBB}"/>
                  </a:ext>
                </a:extLst>
              </p:cNvPr>
              <p:cNvSpPr/>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2" name="Group 21">
              <a:extLst>
                <a:ext uri="{FF2B5EF4-FFF2-40B4-BE49-F238E27FC236}">
                  <a16:creationId xmlns:a16="http://schemas.microsoft.com/office/drawing/2014/main" id="{1CA36485-DC1D-48C9-91B2-425DBC66D471}"/>
                </a:ext>
              </a:extLst>
            </p:cNvPr>
            <p:cNvGrpSpPr/>
            <p:nvPr/>
          </p:nvGrpSpPr>
          <p:grpSpPr>
            <a:xfrm rot="10800000" flipH="1" flipV="1">
              <a:off x="999771" y="932104"/>
              <a:ext cx="864005" cy="1032464"/>
              <a:chOff x="2207971" y="2384401"/>
              <a:chExt cx="864005" cy="1032464"/>
            </a:xfrm>
          </p:grpSpPr>
          <p:sp>
            <p:nvSpPr>
              <p:cNvPr id="23" name="Freeform: Shape 22">
                <a:extLst>
                  <a:ext uri="{FF2B5EF4-FFF2-40B4-BE49-F238E27FC236}">
                    <a16:creationId xmlns:a16="http://schemas.microsoft.com/office/drawing/2014/main" id="{0ACF276E-196C-4923-B7D1-48A8E6A1669C}"/>
                  </a:ext>
                </a:extLst>
              </p:cNvPr>
              <p:cNvSpPr/>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Freeform: Shape 23">
                <a:extLst>
                  <a:ext uri="{FF2B5EF4-FFF2-40B4-BE49-F238E27FC236}">
                    <a16:creationId xmlns:a16="http://schemas.microsoft.com/office/drawing/2014/main" id="{FFE3686C-DFF6-4995-81B8-FA38F5BB0401}"/>
                  </a:ext>
                </a:extLst>
              </p:cNvPr>
              <p:cNvSpPr/>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5" name="Group 24">
                <a:extLst>
                  <a:ext uri="{FF2B5EF4-FFF2-40B4-BE49-F238E27FC236}">
                    <a16:creationId xmlns:a16="http://schemas.microsoft.com/office/drawing/2014/main" id="{9DCBF653-CCB9-47B2-9DD9-68847A45D82D}"/>
                  </a:ext>
                </a:extLst>
              </p:cNvPr>
              <p:cNvGrpSpPr/>
              <p:nvPr/>
            </p:nvGrpSpPr>
            <p:grpSpPr>
              <a:xfrm>
                <a:off x="2440769" y="2384401"/>
                <a:ext cx="313009" cy="1032464"/>
                <a:chOff x="2440769" y="2384401"/>
                <a:chExt cx="313009" cy="1032464"/>
              </a:xfrm>
            </p:grpSpPr>
            <p:cxnSp>
              <p:nvCxnSpPr>
                <p:cNvPr id="26" name="Straight Connector 25">
                  <a:extLst>
                    <a:ext uri="{FF2B5EF4-FFF2-40B4-BE49-F238E27FC236}">
                      <a16:creationId xmlns:a16="http://schemas.microsoft.com/office/drawing/2014/main" id="{7F081A1F-C7C9-4907-AAED-B4E9B64973FB}"/>
                    </a:ext>
                  </a:extLst>
                </p:cNvPr>
                <p:cNvCxnSpPr>
                  <a:cxnSpLocks/>
                </p:cNvCxnSpPr>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4F8F89A-0719-4D9A-8379-9EEBD7201052}"/>
                    </a:ext>
                  </a:extLst>
                </p:cNvPr>
                <p:cNvCxnSpPr>
                  <a:cxnSpLocks/>
                </p:cNvCxnSpPr>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30" name="Group 29">
            <a:extLst>
              <a:ext uri="{FF2B5EF4-FFF2-40B4-BE49-F238E27FC236}">
                <a16:creationId xmlns:a16="http://schemas.microsoft.com/office/drawing/2014/main" id="{E7AA5779-FF0F-4ACF-A56C-710A4CDEC8A3}"/>
              </a:ext>
            </a:extLst>
          </p:cNvPr>
          <p:cNvGrpSpPr/>
          <p:nvPr/>
        </p:nvGrpSpPr>
        <p:grpSpPr>
          <a:xfrm>
            <a:off x="1437136" y="649304"/>
            <a:ext cx="388541" cy="388541"/>
            <a:chOff x="5752675" y="5440856"/>
            <a:chExt cx="388541" cy="388541"/>
          </a:xfrm>
        </p:grpSpPr>
        <p:sp>
          <p:nvSpPr>
            <p:cNvPr id="31" name="Oval 30">
              <a:extLst>
                <a:ext uri="{FF2B5EF4-FFF2-40B4-BE49-F238E27FC236}">
                  <a16:creationId xmlns:a16="http://schemas.microsoft.com/office/drawing/2014/main" id="{5F0ADB13-4626-4F84-B513-0B58E65C248E}"/>
                </a:ext>
              </a:extLst>
            </p:cNvPr>
            <p:cNvSpPr/>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2" name="Oval 31">
              <a:extLst>
                <a:ext uri="{FF2B5EF4-FFF2-40B4-BE49-F238E27FC236}">
                  <a16:creationId xmlns:a16="http://schemas.microsoft.com/office/drawing/2014/main" id="{AF46BC46-AD78-4932-95BA-D3009154CA7A}"/>
                </a:ext>
              </a:extLst>
            </p:cNvPr>
            <p:cNvSpPr/>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cxnSp>
        <p:nvCxnSpPr>
          <p:cNvPr id="33" name="Straight Connector 32">
            <a:extLst>
              <a:ext uri="{FF2B5EF4-FFF2-40B4-BE49-F238E27FC236}">
                <a16:creationId xmlns:a16="http://schemas.microsoft.com/office/drawing/2014/main" id="{D38118F0-6EA8-4901-9161-9101C6DDD97E}"/>
              </a:ext>
            </a:extLst>
          </p:cNvPr>
          <p:cNvCxnSpPr>
            <a:cxnSpLocks/>
          </p:cNvCxnSpPr>
          <p:nvPr/>
        </p:nvCxnSpPr>
        <p:spPr>
          <a:xfrm rot="16200000" flipH="1">
            <a:off x="5826000" y="342900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8848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013D-A80D-4455-B886-0C3448294C02}"/>
              </a:ext>
            </a:extLst>
          </p:cNvPr>
          <p:cNvSpPr>
            <a:spLocks noGrp="1"/>
          </p:cNvSpPr>
          <p:nvPr>
            <p:ph type="title"/>
          </p:nvPr>
        </p:nvSpPr>
        <p:spPr/>
        <p:txBody>
          <a:bodyPr/>
          <a:lstStyle>
            <a:lvl1pPr algn="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99D3AB-20B9-4D90-8106-506F443682C8}"/>
              </a:ext>
            </a:extLst>
          </p:cNvPr>
          <p:cNvSpPr>
            <a:spLocks noGrp="1"/>
          </p:cNvSpPr>
          <p:nvPr>
            <p:ph sz="half" idx="1"/>
          </p:nvPr>
        </p:nvSpPr>
        <p:spPr>
          <a:xfrm>
            <a:off x="108585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5F9DF39-257F-4C10-A7B4-1AA1C66F28E9}"/>
              </a:ext>
            </a:extLst>
          </p:cNvPr>
          <p:cNvSpPr>
            <a:spLocks noGrp="1"/>
          </p:cNvSpPr>
          <p:nvPr>
            <p:ph sz="half" idx="2"/>
          </p:nvPr>
        </p:nvSpPr>
        <p:spPr>
          <a:xfrm>
            <a:off x="636600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0E57E5E-B324-4633-AB65-4A53498B9FA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6/17/2021</a:t>
            </a:fld>
            <a:endParaRPr lang="en-US"/>
          </a:p>
        </p:txBody>
      </p:sp>
      <p:sp>
        <p:nvSpPr>
          <p:cNvPr id="6" name="Footer Placeholder 5">
            <a:extLst>
              <a:ext uri="{FF2B5EF4-FFF2-40B4-BE49-F238E27FC236}">
                <a16:creationId xmlns:a16="http://schemas.microsoft.com/office/drawing/2014/main" id="{5B42A16D-8423-4C91-B839-F95380250FA3}"/>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63AD46B-C875-4F91-8991-4A4E5D768D9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‹nº›</a:t>
            </a:fld>
            <a:endParaRPr lang="en-US"/>
          </a:p>
        </p:txBody>
      </p:sp>
    </p:spTree>
    <p:extLst>
      <p:ext uri="{BB962C8B-B14F-4D97-AF65-F5344CB8AC3E}">
        <p14:creationId xmlns:p14="http://schemas.microsoft.com/office/powerpoint/2010/main" val="2716716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170C3-74D3-4445-A879-4F7CF42ED29A}"/>
              </a:ext>
            </a:extLst>
          </p:cNvPr>
          <p:cNvSpPr>
            <a:spLocks noGrp="1"/>
          </p:cNvSpPr>
          <p:nvPr>
            <p:ph type="title"/>
          </p:nvPr>
        </p:nvSpPr>
        <p:spPr>
          <a:xfrm>
            <a:off x="1079500" y="1011238"/>
            <a:ext cx="10026650" cy="655637"/>
          </a:xfrm>
        </p:spPr>
        <p:txBody>
          <a:bodyPr>
            <a:normAutofit/>
          </a:bodyPr>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64494-3C1C-49FE-ADB2-6F41CEEA82EF}"/>
              </a:ext>
            </a:extLst>
          </p:cNvPr>
          <p:cNvSpPr>
            <a:spLocks noGrp="1"/>
          </p:cNvSpPr>
          <p:nvPr>
            <p:ph type="body" idx="1"/>
          </p:nvPr>
        </p:nvSpPr>
        <p:spPr>
          <a:xfrm>
            <a:off x="107950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EE19A6-8340-43A4-9B30-A27DEB9E2BF1}"/>
              </a:ext>
            </a:extLst>
          </p:cNvPr>
          <p:cNvSpPr>
            <a:spLocks noGrp="1"/>
          </p:cNvSpPr>
          <p:nvPr>
            <p:ph sz="half" idx="2"/>
          </p:nvPr>
        </p:nvSpPr>
        <p:spPr>
          <a:xfrm>
            <a:off x="1079500" y="2525561"/>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7B9D4B31-0090-483A-BF84-CEA2B22D51D5}"/>
              </a:ext>
            </a:extLst>
          </p:cNvPr>
          <p:cNvSpPr>
            <a:spLocks noGrp="1"/>
          </p:cNvSpPr>
          <p:nvPr>
            <p:ph type="body" sz="quarter" idx="3"/>
          </p:nvPr>
        </p:nvSpPr>
        <p:spPr>
          <a:xfrm>
            <a:off x="636495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8DB9E9-0BD8-4F85-9342-5C5BA0D35CEA}"/>
              </a:ext>
            </a:extLst>
          </p:cNvPr>
          <p:cNvSpPr>
            <a:spLocks noGrp="1"/>
          </p:cNvSpPr>
          <p:nvPr>
            <p:ph sz="quarter" idx="4"/>
          </p:nvPr>
        </p:nvSpPr>
        <p:spPr>
          <a:xfrm>
            <a:off x="6364950" y="2525560"/>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52AE3D3E-6168-45C3-BAB4-04FFFB9835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6/17/2021</a:t>
            </a:fld>
            <a:endParaRPr lang="en-US"/>
          </a:p>
        </p:txBody>
      </p:sp>
      <p:sp>
        <p:nvSpPr>
          <p:cNvPr id="8" name="Footer Placeholder 7">
            <a:extLst>
              <a:ext uri="{FF2B5EF4-FFF2-40B4-BE49-F238E27FC236}">
                <a16:creationId xmlns:a16="http://schemas.microsoft.com/office/drawing/2014/main" id="{DA8F8D02-7CCF-4321-847A-CD553E52A342}"/>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9F966368-2A9A-4617-A2A9-E4E9ACD06381}"/>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‹nº›</a:t>
            </a:fld>
            <a:endParaRPr lang="en-US"/>
          </a:p>
        </p:txBody>
      </p:sp>
    </p:spTree>
    <p:extLst>
      <p:ext uri="{BB962C8B-B14F-4D97-AF65-F5344CB8AC3E}">
        <p14:creationId xmlns:p14="http://schemas.microsoft.com/office/powerpoint/2010/main" val="2883416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0855A-C7D7-455F-BD47-AB4221DD0240}"/>
              </a:ext>
            </a:extLst>
          </p:cNvPr>
          <p:cNvSpPr>
            <a:spLocks noGrp="1"/>
          </p:cNvSpPr>
          <p:nvPr>
            <p:ph type="title"/>
          </p:nvPr>
        </p:nvSpPr>
        <p:spPr>
          <a:xfrm>
            <a:off x="1079500" y="1079500"/>
            <a:ext cx="10026650" cy="4689475"/>
          </a:xfrm>
        </p:spPr>
        <p:txBody>
          <a:bodyPr anchor="ctr"/>
          <a:lstStyle>
            <a:lvl1pPr algn="ct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1629F6FD-C2F8-4688-B52A-ED76F48B8B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6/17/2021</a:t>
            </a:fld>
            <a:endParaRPr lang="en-US"/>
          </a:p>
        </p:txBody>
      </p:sp>
      <p:sp>
        <p:nvSpPr>
          <p:cNvPr id="4" name="Footer Placeholder 3">
            <a:extLst>
              <a:ext uri="{FF2B5EF4-FFF2-40B4-BE49-F238E27FC236}">
                <a16:creationId xmlns:a16="http://schemas.microsoft.com/office/drawing/2014/main" id="{AB358F0F-237C-4F8E-A5A7-48269F700B1D}"/>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68C3629E-70C3-44A4-A268-2194CD424AF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‹nº›</a:t>
            </a:fld>
            <a:endParaRPr lang="en-US"/>
          </a:p>
        </p:txBody>
      </p:sp>
    </p:spTree>
    <p:extLst>
      <p:ext uri="{BB962C8B-B14F-4D97-AF65-F5344CB8AC3E}">
        <p14:creationId xmlns:p14="http://schemas.microsoft.com/office/powerpoint/2010/main" val="3712023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0232D4-EC56-49D3-B967-D972B5E5E2C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6/17/2021</a:t>
            </a:fld>
            <a:endParaRPr lang="en-US"/>
          </a:p>
        </p:txBody>
      </p:sp>
      <p:sp>
        <p:nvSpPr>
          <p:cNvPr id="3" name="Footer Placeholder 2">
            <a:extLst>
              <a:ext uri="{FF2B5EF4-FFF2-40B4-BE49-F238E27FC236}">
                <a16:creationId xmlns:a16="http://schemas.microsoft.com/office/drawing/2014/main" id="{0B2C3171-136A-405F-B1CF-C0DAFAA21E4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6523E7E-BA29-40D2-BE24-10E7F705040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‹nº›</a:t>
            </a:fld>
            <a:endParaRPr lang="en-US"/>
          </a:p>
        </p:txBody>
      </p:sp>
    </p:spTree>
    <p:extLst>
      <p:ext uri="{BB962C8B-B14F-4D97-AF65-F5344CB8AC3E}">
        <p14:creationId xmlns:p14="http://schemas.microsoft.com/office/powerpoint/2010/main" val="2026392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607EF-706F-47DD-B487-7C3E4EDE1945}"/>
              </a:ext>
            </a:extLst>
          </p:cNvPr>
          <p:cNvSpPr>
            <a:spLocks noGrp="1"/>
          </p:cNvSpPr>
          <p:nvPr>
            <p:ph type="title"/>
          </p:nvPr>
        </p:nvSpPr>
        <p:spPr>
          <a:xfrm>
            <a:off x="1071607" y="1011238"/>
            <a:ext cx="3906000" cy="1292400"/>
          </a:xfrm>
        </p:spPr>
        <p:txBody>
          <a:bodyPr anchor="t" anchorCtr="0">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8298442-7D9F-4D62-866B-FBA382F06C4C}"/>
              </a:ext>
            </a:extLst>
          </p:cNvPr>
          <p:cNvSpPr>
            <a:spLocks noGrp="1"/>
          </p:cNvSpPr>
          <p:nvPr>
            <p:ph idx="1"/>
          </p:nvPr>
        </p:nvSpPr>
        <p:spPr>
          <a:xfrm>
            <a:off x="5537200" y="955230"/>
            <a:ext cx="5583193" cy="4813745"/>
          </a:xfrm>
        </p:spPr>
        <p:txBody>
          <a:bodyPr/>
          <a:lstStyle>
            <a:lvl1pPr marL="0" indent="0">
              <a:lnSpc>
                <a:spcPct val="100000"/>
              </a:lnSpc>
              <a:buFontTx/>
              <a:buNone/>
              <a:defRPr sz="4800"/>
            </a:lvl1pPr>
            <a:lvl2pPr marL="0">
              <a:lnSpc>
                <a:spcPct val="100000"/>
              </a:lnSpc>
              <a:defRPr sz="4800"/>
            </a:lvl2pPr>
            <a:lvl3pPr marL="0" indent="0">
              <a:buNone/>
              <a:defRPr sz="2000"/>
            </a:lvl3pPr>
            <a:lvl4pPr marL="0">
              <a:defRPr sz="2000"/>
            </a:lvl4pPr>
            <a:lvl5pPr marL="360000">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67D1DB7-AC43-460E-B3C5-9F8B37D1B50A}"/>
              </a:ext>
            </a:extLst>
          </p:cNvPr>
          <p:cNvSpPr>
            <a:spLocks noGrp="1"/>
          </p:cNvSpPr>
          <p:nvPr>
            <p:ph type="body" sz="half" idx="2"/>
          </p:nvPr>
        </p:nvSpPr>
        <p:spPr>
          <a:xfrm>
            <a:off x="1079499" y="2664000"/>
            <a:ext cx="3905999" cy="310680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0C5DE9-6995-4F6E-AF64-6CE9A677971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6/17/2021</a:t>
            </a:fld>
            <a:endParaRPr lang="en-US"/>
          </a:p>
        </p:txBody>
      </p:sp>
      <p:sp>
        <p:nvSpPr>
          <p:cNvPr id="6" name="Footer Placeholder 5">
            <a:extLst>
              <a:ext uri="{FF2B5EF4-FFF2-40B4-BE49-F238E27FC236}">
                <a16:creationId xmlns:a16="http://schemas.microsoft.com/office/drawing/2014/main" id="{388BC655-2B4D-48CA-90B9-740400332295}"/>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1314A7E0-1D83-4CE0-9FFE-3EEE2B3C27E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‹nº›</a:t>
            </a:fld>
            <a:endParaRPr lang="en-US"/>
          </a:p>
        </p:txBody>
      </p:sp>
    </p:spTree>
    <p:extLst>
      <p:ext uri="{BB962C8B-B14F-4D97-AF65-F5344CB8AC3E}">
        <p14:creationId xmlns:p14="http://schemas.microsoft.com/office/powerpoint/2010/main" val="4181568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F7F85-950A-4BED-AE31-5C85DE4FA488}"/>
              </a:ext>
            </a:extLst>
          </p:cNvPr>
          <p:cNvSpPr>
            <a:spLocks noGrp="1"/>
          </p:cNvSpPr>
          <p:nvPr>
            <p:ph type="title"/>
          </p:nvPr>
        </p:nvSpPr>
        <p:spPr>
          <a:xfrm>
            <a:off x="1079501" y="1011238"/>
            <a:ext cx="3905250" cy="1292662"/>
          </a:xfrm>
        </p:spPr>
        <p:txBody>
          <a:bodyPr anchor="t"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813A008-3741-4305-8A06-C0D8404A32BB}"/>
              </a:ext>
            </a:extLst>
          </p:cNvPr>
          <p:cNvSpPr>
            <a:spLocks noGrp="1"/>
          </p:cNvSpPr>
          <p:nvPr>
            <p:ph type="pic" idx="1"/>
          </p:nvPr>
        </p:nvSpPr>
        <p:spPr>
          <a:xfrm>
            <a:off x="5537200" y="531813"/>
            <a:ext cx="6113812" cy="578484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BF2ADC63-3365-4920-AF26-600F4D2EA579}"/>
              </a:ext>
            </a:extLst>
          </p:cNvPr>
          <p:cNvSpPr>
            <a:spLocks noGrp="1"/>
          </p:cNvSpPr>
          <p:nvPr>
            <p:ph type="body" sz="half" idx="2"/>
          </p:nvPr>
        </p:nvSpPr>
        <p:spPr>
          <a:xfrm>
            <a:off x="1079500" y="2663825"/>
            <a:ext cx="3905250" cy="310515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C161BE-EF8B-4F4D-8197-61442EBC46B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6/17/2021</a:t>
            </a:fld>
            <a:endParaRPr lang="en-US"/>
          </a:p>
        </p:txBody>
      </p:sp>
      <p:sp>
        <p:nvSpPr>
          <p:cNvPr id="6" name="Footer Placeholder 5">
            <a:extLst>
              <a:ext uri="{FF2B5EF4-FFF2-40B4-BE49-F238E27FC236}">
                <a16:creationId xmlns:a16="http://schemas.microsoft.com/office/drawing/2014/main" id="{9FD37897-BFE5-414E-9334-53116988DC3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F5BF024-9A20-4B80-976D-420DCCD1616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‹nº›</a:t>
            </a:fld>
            <a:endParaRPr lang="en-US"/>
          </a:p>
        </p:txBody>
      </p:sp>
    </p:spTree>
    <p:extLst>
      <p:ext uri="{BB962C8B-B14F-4D97-AF65-F5344CB8AC3E}">
        <p14:creationId xmlns:p14="http://schemas.microsoft.com/office/powerpoint/2010/main" val="412204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794F-0C7D-47A6-A355-9B54F3A082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18BEFC-5F95-43C3-A662-CF24426CB374}"/>
              </a:ext>
            </a:extLst>
          </p:cNvPr>
          <p:cNvSpPr>
            <a:spLocks noGrp="1"/>
          </p:cNvSpPr>
          <p:nvPr>
            <p:ph type="body" orient="vert" idx="1"/>
          </p:nvPr>
        </p:nvSpPr>
        <p:spPr>
          <a:xfrm>
            <a:off x="1079500" y="1790700"/>
            <a:ext cx="10026650" cy="39782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E020A41-C226-41AB-8766-C9BF3E9BF9D0}"/>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6/17/2021</a:t>
            </a:fld>
            <a:endParaRPr lang="en-US"/>
          </a:p>
        </p:txBody>
      </p:sp>
      <p:sp>
        <p:nvSpPr>
          <p:cNvPr id="5" name="Footer Placeholder 4">
            <a:extLst>
              <a:ext uri="{FF2B5EF4-FFF2-40B4-BE49-F238E27FC236}">
                <a16:creationId xmlns:a16="http://schemas.microsoft.com/office/drawing/2014/main" id="{877795E9-017B-4505-810D-A5F553A56BC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626A1BD-3429-4C11-B230-8AD083EC3EC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‹nº›</a:t>
            </a:fld>
            <a:endParaRPr lang="en-US"/>
          </a:p>
        </p:txBody>
      </p:sp>
    </p:spTree>
    <p:extLst>
      <p:ext uri="{BB962C8B-B14F-4D97-AF65-F5344CB8AC3E}">
        <p14:creationId xmlns:p14="http://schemas.microsoft.com/office/powerpoint/2010/main" val="2437164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A11CA2-18BF-408B-A40C-B43A0A7B80FA}"/>
              </a:ext>
            </a:extLst>
          </p:cNvPr>
          <p:cNvSpPr>
            <a:spLocks noGrp="1"/>
          </p:cNvSpPr>
          <p:nvPr>
            <p:ph type="title" orient="vert"/>
          </p:nvPr>
        </p:nvSpPr>
        <p:spPr>
          <a:xfrm>
            <a:off x="9899079" y="1079500"/>
            <a:ext cx="1292662" cy="4689476"/>
          </a:xfrm>
        </p:spPr>
        <p:txBody>
          <a:bodyPr vert="eaVert">
            <a:normAutofit/>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E424B6-12FC-41A1-AF7C-7E3931D97204}"/>
              </a:ext>
            </a:extLst>
          </p:cNvPr>
          <p:cNvSpPr>
            <a:spLocks noGrp="1"/>
          </p:cNvSpPr>
          <p:nvPr>
            <p:ph type="body" orient="vert" idx="1"/>
          </p:nvPr>
        </p:nvSpPr>
        <p:spPr>
          <a:xfrm>
            <a:off x="1079499" y="1079500"/>
            <a:ext cx="8495943" cy="46894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35CF957-F921-48CF-97FE-91190C1AE9B3}"/>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6/17/2021</a:t>
            </a:fld>
            <a:endParaRPr lang="en-US"/>
          </a:p>
        </p:txBody>
      </p:sp>
      <p:sp>
        <p:nvSpPr>
          <p:cNvPr id="5" name="Footer Placeholder 4">
            <a:extLst>
              <a:ext uri="{FF2B5EF4-FFF2-40B4-BE49-F238E27FC236}">
                <a16:creationId xmlns:a16="http://schemas.microsoft.com/office/drawing/2014/main" id="{6653F49D-6E0C-47F7-BAAD-A427913DC4D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038A122-F390-46CF-BECF-3AE05CA585C4}"/>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‹nº›</a:t>
            </a:fld>
            <a:endParaRPr lang="en-US"/>
          </a:p>
        </p:txBody>
      </p:sp>
    </p:spTree>
    <p:extLst>
      <p:ext uri="{BB962C8B-B14F-4D97-AF65-F5344CB8AC3E}">
        <p14:creationId xmlns:p14="http://schemas.microsoft.com/office/powerpoint/2010/main" val="49258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700152-D18D-4405-8FB2-5985831B57A0}"/>
              </a:ext>
            </a:extLst>
          </p:cNvPr>
          <p:cNvSpPr>
            <a:spLocks noGrp="1"/>
          </p:cNvSpPr>
          <p:nvPr>
            <p:ph type="title"/>
          </p:nvPr>
        </p:nvSpPr>
        <p:spPr>
          <a:xfrm>
            <a:off x="1079500" y="1011238"/>
            <a:ext cx="10026650" cy="655637"/>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22E92E1-0C4A-474E-8E29-8DB404101BA7}"/>
              </a:ext>
            </a:extLst>
          </p:cNvPr>
          <p:cNvSpPr>
            <a:spLocks noGrp="1"/>
          </p:cNvSpPr>
          <p:nvPr>
            <p:ph type="body" idx="1"/>
          </p:nvPr>
        </p:nvSpPr>
        <p:spPr>
          <a:xfrm>
            <a:off x="1079500" y="1790700"/>
            <a:ext cx="10026650" cy="3978275"/>
          </a:xfrm>
          <a:prstGeom prst="rect">
            <a:avLst/>
          </a:prstGeom>
        </p:spPr>
        <p:txBody>
          <a:bodyPr vert="horz" lIns="0" tIns="0" rIns="0" bIns="0" rtlCol="0" anchor="t" anchorCtr="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122E245-B48B-4526-8D2D-9475E64B0624}"/>
              </a:ext>
            </a:extLst>
          </p:cNvPr>
          <p:cNvSpPr>
            <a:spLocks noGrp="1"/>
          </p:cNvSpPr>
          <p:nvPr>
            <p:ph type="dt" sz="half" idx="2"/>
          </p:nvPr>
        </p:nvSpPr>
        <p:spPr>
          <a:xfrm>
            <a:off x="541338" y="6401999"/>
            <a:ext cx="2206625" cy="369332"/>
          </a:xfrm>
          <a:prstGeom prst="rect">
            <a:avLst/>
          </a:prstGeom>
        </p:spPr>
        <p:txBody>
          <a:bodyPr vert="horz" lIns="0" tIns="0" rIns="0" bIns="0" rtlCol="0" anchor="ctr">
            <a:normAutofit/>
          </a:bodyPr>
          <a:lstStyle>
            <a:lvl1pPr algn="l">
              <a:defRPr sz="1000" cap="all" spc="300" baseline="0">
                <a:solidFill>
                  <a:schemeClr val="tx1">
                    <a:alpha val="70000"/>
                  </a:schemeClr>
                </a:solidFill>
              </a:defRPr>
            </a:lvl1pPr>
          </a:lstStyle>
          <a:p>
            <a:fld id="{64F0E216-BA48-4F04-AC4F-645AA0DD6AC6}" type="datetimeFigureOut">
              <a:rPr lang="en-US" smtClean="0"/>
              <a:pPr/>
              <a:t>6/17/2021</a:t>
            </a:fld>
            <a:endParaRPr lang="en-US" dirty="0"/>
          </a:p>
        </p:txBody>
      </p:sp>
      <p:sp>
        <p:nvSpPr>
          <p:cNvPr id="5" name="Footer Placeholder 4">
            <a:extLst>
              <a:ext uri="{FF2B5EF4-FFF2-40B4-BE49-F238E27FC236}">
                <a16:creationId xmlns:a16="http://schemas.microsoft.com/office/drawing/2014/main" id="{C2A0FE5C-A494-40F2-A357-786AFFA6318E}"/>
              </a:ext>
            </a:extLst>
          </p:cNvPr>
          <p:cNvSpPr>
            <a:spLocks noGrp="1"/>
          </p:cNvSpPr>
          <p:nvPr>
            <p:ph type="ftr" sz="quarter" idx="3"/>
          </p:nvPr>
        </p:nvSpPr>
        <p:spPr>
          <a:xfrm>
            <a:off x="3308350" y="6401999"/>
            <a:ext cx="5575300" cy="369332"/>
          </a:xfrm>
          <a:prstGeom prst="rect">
            <a:avLst/>
          </a:prstGeom>
        </p:spPr>
        <p:txBody>
          <a:bodyPr vert="horz" lIns="0" tIns="0" rIns="0" bIns="0" rtlCol="0" anchor="ctr">
            <a:normAutofit/>
          </a:bodyPr>
          <a:lstStyle>
            <a:lvl1pPr algn="ctr">
              <a:defRPr sz="1000" cap="all" spc="300" baseline="0">
                <a:solidFill>
                  <a:schemeClr val="tx1">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504686A1-EDE2-44D9-A671-F708A6F883D7}"/>
              </a:ext>
            </a:extLst>
          </p:cNvPr>
          <p:cNvSpPr>
            <a:spLocks noGrp="1"/>
          </p:cNvSpPr>
          <p:nvPr>
            <p:ph type="sldNum" sz="quarter" idx="4"/>
          </p:nvPr>
        </p:nvSpPr>
        <p:spPr>
          <a:xfrm>
            <a:off x="9442800" y="6401999"/>
            <a:ext cx="2208212" cy="369332"/>
          </a:xfrm>
          <a:prstGeom prst="rect">
            <a:avLst/>
          </a:prstGeom>
        </p:spPr>
        <p:txBody>
          <a:bodyPr vert="horz" lIns="0" tIns="0" rIns="0" bIns="0" rtlCol="0" anchor="ctr">
            <a:normAutofit/>
          </a:bodyPr>
          <a:lstStyle>
            <a:lvl1pPr algn="r">
              <a:defRPr sz="1000" cap="all" spc="300" baseline="0">
                <a:solidFill>
                  <a:schemeClr val="tx1">
                    <a:alpha val="70000"/>
                  </a:schemeClr>
                </a:solidFill>
              </a:defRPr>
            </a:lvl1pPr>
          </a:lstStyle>
          <a:p>
            <a:fld id="{D39607A7-8386-47DB-8578-DDEDD194E5D4}" type="slidenum">
              <a:rPr lang="en-US" smtClean="0"/>
              <a:pPr/>
              <a:t>‹nº›</a:t>
            </a:fld>
            <a:endParaRPr lang="en-US" dirty="0"/>
          </a:p>
        </p:txBody>
      </p:sp>
    </p:spTree>
    <p:extLst>
      <p:ext uri="{BB962C8B-B14F-4D97-AF65-F5344CB8AC3E}">
        <p14:creationId xmlns:p14="http://schemas.microsoft.com/office/powerpoint/2010/main" val="2248588299"/>
      </p:ext>
    </p:extLst>
  </p:cSld>
  <p:clrMap bg1="dk1" tx1="lt1" bg2="dk2" tx2="lt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2" r:id="rId6"/>
    <p:sldLayoutId id="2147483738" r:id="rId7"/>
    <p:sldLayoutId id="2147483739" r:id="rId8"/>
    <p:sldLayoutId id="2147483740" r:id="rId9"/>
    <p:sldLayoutId id="2147483741" r:id="rId10"/>
    <p:sldLayoutId id="2147483743" r:id="rId11"/>
  </p:sldLayoutIdLst>
  <p:txStyles>
    <p:titleStyle>
      <a:lvl1pPr algn="l" defTabSz="914400" rtl="0" eaLnBrk="1" latinLnBrk="0" hangingPunct="1">
        <a:lnSpc>
          <a:spcPct val="100000"/>
        </a:lnSpc>
        <a:spcBef>
          <a:spcPct val="0"/>
        </a:spcBef>
        <a:buNone/>
        <a:defRPr sz="2800" kern="1200" cap="all" spc="400" baseline="0">
          <a:solidFill>
            <a:schemeClr val="tx1"/>
          </a:solidFill>
          <a:latin typeface="+mj-lt"/>
          <a:ea typeface="+mj-ea"/>
          <a:cs typeface="+mj-cs"/>
        </a:defRPr>
      </a:lvl1pPr>
    </p:titleStyle>
    <p:bodyStyle>
      <a:lvl1pPr marL="360000" indent="-360000" algn="l" defTabSz="914400" rtl="0" eaLnBrk="1" latinLnBrk="0" hangingPunct="1">
        <a:lnSpc>
          <a:spcPct val="125000"/>
        </a:lnSpc>
        <a:spcBef>
          <a:spcPts val="10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1pPr>
      <a:lvl2pPr marL="36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2pPr>
      <a:lvl3pPr marL="108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3pPr>
      <a:lvl4pPr marL="108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4pPr>
      <a:lvl5pPr marL="180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image" Target="../media/image9.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5.png"/><Relationship Id="rId10" Type="http://schemas.openxmlformats.org/officeDocument/2006/relationships/image" Target="../media/image15.png"/><Relationship Id="rId4" Type="http://schemas.openxmlformats.org/officeDocument/2006/relationships/image" Target="../media/image10.jpg"/><Relationship Id="rId9" Type="http://schemas.openxmlformats.org/officeDocument/2006/relationships/image" Target="../media/image14.jp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7.png"/></Relationships>
</file>

<file path=ppt/slides/_rels/slide5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35.jpg"/><Relationship Id="rId5" Type="http://schemas.openxmlformats.org/officeDocument/2006/relationships/image" Target="../media/image5.png"/><Relationship Id="rId10" Type="http://schemas.openxmlformats.org/officeDocument/2006/relationships/image" Target="../media/image34.jpg"/><Relationship Id="rId4" Type="http://schemas.openxmlformats.org/officeDocument/2006/relationships/image" Target="../media/image10.jpg"/><Relationship Id="rId9" Type="http://schemas.openxmlformats.org/officeDocument/2006/relationships/image" Target="../media/image14.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2" name="Rectangle 151">
            <a:extLst>
              <a:ext uri="{FF2B5EF4-FFF2-40B4-BE49-F238E27FC236}">
                <a16:creationId xmlns:a16="http://schemas.microsoft.com/office/drawing/2014/main" id="{2C627EC6-61A4-4CA2-925A-D9C31421C4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b="12198"/>
          <a:stretch/>
        </p:blipFill>
        <p:spPr>
          <a:xfrm>
            <a:off x="20" y="0"/>
            <a:ext cx="12191980" cy="685799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368300" y="5186234"/>
            <a:ext cx="7061420" cy="1384995"/>
          </a:xfrm>
          <a:prstGeom prst="rect">
            <a:avLst/>
          </a:prstGeom>
          <a:noFill/>
        </p:spPr>
        <p:txBody>
          <a:bodyPr wrap="none" rtlCol="0">
            <a:spAutoFit/>
          </a:bodyPr>
          <a:lstStyle/>
          <a:p>
            <a:r>
              <a:rPr lang="pt-BR" sz="2800">
                <a:solidFill>
                  <a:schemeClr val="tx1">
                    <a:lumMod val="50000"/>
                  </a:schemeClr>
                </a:solidFill>
              </a:rPr>
              <a:t>Gustavo Hammerschmidt.</a:t>
            </a:r>
          </a:p>
          <a:p>
            <a:endParaRPr lang="pt-BR" sz="2800">
              <a:solidFill>
                <a:schemeClr val="tx1">
                  <a:lumMod val="50000"/>
                </a:schemeClr>
              </a:solidFill>
            </a:endParaRPr>
          </a:p>
          <a:p>
            <a:r>
              <a:rPr lang="pt-BR" sz="2800">
                <a:solidFill>
                  <a:schemeClr val="tx1">
                    <a:lumMod val="50000"/>
                  </a:schemeClr>
                </a:solidFill>
              </a:rPr>
              <a:t>Orientador: Vinícius Godoy de Mendonça.</a:t>
            </a:r>
          </a:p>
        </p:txBody>
      </p:sp>
    </p:spTree>
    <p:extLst>
      <p:ext uri="{BB962C8B-B14F-4D97-AF65-F5344CB8AC3E}">
        <p14:creationId xmlns:p14="http://schemas.microsoft.com/office/powerpoint/2010/main" val="3148114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518850" y="457805"/>
            <a:ext cx="4049507" cy="707886"/>
          </a:xfrm>
          <a:prstGeom prst="rect">
            <a:avLst/>
          </a:prstGeom>
          <a:noFill/>
        </p:spPr>
        <p:txBody>
          <a:bodyPr wrap="none" rtlCol="0">
            <a:spAutoFit/>
          </a:bodyPr>
          <a:lstStyle/>
          <a:p>
            <a:r>
              <a:rPr lang="pt-BR" sz="4000">
                <a:solidFill>
                  <a:schemeClr val="tx1">
                    <a:lumMod val="50000"/>
                  </a:schemeClr>
                </a:solidFill>
              </a:rPr>
              <a:t>O que é Diskify?</a:t>
            </a:r>
            <a:r>
              <a:rPr lang="pt-BR" sz="3200">
                <a:solidFill>
                  <a:schemeClr val="tx1">
                    <a:lumMod val="50000"/>
                  </a:schemeClr>
                </a:solidFill>
              </a:rPr>
              <a:t> </a:t>
            </a:r>
          </a:p>
        </p:txBody>
      </p:sp>
      <p:sp>
        <p:nvSpPr>
          <p:cNvPr id="5" name="CaixaDeTexto 4">
            <a:extLst>
              <a:ext uri="{FF2B5EF4-FFF2-40B4-BE49-F238E27FC236}">
                <a16:creationId xmlns:a16="http://schemas.microsoft.com/office/drawing/2014/main" id="{C4516E53-E5EF-4028-A346-3AD5A3233886}"/>
              </a:ext>
            </a:extLst>
          </p:cNvPr>
          <p:cNvSpPr txBox="1"/>
          <p:nvPr/>
        </p:nvSpPr>
        <p:spPr>
          <a:xfrm>
            <a:off x="1016000" y="1733861"/>
            <a:ext cx="10107720" cy="3816429"/>
          </a:xfrm>
          <a:prstGeom prst="rect">
            <a:avLst/>
          </a:prstGeom>
          <a:noFill/>
        </p:spPr>
        <p:txBody>
          <a:bodyPr wrap="square" rtlCol="0">
            <a:spAutoFit/>
          </a:bodyPr>
          <a:lstStyle/>
          <a:p>
            <a:pPr indent="450215" algn="just">
              <a:lnSpc>
                <a:spcPct val="150000"/>
              </a:lnSpc>
            </a:pPr>
            <a:r>
              <a:rPr lang="pt-BR" sz="200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Tokens não-fungíveis (NFTs) se tornaram um atrativo para muitos mercados, </a:t>
            </a:r>
          </a:p>
          <a:p>
            <a:pPr indent="450215" algn="just">
              <a:lnSpc>
                <a:spcPct val="150000"/>
              </a:lnSpc>
            </a:pPr>
            <a:r>
              <a:rPr lang="pt-BR" sz="2000">
                <a:solidFill>
                  <a:schemeClr val="tx1">
                    <a:lumMod val="65000"/>
                  </a:schemeClr>
                </a:solidFill>
                <a:latin typeface="Arial" panose="020B0604020202020204" pitchFamily="34" charset="0"/>
                <a:ea typeface="Times New Roman" panose="02020603050405020304" pitchFamily="18" charset="0"/>
                <a:cs typeface="Times New Roman" panose="02020603050405020304" pitchFamily="18" charset="0"/>
              </a:rPr>
              <a:t>u</a:t>
            </a:r>
            <a:r>
              <a:rPr lang="pt-BR" sz="200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m notável caso de sucesso de tecnologia baseada em blockchain. NFTs são </a:t>
            </a:r>
          </a:p>
          <a:p>
            <a:pPr indent="450215" algn="just">
              <a:lnSpc>
                <a:spcPct val="150000"/>
              </a:lnSpc>
            </a:pPr>
            <a:r>
              <a:rPr lang="pt-BR" sz="200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baseadas em contratos inteligentes (Smart Contracts) e são usadas para a </a:t>
            </a:r>
          </a:p>
          <a:p>
            <a:pPr indent="450215" algn="just">
              <a:lnSpc>
                <a:spcPct val="150000"/>
              </a:lnSpc>
            </a:pPr>
            <a:r>
              <a:rPr lang="pt-BR" sz="200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definição e transferência de direitos de propriedade, representando vários </a:t>
            </a:r>
          </a:p>
          <a:p>
            <a:pPr indent="450215" algn="just">
              <a:lnSpc>
                <a:spcPct val="150000"/>
              </a:lnSpc>
            </a:pPr>
            <a:r>
              <a:rPr lang="pt-BR" sz="200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tipos de dados. O projeto Diskify aproxima a indústria da música de seus fãs, </a:t>
            </a:r>
          </a:p>
          <a:p>
            <a:pPr indent="450215" algn="just">
              <a:lnSpc>
                <a:spcPct val="150000"/>
              </a:lnSpc>
            </a:pPr>
            <a:r>
              <a:rPr lang="pt-BR" sz="200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promovendo escassez de conteúdo e eliminando intermediários como </a:t>
            </a:r>
          </a:p>
          <a:p>
            <a:pPr indent="450215" algn="just">
              <a:lnSpc>
                <a:spcPct val="150000"/>
              </a:lnSpc>
            </a:pPr>
            <a:r>
              <a:rPr lang="pt-BR" sz="200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aplicativos de streaming e produtoras.</a:t>
            </a:r>
          </a:p>
          <a:p>
            <a:endParaRPr lang="pt-BR" sz="3200">
              <a:solidFill>
                <a:schemeClr val="tx1">
                  <a:lumMod val="50000"/>
                </a:schemeClr>
              </a:solidFill>
            </a:endParaRPr>
          </a:p>
        </p:txBody>
      </p:sp>
      <p:sp>
        <p:nvSpPr>
          <p:cNvPr id="9" name="CaixaDeTexto 8">
            <a:extLst>
              <a:ext uri="{FF2B5EF4-FFF2-40B4-BE49-F238E27FC236}">
                <a16:creationId xmlns:a16="http://schemas.microsoft.com/office/drawing/2014/main" id="{692E83E5-EEBB-400C-A476-6EC8B44991A6}"/>
              </a:ext>
            </a:extLst>
          </p:cNvPr>
          <p:cNvSpPr txBox="1"/>
          <p:nvPr/>
        </p:nvSpPr>
        <p:spPr>
          <a:xfrm>
            <a:off x="10515221" y="183312"/>
            <a:ext cx="1314784" cy="461665"/>
          </a:xfrm>
          <a:prstGeom prst="rect">
            <a:avLst/>
          </a:prstGeom>
          <a:noFill/>
        </p:spPr>
        <p:txBody>
          <a:bodyPr wrap="none" rtlCol="0">
            <a:spAutoFit/>
          </a:bodyPr>
          <a:lstStyle/>
          <a:p>
            <a:r>
              <a:rPr lang="pt-BR" sz="2400">
                <a:solidFill>
                  <a:schemeClr val="tx1">
                    <a:lumMod val="50000"/>
                  </a:schemeClr>
                </a:solidFill>
              </a:rPr>
              <a:t> 2 de 29</a:t>
            </a:r>
            <a:endParaRPr lang="pt-BR">
              <a:solidFill>
                <a:schemeClr val="tx1">
                  <a:lumMod val="50000"/>
                </a:schemeClr>
              </a:solidFill>
            </a:endParaRPr>
          </a:p>
        </p:txBody>
      </p:sp>
    </p:spTree>
    <p:extLst>
      <p:ext uri="{BB962C8B-B14F-4D97-AF65-F5344CB8AC3E}">
        <p14:creationId xmlns:p14="http://schemas.microsoft.com/office/powerpoint/2010/main" val="1282757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21197" y="421417"/>
            <a:ext cx="4932761" cy="707886"/>
          </a:xfrm>
          <a:prstGeom prst="rect">
            <a:avLst/>
          </a:prstGeom>
          <a:noFill/>
        </p:spPr>
        <p:txBody>
          <a:bodyPr wrap="none" rtlCol="0">
            <a:spAutoFit/>
          </a:bodyPr>
          <a:lstStyle/>
          <a:p>
            <a:r>
              <a:rPr lang="pt-BR" sz="4000">
                <a:solidFill>
                  <a:schemeClr val="tx1">
                    <a:lumMod val="50000"/>
                  </a:schemeClr>
                </a:solidFill>
              </a:rPr>
              <a:t>Sumário - Motivação</a:t>
            </a:r>
            <a:endParaRPr lang="pt-BR" sz="3200">
              <a:solidFill>
                <a:schemeClr val="tx1">
                  <a:lumMod val="50000"/>
                </a:schemeClr>
              </a:solidFill>
            </a:endParaRPr>
          </a:p>
        </p:txBody>
      </p:sp>
      <p:sp>
        <p:nvSpPr>
          <p:cNvPr id="2" name="CaixaDeTexto 1">
            <a:extLst>
              <a:ext uri="{FF2B5EF4-FFF2-40B4-BE49-F238E27FC236}">
                <a16:creationId xmlns:a16="http://schemas.microsoft.com/office/drawing/2014/main" id="{E5ADD2DC-1B24-4700-AE32-98B2C43524E3}"/>
              </a:ext>
            </a:extLst>
          </p:cNvPr>
          <p:cNvSpPr txBox="1"/>
          <p:nvPr/>
        </p:nvSpPr>
        <p:spPr>
          <a:xfrm>
            <a:off x="2198915" y="1822241"/>
            <a:ext cx="9089571" cy="3816429"/>
          </a:xfrm>
          <a:prstGeom prst="rect">
            <a:avLst/>
          </a:prstGeom>
          <a:noFill/>
        </p:spPr>
        <p:txBody>
          <a:bodyPr wrap="square" rtlCol="0">
            <a:spAutoFit/>
          </a:bodyPr>
          <a:lstStyle/>
          <a:p>
            <a:pPr marL="285750" indent="-285750">
              <a:buFontTx/>
              <a:buChar char="-"/>
            </a:pPr>
            <a:r>
              <a:rPr lang="pt-BR" sz="3200">
                <a:solidFill>
                  <a:schemeClr val="tx1">
                    <a:lumMod val="65000"/>
                  </a:schemeClr>
                </a:solidFill>
              </a:rPr>
              <a:t>Expansão da base monetária global</a:t>
            </a:r>
          </a:p>
          <a:p>
            <a:pPr marL="285750" indent="-285750">
              <a:buFontTx/>
              <a:buChar char="-"/>
            </a:pPr>
            <a:r>
              <a:rPr lang="pt-BR" sz="3200">
                <a:solidFill>
                  <a:schemeClr val="tx1">
                    <a:lumMod val="65000"/>
                  </a:schemeClr>
                </a:solidFill>
              </a:rPr>
              <a:t>Ativos deflacionários são superiores</a:t>
            </a:r>
          </a:p>
          <a:p>
            <a:pPr marL="285750" indent="-285750">
              <a:buFontTx/>
              <a:buChar char="-"/>
            </a:pPr>
            <a:r>
              <a:rPr lang="pt-BR" sz="3200">
                <a:solidFill>
                  <a:schemeClr val="tx1">
                    <a:lumMod val="65000"/>
                  </a:schemeClr>
                </a:solidFill>
              </a:rPr>
              <a:t>O preço é subjetivo</a:t>
            </a:r>
          </a:p>
          <a:p>
            <a:pPr marL="285750" indent="-285750">
              <a:buFontTx/>
              <a:buChar char="-"/>
            </a:pPr>
            <a:r>
              <a:rPr lang="pt-BR" sz="3200">
                <a:solidFill>
                  <a:schemeClr val="tx1">
                    <a:lumMod val="65000"/>
                  </a:schemeClr>
                </a:solidFill>
              </a:rPr>
              <a:t>Dolár é uma moeda fiat</a:t>
            </a:r>
          </a:p>
          <a:p>
            <a:pPr marL="285750" indent="-285750">
              <a:buFontTx/>
              <a:buChar char="-"/>
            </a:pPr>
            <a:r>
              <a:rPr lang="pt-BR" sz="3200">
                <a:solidFill>
                  <a:schemeClr val="tx1">
                    <a:lumMod val="65000"/>
                  </a:schemeClr>
                </a:solidFill>
              </a:rPr>
              <a:t>DeFi é o futuro das finanças</a:t>
            </a:r>
          </a:p>
          <a:p>
            <a:pPr marL="285750" indent="-285750">
              <a:buFontTx/>
              <a:buChar char="-"/>
            </a:pPr>
            <a:r>
              <a:rPr lang="pt-BR" sz="3200">
                <a:solidFill>
                  <a:schemeClr val="tx1">
                    <a:lumMod val="65000"/>
                  </a:schemeClr>
                </a:solidFill>
              </a:rPr>
              <a:t>NFTs maior case de sucesso</a:t>
            </a:r>
          </a:p>
          <a:p>
            <a:pPr marL="285750" indent="-285750">
              <a:buFontTx/>
              <a:buChar char="-"/>
            </a:pPr>
            <a:r>
              <a:rPr lang="pt-BR" sz="3200">
                <a:solidFill>
                  <a:schemeClr val="tx1">
                    <a:lumMod val="65000"/>
                  </a:schemeClr>
                </a:solidFill>
              </a:rPr>
              <a:t>Mundo das Pinturas já aderiu às NFTs</a:t>
            </a:r>
          </a:p>
          <a:p>
            <a:endParaRPr lang="pt-BR"/>
          </a:p>
        </p:txBody>
      </p:sp>
      <p:sp>
        <p:nvSpPr>
          <p:cNvPr id="7" name="CaixaDeTexto 6">
            <a:extLst>
              <a:ext uri="{FF2B5EF4-FFF2-40B4-BE49-F238E27FC236}">
                <a16:creationId xmlns:a16="http://schemas.microsoft.com/office/drawing/2014/main" id="{77732CFE-BCDD-4E18-8DB0-F32C3006A1E6}"/>
              </a:ext>
            </a:extLst>
          </p:cNvPr>
          <p:cNvSpPr txBox="1"/>
          <p:nvPr/>
        </p:nvSpPr>
        <p:spPr>
          <a:xfrm>
            <a:off x="10515221" y="183312"/>
            <a:ext cx="1314784" cy="461665"/>
          </a:xfrm>
          <a:prstGeom prst="rect">
            <a:avLst/>
          </a:prstGeom>
          <a:noFill/>
        </p:spPr>
        <p:txBody>
          <a:bodyPr wrap="none" rtlCol="0">
            <a:spAutoFit/>
          </a:bodyPr>
          <a:lstStyle/>
          <a:p>
            <a:r>
              <a:rPr lang="pt-BR" sz="2400">
                <a:solidFill>
                  <a:schemeClr val="tx1">
                    <a:lumMod val="50000"/>
                  </a:schemeClr>
                </a:solidFill>
              </a:rPr>
              <a:t> 3 de 29</a:t>
            </a:r>
            <a:endParaRPr lang="pt-BR">
              <a:solidFill>
                <a:schemeClr val="tx1">
                  <a:lumMod val="50000"/>
                </a:schemeClr>
              </a:solidFill>
            </a:endParaRPr>
          </a:p>
        </p:txBody>
      </p:sp>
    </p:spTree>
    <p:extLst>
      <p:ext uri="{BB962C8B-B14F-4D97-AF65-F5344CB8AC3E}">
        <p14:creationId xmlns:p14="http://schemas.microsoft.com/office/powerpoint/2010/main" val="108294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21197" y="421417"/>
            <a:ext cx="3669594" cy="707886"/>
          </a:xfrm>
          <a:prstGeom prst="rect">
            <a:avLst/>
          </a:prstGeom>
          <a:noFill/>
        </p:spPr>
        <p:txBody>
          <a:bodyPr wrap="none" rtlCol="0">
            <a:spAutoFit/>
          </a:bodyPr>
          <a:lstStyle/>
          <a:p>
            <a:r>
              <a:rPr lang="pt-BR" sz="4000">
                <a:solidFill>
                  <a:schemeClr val="tx1">
                    <a:lumMod val="50000"/>
                  </a:schemeClr>
                </a:solidFill>
              </a:rPr>
              <a:t>Sumário - Ideia</a:t>
            </a:r>
            <a:endParaRPr lang="pt-BR" sz="3200">
              <a:solidFill>
                <a:schemeClr val="tx1">
                  <a:lumMod val="50000"/>
                </a:schemeClr>
              </a:solidFill>
            </a:endParaRPr>
          </a:p>
        </p:txBody>
      </p:sp>
      <p:sp>
        <p:nvSpPr>
          <p:cNvPr id="2" name="CaixaDeTexto 1">
            <a:extLst>
              <a:ext uri="{FF2B5EF4-FFF2-40B4-BE49-F238E27FC236}">
                <a16:creationId xmlns:a16="http://schemas.microsoft.com/office/drawing/2014/main" id="{E5ADD2DC-1B24-4700-AE32-98B2C43524E3}"/>
              </a:ext>
            </a:extLst>
          </p:cNvPr>
          <p:cNvSpPr txBox="1"/>
          <p:nvPr/>
        </p:nvSpPr>
        <p:spPr>
          <a:xfrm>
            <a:off x="2255994" y="2127041"/>
            <a:ext cx="8033656" cy="2062103"/>
          </a:xfrm>
          <a:prstGeom prst="rect">
            <a:avLst/>
          </a:prstGeom>
          <a:noFill/>
        </p:spPr>
        <p:txBody>
          <a:bodyPr wrap="square" rtlCol="0">
            <a:spAutoFit/>
          </a:bodyPr>
          <a:lstStyle/>
          <a:p>
            <a:pPr marL="285750" indent="-285750">
              <a:buFontTx/>
              <a:buChar char="-"/>
            </a:pPr>
            <a:r>
              <a:rPr lang="pt-BR" sz="3200">
                <a:solidFill>
                  <a:schemeClr val="tx1">
                    <a:lumMod val="65000"/>
                  </a:schemeClr>
                </a:solidFill>
              </a:rPr>
              <a:t>Inserção da indústria da música às NFTs</a:t>
            </a:r>
          </a:p>
          <a:p>
            <a:pPr marL="285750" indent="-285750">
              <a:buFontTx/>
              <a:buChar char="-"/>
            </a:pPr>
            <a:r>
              <a:rPr lang="pt-BR" sz="3200">
                <a:solidFill>
                  <a:schemeClr val="tx1">
                    <a:lumMod val="65000"/>
                  </a:schemeClr>
                </a:solidFill>
              </a:rPr>
              <a:t>Criação de um Marketplace</a:t>
            </a:r>
          </a:p>
          <a:p>
            <a:pPr marL="285750" indent="-285750">
              <a:buFontTx/>
              <a:buChar char="-"/>
            </a:pPr>
            <a:r>
              <a:rPr lang="pt-BR" sz="3200">
                <a:solidFill>
                  <a:schemeClr val="tx1">
                    <a:lumMod val="65000"/>
                  </a:schemeClr>
                </a:solidFill>
              </a:rPr>
              <a:t>Facilitação de ganhos em royalties</a:t>
            </a:r>
          </a:p>
          <a:p>
            <a:pPr marL="285750" indent="-285750">
              <a:buFontTx/>
              <a:buChar char="-"/>
            </a:pPr>
            <a:r>
              <a:rPr lang="pt-BR" sz="3200">
                <a:solidFill>
                  <a:schemeClr val="tx1">
                    <a:lumMod val="65000"/>
                  </a:schemeClr>
                </a:solidFill>
              </a:rPr>
              <a:t>Exclusividade como </a:t>
            </a:r>
            <a:r>
              <a:rPr lang="pt-BR" sz="3200" i="1">
                <a:solidFill>
                  <a:schemeClr val="tx1">
                    <a:lumMod val="65000"/>
                  </a:schemeClr>
                </a:solidFill>
              </a:rPr>
              <a:t>approach </a:t>
            </a:r>
            <a:r>
              <a:rPr lang="pt-BR" sz="3200">
                <a:solidFill>
                  <a:schemeClr val="tx1">
                    <a:lumMod val="65000"/>
                  </a:schemeClr>
                </a:solidFill>
              </a:rPr>
              <a:t>inicial </a:t>
            </a:r>
          </a:p>
        </p:txBody>
      </p:sp>
      <p:sp>
        <p:nvSpPr>
          <p:cNvPr id="5" name="CaixaDeTexto 4">
            <a:extLst>
              <a:ext uri="{FF2B5EF4-FFF2-40B4-BE49-F238E27FC236}">
                <a16:creationId xmlns:a16="http://schemas.microsoft.com/office/drawing/2014/main" id="{525E838F-DAA9-4703-80F4-4A9C1DD258BC}"/>
              </a:ext>
            </a:extLst>
          </p:cNvPr>
          <p:cNvSpPr txBox="1"/>
          <p:nvPr/>
        </p:nvSpPr>
        <p:spPr>
          <a:xfrm>
            <a:off x="10515221" y="183312"/>
            <a:ext cx="1314784" cy="461665"/>
          </a:xfrm>
          <a:prstGeom prst="rect">
            <a:avLst/>
          </a:prstGeom>
          <a:noFill/>
        </p:spPr>
        <p:txBody>
          <a:bodyPr wrap="none" rtlCol="0">
            <a:spAutoFit/>
          </a:bodyPr>
          <a:lstStyle/>
          <a:p>
            <a:r>
              <a:rPr lang="pt-BR" sz="2400">
                <a:solidFill>
                  <a:schemeClr val="tx1">
                    <a:lumMod val="50000"/>
                  </a:schemeClr>
                </a:solidFill>
              </a:rPr>
              <a:t> 4 de 29</a:t>
            </a:r>
            <a:endParaRPr lang="pt-BR">
              <a:solidFill>
                <a:schemeClr val="tx1">
                  <a:lumMod val="50000"/>
                </a:schemeClr>
              </a:solidFill>
            </a:endParaRPr>
          </a:p>
        </p:txBody>
      </p:sp>
    </p:spTree>
    <p:extLst>
      <p:ext uri="{BB962C8B-B14F-4D97-AF65-F5344CB8AC3E}">
        <p14:creationId xmlns:p14="http://schemas.microsoft.com/office/powerpoint/2010/main" val="1236371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pic>
        <p:nvPicPr>
          <p:cNvPr id="5" name="Imagem 4">
            <a:extLst>
              <a:ext uri="{FF2B5EF4-FFF2-40B4-BE49-F238E27FC236}">
                <a16:creationId xmlns:a16="http://schemas.microsoft.com/office/drawing/2014/main" id="{67869484-3199-4E58-87D0-1C0CA1E0E5B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56794" y="1374805"/>
            <a:ext cx="9283268" cy="5196100"/>
          </a:xfrm>
          <a:prstGeom prst="rect">
            <a:avLst/>
          </a:prstGeom>
          <a:noFill/>
          <a:ln>
            <a:noFill/>
          </a:ln>
        </p:spPr>
      </p:pic>
      <p:sp>
        <p:nvSpPr>
          <p:cNvPr id="7" name="CaixaDeTexto 6">
            <a:extLst>
              <a:ext uri="{FF2B5EF4-FFF2-40B4-BE49-F238E27FC236}">
                <a16:creationId xmlns:a16="http://schemas.microsoft.com/office/drawing/2014/main" id="{6500C225-2D14-43D5-A11F-1C24EB3ED742}"/>
              </a:ext>
            </a:extLst>
          </p:cNvPr>
          <p:cNvSpPr txBox="1"/>
          <p:nvPr/>
        </p:nvSpPr>
        <p:spPr>
          <a:xfrm>
            <a:off x="10515221" y="183312"/>
            <a:ext cx="1314784" cy="461665"/>
          </a:xfrm>
          <a:prstGeom prst="rect">
            <a:avLst/>
          </a:prstGeom>
          <a:noFill/>
        </p:spPr>
        <p:txBody>
          <a:bodyPr wrap="none" rtlCol="0">
            <a:spAutoFit/>
          </a:bodyPr>
          <a:lstStyle/>
          <a:p>
            <a:r>
              <a:rPr lang="pt-BR" sz="2400">
                <a:solidFill>
                  <a:schemeClr val="tx1">
                    <a:lumMod val="50000"/>
                  </a:schemeClr>
                </a:solidFill>
              </a:rPr>
              <a:t> 5 de 29</a:t>
            </a:r>
            <a:endParaRPr lang="pt-BR">
              <a:solidFill>
                <a:schemeClr val="tx1">
                  <a:lumMod val="50000"/>
                </a:schemeClr>
              </a:solidFill>
            </a:endParaRPr>
          </a:p>
        </p:txBody>
      </p:sp>
      <p:sp>
        <p:nvSpPr>
          <p:cNvPr id="8" name="CaixaDeTexto 7">
            <a:extLst>
              <a:ext uri="{FF2B5EF4-FFF2-40B4-BE49-F238E27FC236}">
                <a16:creationId xmlns:a16="http://schemas.microsoft.com/office/drawing/2014/main" id="{32556A2F-A8FA-4BBB-A806-68C92E55E0CB}"/>
              </a:ext>
            </a:extLst>
          </p:cNvPr>
          <p:cNvSpPr txBox="1"/>
          <p:nvPr/>
        </p:nvSpPr>
        <p:spPr>
          <a:xfrm>
            <a:off x="421197" y="421417"/>
            <a:ext cx="4581767" cy="707886"/>
          </a:xfrm>
          <a:prstGeom prst="rect">
            <a:avLst/>
          </a:prstGeom>
          <a:noFill/>
        </p:spPr>
        <p:txBody>
          <a:bodyPr wrap="none" rtlCol="0">
            <a:spAutoFit/>
          </a:bodyPr>
          <a:lstStyle/>
          <a:p>
            <a:r>
              <a:rPr lang="pt-BR" sz="4000">
                <a:solidFill>
                  <a:schemeClr val="tx1">
                    <a:lumMod val="50000"/>
                  </a:schemeClr>
                </a:solidFill>
              </a:rPr>
              <a:t>Sumário - Personas</a:t>
            </a:r>
            <a:endParaRPr lang="pt-BR" sz="3200">
              <a:solidFill>
                <a:schemeClr val="tx1">
                  <a:lumMod val="50000"/>
                </a:schemeClr>
              </a:solidFill>
            </a:endParaRPr>
          </a:p>
        </p:txBody>
      </p:sp>
    </p:spTree>
    <p:extLst>
      <p:ext uri="{BB962C8B-B14F-4D97-AF65-F5344CB8AC3E}">
        <p14:creationId xmlns:p14="http://schemas.microsoft.com/office/powerpoint/2010/main" val="1344268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pic>
        <p:nvPicPr>
          <p:cNvPr id="7" name="Imagem 6">
            <a:extLst>
              <a:ext uri="{FF2B5EF4-FFF2-40B4-BE49-F238E27FC236}">
                <a16:creationId xmlns:a16="http://schemas.microsoft.com/office/drawing/2014/main" id="{5F694CA2-6AAE-4EB4-9D22-191D0FBC638A}"/>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91123" y="1429155"/>
            <a:ext cx="9409754" cy="5104810"/>
          </a:xfrm>
          <a:prstGeom prst="rect">
            <a:avLst/>
          </a:prstGeom>
          <a:noFill/>
          <a:ln>
            <a:noFill/>
          </a:ln>
        </p:spPr>
      </p:pic>
      <p:sp>
        <p:nvSpPr>
          <p:cNvPr id="8" name="CaixaDeTexto 7">
            <a:extLst>
              <a:ext uri="{FF2B5EF4-FFF2-40B4-BE49-F238E27FC236}">
                <a16:creationId xmlns:a16="http://schemas.microsoft.com/office/drawing/2014/main" id="{A7588F8A-73A4-471D-8D6D-FD98ACABC5EE}"/>
              </a:ext>
            </a:extLst>
          </p:cNvPr>
          <p:cNvSpPr txBox="1"/>
          <p:nvPr/>
        </p:nvSpPr>
        <p:spPr>
          <a:xfrm>
            <a:off x="10515221" y="183312"/>
            <a:ext cx="1314784" cy="461665"/>
          </a:xfrm>
          <a:prstGeom prst="rect">
            <a:avLst/>
          </a:prstGeom>
          <a:noFill/>
        </p:spPr>
        <p:txBody>
          <a:bodyPr wrap="none" rtlCol="0">
            <a:spAutoFit/>
          </a:bodyPr>
          <a:lstStyle/>
          <a:p>
            <a:r>
              <a:rPr lang="pt-BR" sz="2400">
                <a:solidFill>
                  <a:schemeClr val="tx1">
                    <a:lumMod val="50000"/>
                  </a:schemeClr>
                </a:solidFill>
              </a:rPr>
              <a:t> 6 de 29</a:t>
            </a:r>
            <a:endParaRPr lang="pt-BR">
              <a:solidFill>
                <a:schemeClr val="tx1">
                  <a:lumMod val="50000"/>
                </a:schemeClr>
              </a:solidFill>
            </a:endParaRPr>
          </a:p>
        </p:txBody>
      </p:sp>
      <p:sp>
        <p:nvSpPr>
          <p:cNvPr id="9" name="CaixaDeTexto 8">
            <a:extLst>
              <a:ext uri="{FF2B5EF4-FFF2-40B4-BE49-F238E27FC236}">
                <a16:creationId xmlns:a16="http://schemas.microsoft.com/office/drawing/2014/main" id="{111E264F-FBFA-468A-8F28-040A4EBD41A8}"/>
              </a:ext>
            </a:extLst>
          </p:cNvPr>
          <p:cNvSpPr txBox="1"/>
          <p:nvPr/>
        </p:nvSpPr>
        <p:spPr>
          <a:xfrm>
            <a:off x="421197" y="421417"/>
            <a:ext cx="4581767" cy="707886"/>
          </a:xfrm>
          <a:prstGeom prst="rect">
            <a:avLst/>
          </a:prstGeom>
          <a:noFill/>
        </p:spPr>
        <p:txBody>
          <a:bodyPr wrap="none" rtlCol="0">
            <a:spAutoFit/>
          </a:bodyPr>
          <a:lstStyle/>
          <a:p>
            <a:r>
              <a:rPr lang="pt-BR" sz="4000">
                <a:solidFill>
                  <a:schemeClr val="tx1">
                    <a:lumMod val="50000"/>
                  </a:schemeClr>
                </a:solidFill>
              </a:rPr>
              <a:t>Sumário - Personas</a:t>
            </a:r>
            <a:endParaRPr lang="pt-BR" sz="3200">
              <a:solidFill>
                <a:schemeClr val="tx1">
                  <a:lumMod val="50000"/>
                </a:schemeClr>
              </a:solidFill>
            </a:endParaRPr>
          </a:p>
        </p:txBody>
      </p:sp>
    </p:spTree>
    <p:extLst>
      <p:ext uri="{BB962C8B-B14F-4D97-AF65-F5344CB8AC3E}">
        <p14:creationId xmlns:p14="http://schemas.microsoft.com/office/powerpoint/2010/main" val="357409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8" name="CaixaDeTexto 7">
            <a:extLst>
              <a:ext uri="{FF2B5EF4-FFF2-40B4-BE49-F238E27FC236}">
                <a16:creationId xmlns:a16="http://schemas.microsoft.com/office/drawing/2014/main" id="{A7588F8A-73A4-471D-8D6D-FD98ACABC5EE}"/>
              </a:ext>
            </a:extLst>
          </p:cNvPr>
          <p:cNvSpPr txBox="1"/>
          <p:nvPr/>
        </p:nvSpPr>
        <p:spPr>
          <a:xfrm>
            <a:off x="10515221" y="183312"/>
            <a:ext cx="1314784" cy="461665"/>
          </a:xfrm>
          <a:prstGeom prst="rect">
            <a:avLst/>
          </a:prstGeom>
          <a:noFill/>
        </p:spPr>
        <p:txBody>
          <a:bodyPr wrap="none" rtlCol="0">
            <a:spAutoFit/>
          </a:bodyPr>
          <a:lstStyle/>
          <a:p>
            <a:r>
              <a:rPr lang="pt-BR" sz="2400">
                <a:solidFill>
                  <a:schemeClr val="tx1">
                    <a:lumMod val="50000"/>
                  </a:schemeClr>
                </a:solidFill>
              </a:rPr>
              <a:t> 7 de 29</a:t>
            </a:r>
            <a:endParaRPr lang="pt-BR">
              <a:solidFill>
                <a:schemeClr val="tx1">
                  <a:lumMod val="50000"/>
                </a:schemeClr>
              </a:solidFill>
            </a:endParaRPr>
          </a:p>
        </p:txBody>
      </p:sp>
      <p:sp>
        <p:nvSpPr>
          <p:cNvPr id="9" name="CaixaDeTexto 8">
            <a:extLst>
              <a:ext uri="{FF2B5EF4-FFF2-40B4-BE49-F238E27FC236}">
                <a16:creationId xmlns:a16="http://schemas.microsoft.com/office/drawing/2014/main" id="{111E264F-FBFA-468A-8F28-040A4EBD41A8}"/>
              </a:ext>
            </a:extLst>
          </p:cNvPr>
          <p:cNvSpPr txBox="1"/>
          <p:nvPr/>
        </p:nvSpPr>
        <p:spPr>
          <a:xfrm>
            <a:off x="421197" y="421417"/>
            <a:ext cx="7061613" cy="707886"/>
          </a:xfrm>
          <a:prstGeom prst="rect">
            <a:avLst/>
          </a:prstGeom>
          <a:noFill/>
        </p:spPr>
        <p:txBody>
          <a:bodyPr wrap="none" rtlCol="0">
            <a:spAutoFit/>
          </a:bodyPr>
          <a:lstStyle/>
          <a:p>
            <a:r>
              <a:rPr lang="pt-BR" sz="4000">
                <a:solidFill>
                  <a:schemeClr val="tx1">
                    <a:lumMod val="50000"/>
                  </a:schemeClr>
                </a:solidFill>
              </a:rPr>
              <a:t>Sumário – Personas – Músicos </a:t>
            </a:r>
            <a:endParaRPr lang="pt-BR" sz="3200">
              <a:solidFill>
                <a:schemeClr val="tx1">
                  <a:lumMod val="50000"/>
                </a:schemeClr>
              </a:solidFill>
            </a:endParaRPr>
          </a:p>
        </p:txBody>
      </p:sp>
      <p:sp>
        <p:nvSpPr>
          <p:cNvPr id="10" name="CaixaDeTexto 9">
            <a:extLst>
              <a:ext uri="{FF2B5EF4-FFF2-40B4-BE49-F238E27FC236}">
                <a16:creationId xmlns:a16="http://schemas.microsoft.com/office/drawing/2014/main" id="{615B1CEA-2B31-4D65-851A-573DCD0F71A8}"/>
              </a:ext>
            </a:extLst>
          </p:cNvPr>
          <p:cNvSpPr txBox="1"/>
          <p:nvPr/>
        </p:nvSpPr>
        <p:spPr>
          <a:xfrm>
            <a:off x="2254898" y="2151727"/>
            <a:ext cx="9089571" cy="2554545"/>
          </a:xfrm>
          <a:prstGeom prst="rect">
            <a:avLst/>
          </a:prstGeom>
          <a:noFill/>
        </p:spPr>
        <p:txBody>
          <a:bodyPr wrap="square" rtlCol="0">
            <a:spAutoFit/>
          </a:bodyPr>
          <a:lstStyle/>
          <a:p>
            <a:pPr marL="285750" indent="-285750">
              <a:buFontTx/>
              <a:buChar char="-"/>
            </a:pPr>
            <a:r>
              <a:rPr lang="pt-BR" sz="3200">
                <a:solidFill>
                  <a:schemeClr val="tx1">
                    <a:lumMod val="65000"/>
                  </a:schemeClr>
                </a:solidFill>
              </a:rPr>
              <a:t>Vontade de se autoproduzir</a:t>
            </a:r>
          </a:p>
          <a:p>
            <a:pPr marL="285750" indent="-285750">
              <a:buFontTx/>
              <a:buChar char="-"/>
            </a:pPr>
            <a:r>
              <a:rPr lang="pt-BR" sz="3200">
                <a:solidFill>
                  <a:schemeClr val="tx1">
                    <a:lumMod val="65000"/>
                  </a:schemeClr>
                </a:solidFill>
              </a:rPr>
              <a:t>Estar próximo da sua geração de renda</a:t>
            </a:r>
          </a:p>
          <a:p>
            <a:pPr marL="285750" indent="-285750">
              <a:buFontTx/>
              <a:buChar char="-"/>
            </a:pPr>
            <a:r>
              <a:rPr lang="pt-BR" sz="3200">
                <a:solidFill>
                  <a:schemeClr val="tx1">
                    <a:lumMod val="65000"/>
                  </a:schemeClr>
                </a:solidFill>
              </a:rPr>
              <a:t>Inexistência de cláusulas leoninas</a:t>
            </a:r>
          </a:p>
          <a:p>
            <a:pPr marL="285750" indent="-285750">
              <a:buFontTx/>
              <a:buChar char="-"/>
            </a:pPr>
            <a:r>
              <a:rPr lang="pt-BR" sz="3200">
                <a:solidFill>
                  <a:schemeClr val="tx1">
                    <a:lumMod val="65000"/>
                  </a:schemeClr>
                </a:solidFill>
              </a:rPr>
              <a:t>Ter os direitos de suas obras atrelados diretamentes a si</a:t>
            </a:r>
          </a:p>
        </p:txBody>
      </p:sp>
    </p:spTree>
    <p:extLst>
      <p:ext uri="{BB962C8B-B14F-4D97-AF65-F5344CB8AC3E}">
        <p14:creationId xmlns:p14="http://schemas.microsoft.com/office/powerpoint/2010/main" val="3053427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8" name="CaixaDeTexto 7">
            <a:extLst>
              <a:ext uri="{FF2B5EF4-FFF2-40B4-BE49-F238E27FC236}">
                <a16:creationId xmlns:a16="http://schemas.microsoft.com/office/drawing/2014/main" id="{A7588F8A-73A4-471D-8D6D-FD98ACABC5EE}"/>
              </a:ext>
            </a:extLst>
          </p:cNvPr>
          <p:cNvSpPr txBox="1"/>
          <p:nvPr/>
        </p:nvSpPr>
        <p:spPr>
          <a:xfrm>
            <a:off x="10515221" y="183312"/>
            <a:ext cx="1314784" cy="461665"/>
          </a:xfrm>
          <a:prstGeom prst="rect">
            <a:avLst/>
          </a:prstGeom>
          <a:noFill/>
        </p:spPr>
        <p:txBody>
          <a:bodyPr wrap="none" rtlCol="0">
            <a:spAutoFit/>
          </a:bodyPr>
          <a:lstStyle/>
          <a:p>
            <a:r>
              <a:rPr lang="pt-BR" sz="2400">
                <a:solidFill>
                  <a:schemeClr val="tx1">
                    <a:lumMod val="50000"/>
                  </a:schemeClr>
                </a:solidFill>
              </a:rPr>
              <a:t> 8 de 29</a:t>
            </a:r>
            <a:endParaRPr lang="pt-BR">
              <a:solidFill>
                <a:schemeClr val="tx1">
                  <a:lumMod val="50000"/>
                </a:schemeClr>
              </a:solidFill>
            </a:endParaRPr>
          </a:p>
        </p:txBody>
      </p:sp>
      <p:sp>
        <p:nvSpPr>
          <p:cNvPr id="9" name="CaixaDeTexto 8">
            <a:extLst>
              <a:ext uri="{FF2B5EF4-FFF2-40B4-BE49-F238E27FC236}">
                <a16:creationId xmlns:a16="http://schemas.microsoft.com/office/drawing/2014/main" id="{111E264F-FBFA-468A-8F28-040A4EBD41A8}"/>
              </a:ext>
            </a:extLst>
          </p:cNvPr>
          <p:cNvSpPr txBox="1"/>
          <p:nvPr/>
        </p:nvSpPr>
        <p:spPr>
          <a:xfrm>
            <a:off x="421197" y="421417"/>
            <a:ext cx="8607356" cy="707886"/>
          </a:xfrm>
          <a:prstGeom prst="rect">
            <a:avLst/>
          </a:prstGeom>
          <a:noFill/>
        </p:spPr>
        <p:txBody>
          <a:bodyPr wrap="none" rtlCol="0">
            <a:spAutoFit/>
          </a:bodyPr>
          <a:lstStyle/>
          <a:p>
            <a:r>
              <a:rPr lang="pt-BR" sz="4000">
                <a:solidFill>
                  <a:schemeClr val="tx1">
                    <a:lumMod val="50000"/>
                  </a:schemeClr>
                </a:solidFill>
              </a:rPr>
              <a:t>Sumário – Personas – Consumidores </a:t>
            </a:r>
            <a:endParaRPr lang="pt-BR" sz="3200">
              <a:solidFill>
                <a:schemeClr val="tx1">
                  <a:lumMod val="50000"/>
                </a:schemeClr>
              </a:solidFill>
            </a:endParaRPr>
          </a:p>
        </p:txBody>
      </p:sp>
      <p:sp>
        <p:nvSpPr>
          <p:cNvPr id="10" name="CaixaDeTexto 9">
            <a:extLst>
              <a:ext uri="{FF2B5EF4-FFF2-40B4-BE49-F238E27FC236}">
                <a16:creationId xmlns:a16="http://schemas.microsoft.com/office/drawing/2014/main" id="{615B1CEA-2B31-4D65-851A-573DCD0F71A8}"/>
              </a:ext>
            </a:extLst>
          </p:cNvPr>
          <p:cNvSpPr txBox="1"/>
          <p:nvPr/>
        </p:nvSpPr>
        <p:spPr>
          <a:xfrm>
            <a:off x="2254898" y="2151727"/>
            <a:ext cx="9089571" cy="2062103"/>
          </a:xfrm>
          <a:prstGeom prst="rect">
            <a:avLst/>
          </a:prstGeom>
          <a:noFill/>
        </p:spPr>
        <p:txBody>
          <a:bodyPr wrap="square" rtlCol="0">
            <a:spAutoFit/>
          </a:bodyPr>
          <a:lstStyle/>
          <a:p>
            <a:pPr marL="285750" indent="-285750">
              <a:buFontTx/>
              <a:buChar char="-"/>
            </a:pPr>
            <a:r>
              <a:rPr lang="pt-BR" sz="3200">
                <a:solidFill>
                  <a:schemeClr val="tx1">
                    <a:lumMod val="65000"/>
                  </a:schemeClr>
                </a:solidFill>
              </a:rPr>
              <a:t>Apoiar seus artistas favoritos</a:t>
            </a:r>
          </a:p>
          <a:p>
            <a:pPr marL="285750" indent="-285750">
              <a:buFontTx/>
              <a:buChar char="-"/>
            </a:pPr>
            <a:r>
              <a:rPr lang="pt-BR" sz="3200">
                <a:solidFill>
                  <a:schemeClr val="tx1">
                    <a:lumMod val="65000"/>
                  </a:schemeClr>
                </a:solidFill>
              </a:rPr>
              <a:t>Ter conteúdos exclusivos </a:t>
            </a:r>
          </a:p>
          <a:p>
            <a:pPr marL="285750" indent="-285750">
              <a:buFontTx/>
              <a:buChar char="-"/>
            </a:pPr>
            <a:r>
              <a:rPr lang="pt-BR" sz="3200">
                <a:solidFill>
                  <a:schemeClr val="tx1">
                    <a:lumMod val="65000"/>
                  </a:schemeClr>
                </a:solidFill>
              </a:rPr>
              <a:t>Sensação de funcionalidade</a:t>
            </a:r>
          </a:p>
          <a:p>
            <a:pPr marL="285750" indent="-285750">
              <a:buFontTx/>
              <a:buChar char="-"/>
            </a:pPr>
            <a:r>
              <a:rPr lang="pt-BR" sz="3200">
                <a:solidFill>
                  <a:schemeClr val="tx1">
                    <a:lumMod val="65000"/>
                  </a:schemeClr>
                </a:solidFill>
              </a:rPr>
              <a:t>Sensação de possuir um ativo</a:t>
            </a:r>
          </a:p>
        </p:txBody>
      </p:sp>
    </p:spTree>
    <p:extLst>
      <p:ext uri="{BB962C8B-B14F-4D97-AF65-F5344CB8AC3E}">
        <p14:creationId xmlns:p14="http://schemas.microsoft.com/office/powerpoint/2010/main" val="2459551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pic>
        <p:nvPicPr>
          <p:cNvPr id="9" name="Imagem 8" descr="Imagem em preto e branco&#10;&#10;Descrição gerada automaticamente">
            <a:extLst>
              <a:ext uri="{FF2B5EF4-FFF2-40B4-BE49-F238E27FC236}">
                <a16:creationId xmlns:a16="http://schemas.microsoft.com/office/drawing/2014/main" id="{E5EB99A2-5B23-42DA-89E3-43C63F8BB28A}"/>
              </a:ext>
            </a:extLst>
          </p:cNvPr>
          <p:cNvPicPr>
            <a:picLocks noChangeAspect="1"/>
          </p:cNvPicPr>
          <p:nvPr/>
        </p:nvPicPr>
        <p:blipFill>
          <a:blip r:embed="rId3">
            <a:lum bright="70000" contrast="-70000"/>
            <a:alphaModFix amt="35000"/>
            <a:extLst>
              <a:ext uri="{28A0092B-C50C-407E-A947-70E740481C1C}">
                <a14:useLocalDpi xmlns:a14="http://schemas.microsoft.com/office/drawing/2010/main" val="0"/>
              </a:ext>
            </a:extLst>
          </a:blip>
          <a:stretch>
            <a:fillRect/>
          </a:stretch>
        </p:blipFill>
        <p:spPr>
          <a:xfrm>
            <a:off x="3014395" y="2089887"/>
            <a:ext cx="1905000" cy="1905000"/>
          </a:xfrm>
          <a:prstGeom prst="rect">
            <a:avLst/>
          </a:prstGeom>
          <a:noFill/>
        </p:spPr>
      </p:pic>
      <p:pic>
        <p:nvPicPr>
          <p:cNvPr id="11" name="Imagem 10" descr="Imagem em preto e branco&#10;&#10;Descrição gerada automaticamente">
            <a:extLst>
              <a:ext uri="{FF2B5EF4-FFF2-40B4-BE49-F238E27FC236}">
                <a16:creationId xmlns:a16="http://schemas.microsoft.com/office/drawing/2014/main" id="{BE02B8D0-8098-4E5A-9697-F013AB94AC13}"/>
              </a:ext>
            </a:extLst>
          </p:cNvPr>
          <p:cNvPicPr>
            <a:picLocks noChangeAspect="1"/>
          </p:cNvPicPr>
          <p:nvPr/>
        </p:nvPicPr>
        <p:blipFill>
          <a:blip r:embed="rId3">
            <a:lum bright="70000" contrast="-70000"/>
            <a:alphaModFix amt="35000"/>
            <a:extLst>
              <a:ext uri="{28A0092B-C50C-407E-A947-70E740481C1C}">
                <a14:useLocalDpi xmlns:a14="http://schemas.microsoft.com/office/drawing/2010/main" val="0"/>
              </a:ext>
            </a:extLst>
          </a:blip>
          <a:stretch>
            <a:fillRect/>
          </a:stretch>
        </p:blipFill>
        <p:spPr>
          <a:xfrm>
            <a:off x="3014395" y="4593229"/>
            <a:ext cx="1905000" cy="1905000"/>
          </a:xfrm>
          <a:prstGeom prst="rect">
            <a:avLst/>
          </a:prstGeom>
          <a:noFill/>
        </p:spPr>
      </p:pic>
      <p:sp>
        <p:nvSpPr>
          <p:cNvPr id="12" name="CaixaDeTexto 11">
            <a:extLst>
              <a:ext uri="{FF2B5EF4-FFF2-40B4-BE49-F238E27FC236}">
                <a16:creationId xmlns:a16="http://schemas.microsoft.com/office/drawing/2014/main" id="{1E1EB991-9F48-4FD8-BCC0-012B95649030}"/>
              </a:ext>
            </a:extLst>
          </p:cNvPr>
          <p:cNvSpPr txBox="1"/>
          <p:nvPr/>
        </p:nvSpPr>
        <p:spPr>
          <a:xfrm>
            <a:off x="1249563" y="2749999"/>
            <a:ext cx="1518364" cy="584775"/>
          </a:xfrm>
          <a:prstGeom prst="rect">
            <a:avLst/>
          </a:prstGeom>
          <a:noFill/>
        </p:spPr>
        <p:txBody>
          <a:bodyPr wrap="none" rtlCol="0">
            <a:spAutoFit/>
          </a:bodyPr>
          <a:lstStyle/>
          <a:p>
            <a:r>
              <a:rPr lang="pt-BR" sz="3200">
                <a:solidFill>
                  <a:schemeClr val="tx1">
                    <a:lumMod val="65000"/>
                  </a:schemeClr>
                </a:solidFill>
              </a:rPr>
              <a:t>Músico</a:t>
            </a:r>
          </a:p>
        </p:txBody>
      </p:sp>
      <p:sp>
        <p:nvSpPr>
          <p:cNvPr id="13" name="CaixaDeTexto 12">
            <a:extLst>
              <a:ext uri="{FF2B5EF4-FFF2-40B4-BE49-F238E27FC236}">
                <a16:creationId xmlns:a16="http://schemas.microsoft.com/office/drawing/2014/main" id="{B60FDCEE-15AB-4C75-AF6D-B7D8C512A057}"/>
              </a:ext>
            </a:extLst>
          </p:cNvPr>
          <p:cNvSpPr txBox="1"/>
          <p:nvPr/>
        </p:nvSpPr>
        <p:spPr>
          <a:xfrm>
            <a:off x="761545" y="5218915"/>
            <a:ext cx="2494401" cy="584775"/>
          </a:xfrm>
          <a:prstGeom prst="rect">
            <a:avLst/>
          </a:prstGeom>
          <a:noFill/>
        </p:spPr>
        <p:txBody>
          <a:bodyPr wrap="none" rtlCol="0">
            <a:spAutoFit/>
          </a:bodyPr>
          <a:lstStyle/>
          <a:p>
            <a:r>
              <a:rPr lang="pt-BR" sz="3200">
                <a:solidFill>
                  <a:schemeClr val="tx1">
                    <a:lumMod val="65000"/>
                  </a:schemeClr>
                </a:solidFill>
              </a:rPr>
              <a:t>Consumidor</a:t>
            </a:r>
          </a:p>
        </p:txBody>
      </p:sp>
      <p:pic>
        <p:nvPicPr>
          <p:cNvPr id="14" name="Imagem 13" descr="Logotipo&#10;&#10;Descrição gerada automaticamente">
            <a:extLst>
              <a:ext uri="{FF2B5EF4-FFF2-40B4-BE49-F238E27FC236}">
                <a16:creationId xmlns:a16="http://schemas.microsoft.com/office/drawing/2014/main" id="{725022B5-7ADD-487D-9612-B7416B43A922}"/>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b="12198"/>
          <a:stretch/>
        </p:blipFill>
        <p:spPr>
          <a:xfrm>
            <a:off x="6310944" y="2959405"/>
            <a:ext cx="3775969" cy="2155066"/>
          </a:xfrm>
          <a:custGeom>
            <a:avLst/>
            <a:gdLst/>
            <a:ahLst/>
            <a:cxnLst/>
            <a:rect l="l" t="t" r="r" b="b"/>
            <a:pathLst>
              <a:path w="12192000" h="6858000">
                <a:moveTo>
                  <a:pt x="0" y="0"/>
                </a:moveTo>
                <a:lnTo>
                  <a:pt x="12192000" y="0"/>
                </a:lnTo>
                <a:lnTo>
                  <a:pt x="12192000" y="6858000"/>
                </a:lnTo>
                <a:lnTo>
                  <a:pt x="0" y="6858000"/>
                </a:lnTo>
                <a:close/>
              </a:path>
            </a:pathLst>
          </a:custGeom>
          <a:ln>
            <a:noFill/>
          </a:ln>
        </p:spPr>
      </p:pic>
      <p:sp>
        <p:nvSpPr>
          <p:cNvPr id="15" name="CaixaDeTexto 14">
            <a:extLst>
              <a:ext uri="{FF2B5EF4-FFF2-40B4-BE49-F238E27FC236}">
                <a16:creationId xmlns:a16="http://schemas.microsoft.com/office/drawing/2014/main" id="{AB863AD1-3147-499E-936E-8976A38784FA}"/>
              </a:ext>
            </a:extLst>
          </p:cNvPr>
          <p:cNvSpPr txBox="1"/>
          <p:nvPr/>
        </p:nvSpPr>
        <p:spPr>
          <a:xfrm>
            <a:off x="7112350" y="2624966"/>
            <a:ext cx="2173159" cy="584775"/>
          </a:xfrm>
          <a:prstGeom prst="rect">
            <a:avLst/>
          </a:prstGeom>
          <a:noFill/>
        </p:spPr>
        <p:txBody>
          <a:bodyPr wrap="none" rtlCol="0">
            <a:spAutoFit/>
          </a:bodyPr>
          <a:lstStyle/>
          <a:p>
            <a:r>
              <a:rPr lang="pt-BR" sz="3200">
                <a:solidFill>
                  <a:schemeClr val="tx1">
                    <a:lumMod val="65000"/>
                  </a:schemeClr>
                </a:solidFill>
              </a:rPr>
              <a:t>Plataforma</a:t>
            </a:r>
          </a:p>
        </p:txBody>
      </p:sp>
      <p:cxnSp>
        <p:nvCxnSpPr>
          <p:cNvPr id="8" name="Conector de Seta Reta 7">
            <a:extLst>
              <a:ext uri="{FF2B5EF4-FFF2-40B4-BE49-F238E27FC236}">
                <a16:creationId xmlns:a16="http://schemas.microsoft.com/office/drawing/2014/main" id="{387CD77B-3288-4BB5-B199-0B970FA95ABE}"/>
              </a:ext>
            </a:extLst>
          </p:cNvPr>
          <p:cNvCxnSpPr>
            <a:cxnSpLocks/>
          </p:cNvCxnSpPr>
          <p:nvPr/>
        </p:nvCxnSpPr>
        <p:spPr>
          <a:xfrm>
            <a:off x="4919395" y="3042386"/>
            <a:ext cx="1579059" cy="765697"/>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9" name="Conector de Seta Reta 18">
            <a:extLst>
              <a:ext uri="{FF2B5EF4-FFF2-40B4-BE49-F238E27FC236}">
                <a16:creationId xmlns:a16="http://schemas.microsoft.com/office/drawing/2014/main" id="{B1552350-AD26-4293-A15E-D541DAAEFD9A}"/>
              </a:ext>
            </a:extLst>
          </p:cNvPr>
          <p:cNvCxnSpPr>
            <a:cxnSpLocks/>
          </p:cNvCxnSpPr>
          <p:nvPr/>
        </p:nvCxnSpPr>
        <p:spPr>
          <a:xfrm flipV="1">
            <a:off x="4960882" y="4373199"/>
            <a:ext cx="1537572" cy="117253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2" name="CaixaDeTexto 21">
            <a:extLst>
              <a:ext uri="{FF2B5EF4-FFF2-40B4-BE49-F238E27FC236}">
                <a16:creationId xmlns:a16="http://schemas.microsoft.com/office/drawing/2014/main" id="{D299DBD1-498C-4503-978A-A885607C66CD}"/>
              </a:ext>
            </a:extLst>
          </p:cNvPr>
          <p:cNvSpPr txBox="1"/>
          <p:nvPr/>
        </p:nvSpPr>
        <p:spPr>
          <a:xfrm>
            <a:off x="10515221" y="183312"/>
            <a:ext cx="1314784" cy="461665"/>
          </a:xfrm>
          <a:prstGeom prst="rect">
            <a:avLst/>
          </a:prstGeom>
          <a:noFill/>
        </p:spPr>
        <p:txBody>
          <a:bodyPr wrap="none" rtlCol="0">
            <a:spAutoFit/>
          </a:bodyPr>
          <a:lstStyle/>
          <a:p>
            <a:r>
              <a:rPr lang="pt-BR" sz="2400">
                <a:solidFill>
                  <a:schemeClr val="tx1">
                    <a:lumMod val="50000"/>
                  </a:schemeClr>
                </a:solidFill>
              </a:rPr>
              <a:t> 9 de 29</a:t>
            </a:r>
            <a:endParaRPr lang="pt-BR">
              <a:solidFill>
                <a:schemeClr val="tx1">
                  <a:lumMod val="50000"/>
                </a:schemeClr>
              </a:solidFill>
            </a:endParaRPr>
          </a:p>
        </p:txBody>
      </p:sp>
      <p:sp>
        <p:nvSpPr>
          <p:cNvPr id="16" name="CaixaDeTexto 15">
            <a:extLst>
              <a:ext uri="{FF2B5EF4-FFF2-40B4-BE49-F238E27FC236}">
                <a16:creationId xmlns:a16="http://schemas.microsoft.com/office/drawing/2014/main" id="{D6B362E2-3155-4957-A721-C899C18C0D2D}"/>
              </a:ext>
            </a:extLst>
          </p:cNvPr>
          <p:cNvSpPr txBox="1"/>
          <p:nvPr/>
        </p:nvSpPr>
        <p:spPr>
          <a:xfrm>
            <a:off x="421197" y="421417"/>
            <a:ext cx="7279557" cy="707886"/>
          </a:xfrm>
          <a:prstGeom prst="rect">
            <a:avLst/>
          </a:prstGeom>
          <a:noFill/>
        </p:spPr>
        <p:txBody>
          <a:bodyPr wrap="none" rtlCol="0">
            <a:spAutoFit/>
          </a:bodyPr>
          <a:lstStyle/>
          <a:p>
            <a:r>
              <a:rPr lang="pt-BR" sz="4000">
                <a:solidFill>
                  <a:schemeClr val="tx1">
                    <a:lumMod val="50000"/>
                  </a:schemeClr>
                </a:solidFill>
              </a:rPr>
              <a:t>Sumário – Modelo de Negócio</a:t>
            </a:r>
            <a:endParaRPr lang="pt-BR" sz="3200">
              <a:solidFill>
                <a:schemeClr val="tx1">
                  <a:lumMod val="50000"/>
                </a:schemeClr>
              </a:solidFill>
            </a:endParaRPr>
          </a:p>
        </p:txBody>
      </p:sp>
    </p:spTree>
    <p:extLst>
      <p:ext uri="{BB962C8B-B14F-4D97-AF65-F5344CB8AC3E}">
        <p14:creationId xmlns:p14="http://schemas.microsoft.com/office/powerpoint/2010/main" val="3121050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pic>
        <p:nvPicPr>
          <p:cNvPr id="9" name="Imagem 8" descr="Imagem em preto e branco&#10;&#10;Descrição gerada automaticamente">
            <a:extLst>
              <a:ext uri="{FF2B5EF4-FFF2-40B4-BE49-F238E27FC236}">
                <a16:creationId xmlns:a16="http://schemas.microsoft.com/office/drawing/2014/main" id="{E5EB99A2-5B23-42DA-89E3-43C63F8BB28A}"/>
              </a:ext>
            </a:extLst>
          </p:cNvPr>
          <p:cNvPicPr>
            <a:picLocks noChangeAspect="1"/>
          </p:cNvPicPr>
          <p:nvPr/>
        </p:nvPicPr>
        <p:blipFill>
          <a:blip r:embed="rId3">
            <a:lum bright="70000" contrast="-70000"/>
            <a:alphaModFix amt="35000"/>
            <a:extLst>
              <a:ext uri="{28A0092B-C50C-407E-A947-70E740481C1C}">
                <a14:useLocalDpi xmlns:a14="http://schemas.microsoft.com/office/drawing/2010/main" val="0"/>
              </a:ext>
            </a:extLst>
          </a:blip>
          <a:stretch>
            <a:fillRect/>
          </a:stretch>
        </p:blipFill>
        <p:spPr>
          <a:xfrm>
            <a:off x="820863" y="1957796"/>
            <a:ext cx="952500" cy="952500"/>
          </a:xfrm>
          <a:prstGeom prst="rect">
            <a:avLst/>
          </a:prstGeom>
          <a:noFill/>
        </p:spPr>
      </p:pic>
      <p:sp>
        <p:nvSpPr>
          <p:cNvPr id="12" name="CaixaDeTexto 11">
            <a:extLst>
              <a:ext uri="{FF2B5EF4-FFF2-40B4-BE49-F238E27FC236}">
                <a16:creationId xmlns:a16="http://schemas.microsoft.com/office/drawing/2014/main" id="{1E1EB991-9F48-4FD8-BCC0-012B95649030}"/>
              </a:ext>
            </a:extLst>
          </p:cNvPr>
          <p:cNvSpPr txBox="1"/>
          <p:nvPr/>
        </p:nvSpPr>
        <p:spPr>
          <a:xfrm>
            <a:off x="792620" y="3028890"/>
            <a:ext cx="1518364" cy="400110"/>
          </a:xfrm>
          <a:prstGeom prst="rect">
            <a:avLst/>
          </a:prstGeom>
          <a:noFill/>
        </p:spPr>
        <p:txBody>
          <a:bodyPr wrap="square" rtlCol="0">
            <a:spAutoFit/>
          </a:bodyPr>
          <a:lstStyle/>
          <a:p>
            <a:r>
              <a:rPr lang="pt-BR" sz="2000">
                <a:solidFill>
                  <a:schemeClr val="tx1">
                    <a:lumMod val="65000"/>
                  </a:schemeClr>
                </a:solidFill>
              </a:rPr>
              <a:t>Músico</a:t>
            </a:r>
          </a:p>
        </p:txBody>
      </p:sp>
      <p:pic>
        <p:nvPicPr>
          <p:cNvPr id="14" name="Imagem 13" descr="Logotipo&#10;&#10;Descrição gerada automaticamente">
            <a:extLst>
              <a:ext uri="{FF2B5EF4-FFF2-40B4-BE49-F238E27FC236}">
                <a16:creationId xmlns:a16="http://schemas.microsoft.com/office/drawing/2014/main" id="{725022B5-7ADD-487D-9612-B7416B43A922}"/>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b="12198"/>
          <a:stretch/>
        </p:blipFill>
        <p:spPr>
          <a:xfrm>
            <a:off x="4774386" y="3248518"/>
            <a:ext cx="2283441" cy="1303233"/>
          </a:xfrm>
          <a:custGeom>
            <a:avLst/>
            <a:gdLst/>
            <a:ahLst/>
            <a:cxnLst/>
            <a:rect l="l" t="t" r="r" b="b"/>
            <a:pathLst>
              <a:path w="12192000" h="6858000">
                <a:moveTo>
                  <a:pt x="0" y="0"/>
                </a:moveTo>
                <a:lnTo>
                  <a:pt x="12192000" y="0"/>
                </a:lnTo>
                <a:lnTo>
                  <a:pt x="12192000" y="6858000"/>
                </a:lnTo>
                <a:lnTo>
                  <a:pt x="0" y="6858000"/>
                </a:lnTo>
                <a:close/>
              </a:path>
            </a:pathLst>
          </a:custGeom>
          <a:ln>
            <a:noFill/>
          </a:ln>
        </p:spPr>
      </p:pic>
      <p:sp>
        <p:nvSpPr>
          <p:cNvPr id="15" name="CaixaDeTexto 14">
            <a:extLst>
              <a:ext uri="{FF2B5EF4-FFF2-40B4-BE49-F238E27FC236}">
                <a16:creationId xmlns:a16="http://schemas.microsoft.com/office/drawing/2014/main" id="{AB863AD1-3147-499E-936E-8976A38784FA}"/>
              </a:ext>
            </a:extLst>
          </p:cNvPr>
          <p:cNvSpPr txBox="1"/>
          <p:nvPr/>
        </p:nvSpPr>
        <p:spPr>
          <a:xfrm>
            <a:off x="5087054" y="2990015"/>
            <a:ext cx="2173159" cy="461665"/>
          </a:xfrm>
          <a:prstGeom prst="rect">
            <a:avLst/>
          </a:prstGeom>
          <a:noFill/>
        </p:spPr>
        <p:txBody>
          <a:bodyPr wrap="square" rtlCol="0">
            <a:spAutoFit/>
          </a:bodyPr>
          <a:lstStyle/>
          <a:p>
            <a:r>
              <a:rPr lang="pt-BR" sz="2400">
                <a:solidFill>
                  <a:schemeClr val="tx1">
                    <a:lumMod val="65000"/>
                  </a:schemeClr>
                </a:solidFill>
              </a:rPr>
              <a:t>Plataforma</a:t>
            </a:r>
          </a:p>
        </p:txBody>
      </p:sp>
      <p:cxnSp>
        <p:nvCxnSpPr>
          <p:cNvPr id="16" name="Conector de Seta Reta 15">
            <a:extLst>
              <a:ext uri="{FF2B5EF4-FFF2-40B4-BE49-F238E27FC236}">
                <a16:creationId xmlns:a16="http://schemas.microsoft.com/office/drawing/2014/main" id="{696BD0AB-8261-47CF-AC57-A441655D04E6}"/>
              </a:ext>
            </a:extLst>
          </p:cNvPr>
          <p:cNvCxnSpPr>
            <a:cxnSpLocks/>
          </p:cNvCxnSpPr>
          <p:nvPr/>
        </p:nvCxnSpPr>
        <p:spPr>
          <a:xfrm>
            <a:off x="2485827" y="2743200"/>
            <a:ext cx="2086173" cy="818712"/>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pic>
        <p:nvPicPr>
          <p:cNvPr id="3" name="Imagem 2" descr="Placa vermelha com letras brancas em fundo preto&#10;&#10;Descrição gerada automaticamente com confiança média">
            <a:extLst>
              <a:ext uri="{FF2B5EF4-FFF2-40B4-BE49-F238E27FC236}">
                <a16:creationId xmlns:a16="http://schemas.microsoft.com/office/drawing/2014/main" id="{6B529625-0BDC-4C12-AE8B-08D4A38AEC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98104" y="1602227"/>
            <a:ext cx="1308069" cy="1308069"/>
          </a:xfrm>
          <a:prstGeom prst="rect">
            <a:avLst/>
          </a:prstGeom>
        </p:spPr>
      </p:pic>
      <p:sp>
        <p:nvSpPr>
          <p:cNvPr id="17" name="CaixaDeTexto 16">
            <a:extLst>
              <a:ext uri="{FF2B5EF4-FFF2-40B4-BE49-F238E27FC236}">
                <a16:creationId xmlns:a16="http://schemas.microsoft.com/office/drawing/2014/main" id="{17B80AEE-ABBB-474A-9BA1-0D8F9BC9205D}"/>
              </a:ext>
            </a:extLst>
          </p:cNvPr>
          <p:cNvSpPr txBox="1"/>
          <p:nvPr/>
        </p:nvSpPr>
        <p:spPr>
          <a:xfrm>
            <a:off x="8844965" y="3823465"/>
            <a:ext cx="1441073" cy="369332"/>
          </a:xfrm>
          <a:prstGeom prst="rect">
            <a:avLst/>
          </a:prstGeom>
          <a:noFill/>
        </p:spPr>
        <p:txBody>
          <a:bodyPr wrap="square" rtlCol="0">
            <a:spAutoFit/>
          </a:bodyPr>
          <a:lstStyle/>
          <a:p>
            <a:r>
              <a:rPr lang="pt-BR">
                <a:solidFill>
                  <a:schemeClr val="tx1">
                    <a:lumMod val="65000"/>
                  </a:schemeClr>
                </a:solidFill>
              </a:rPr>
              <a:t>NFT</a:t>
            </a:r>
          </a:p>
        </p:txBody>
      </p:sp>
      <p:pic>
        <p:nvPicPr>
          <p:cNvPr id="5" name="Imagem 4" descr="Padrão do plano de fundo&#10;&#10;Descrição gerada automaticamente">
            <a:extLst>
              <a:ext uri="{FF2B5EF4-FFF2-40B4-BE49-F238E27FC236}">
                <a16:creationId xmlns:a16="http://schemas.microsoft.com/office/drawing/2014/main" id="{97481A07-C444-42B1-A2E4-7F36CFC255B7}"/>
              </a:ext>
            </a:extLst>
          </p:cNvPr>
          <p:cNvPicPr>
            <a:picLocks noChangeAspect="1"/>
          </p:cNvPicPr>
          <p:nvPr/>
        </p:nvPicPr>
        <p:blipFill>
          <a:blip r:embed="rId5">
            <a:lum bright="70000" contrast="-70000"/>
            <a:alphaModFix amt="35000"/>
            <a:extLst>
              <a:ext uri="{28A0092B-C50C-407E-A947-70E740481C1C}">
                <a14:useLocalDpi xmlns:a14="http://schemas.microsoft.com/office/drawing/2010/main" val="0"/>
              </a:ext>
            </a:extLst>
          </a:blip>
          <a:stretch>
            <a:fillRect/>
          </a:stretch>
        </p:blipFill>
        <p:spPr>
          <a:xfrm>
            <a:off x="1852391" y="3228945"/>
            <a:ext cx="1101332" cy="884077"/>
          </a:xfrm>
          <a:prstGeom prst="rect">
            <a:avLst/>
          </a:prstGeom>
        </p:spPr>
      </p:pic>
      <p:cxnSp>
        <p:nvCxnSpPr>
          <p:cNvPr id="21" name="Conector de Seta Reta 20">
            <a:extLst>
              <a:ext uri="{FF2B5EF4-FFF2-40B4-BE49-F238E27FC236}">
                <a16:creationId xmlns:a16="http://schemas.microsoft.com/office/drawing/2014/main" id="{24F3D0CA-9BFF-461C-ACEF-AD99909DCD61}"/>
              </a:ext>
            </a:extLst>
          </p:cNvPr>
          <p:cNvCxnSpPr>
            <a:cxnSpLocks/>
          </p:cNvCxnSpPr>
          <p:nvPr/>
        </p:nvCxnSpPr>
        <p:spPr>
          <a:xfrm flipV="1">
            <a:off x="7008912" y="2692819"/>
            <a:ext cx="1441072" cy="813148"/>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pic>
        <p:nvPicPr>
          <p:cNvPr id="25" name="Imagem 24" descr="Padrão do plano de fundo&#10;&#10;Descrição gerada automaticamente">
            <a:extLst>
              <a:ext uri="{FF2B5EF4-FFF2-40B4-BE49-F238E27FC236}">
                <a16:creationId xmlns:a16="http://schemas.microsoft.com/office/drawing/2014/main" id="{3AD43E38-7066-4EA7-BDB9-6BB83B6526C4}"/>
              </a:ext>
            </a:extLst>
          </p:cNvPr>
          <p:cNvPicPr>
            <a:picLocks noChangeAspect="1"/>
          </p:cNvPicPr>
          <p:nvPr/>
        </p:nvPicPr>
        <p:blipFill>
          <a:blip r:embed="rId5">
            <a:lum bright="70000" contrast="-70000"/>
            <a:alphaModFix amt="35000"/>
            <a:extLst>
              <a:ext uri="{28A0092B-C50C-407E-A947-70E740481C1C}">
                <a14:useLocalDpi xmlns:a14="http://schemas.microsoft.com/office/drawing/2010/main" val="0"/>
              </a:ext>
            </a:extLst>
          </a:blip>
          <a:stretch>
            <a:fillRect/>
          </a:stretch>
        </p:blipFill>
        <p:spPr>
          <a:xfrm>
            <a:off x="8604841" y="4236338"/>
            <a:ext cx="1101332" cy="884077"/>
          </a:xfrm>
          <a:prstGeom prst="rect">
            <a:avLst/>
          </a:prstGeom>
        </p:spPr>
      </p:pic>
      <p:cxnSp>
        <p:nvCxnSpPr>
          <p:cNvPr id="26" name="Conector de Seta Reta 25">
            <a:extLst>
              <a:ext uri="{FF2B5EF4-FFF2-40B4-BE49-F238E27FC236}">
                <a16:creationId xmlns:a16="http://schemas.microsoft.com/office/drawing/2014/main" id="{F987AAB4-2942-409E-9521-92C47799F323}"/>
              </a:ext>
            </a:extLst>
          </p:cNvPr>
          <p:cNvCxnSpPr>
            <a:cxnSpLocks/>
          </p:cNvCxnSpPr>
          <p:nvPr/>
        </p:nvCxnSpPr>
        <p:spPr>
          <a:xfrm>
            <a:off x="7034852" y="4113022"/>
            <a:ext cx="1415132" cy="54144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pic>
        <p:nvPicPr>
          <p:cNvPr id="29" name="Imagem 28" descr="Imagem em preto e branco&#10;&#10;Descrição gerada automaticamente">
            <a:extLst>
              <a:ext uri="{FF2B5EF4-FFF2-40B4-BE49-F238E27FC236}">
                <a16:creationId xmlns:a16="http://schemas.microsoft.com/office/drawing/2014/main" id="{ACC338F6-D2C1-417F-A9FE-D55FCBAFF0F5}"/>
              </a:ext>
            </a:extLst>
          </p:cNvPr>
          <p:cNvPicPr>
            <a:picLocks noChangeAspect="1"/>
          </p:cNvPicPr>
          <p:nvPr/>
        </p:nvPicPr>
        <p:blipFill>
          <a:blip r:embed="rId3">
            <a:lum bright="70000" contrast="-70000"/>
            <a:alphaModFix amt="35000"/>
            <a:extLst>
              <a:ext uri="{28A0092B-C50C-407E-A947-70E740481C1C}">
                <a14:useLocalDpi xmlns:a14="http://schemas.microsoft.com/office/drawing/2010/main" val="0"/>
              </a:ext>
            </a:extLst>
          </a:blip>
          <a:stretch>
            <a:fillRect/>
          </a:stretch>
        </p:blipFill>
        <p:spPr>
          <a:xfrm>
            <a:off x="820863" y="4679515"/>
            <a:ext cx="952500" cy="952500"/>
          </a:xfrm>
          <a:prstGeom prst="rect">
            <a:avLst/>
          </a:prstGeom>
          <a:noFill/>
        </p:spPr>
      </p:pic>
      <p:sp>
        <p:nvSpPr>
          <p:cNvPr id="31" name="CaixaDeTexto 30">
            <a:extLst>
              <a:ext uri="{FF2B5EF4-FFF2-40B4-BE49-F238E27FC236}">
                <a16:creationId xmlns:a16="http://schemas.microsoft.com/office/drawing/2014/main" id="{DBDB5C1C-8A31-4BF3-862B-B625208401E8}"/>
              </a:ext>
            </a:extLst>
          </p:cNvPr>
          <p:cNvSpPr txBox="1"/>
          <p:nvPr/>
        </p:nvSpPr>
        <p:spPr>
          <a:xfrm>
            <a:off x="578022" y="5722928"/>
            <a:ext cx="2086172" cy="400110"/>
          </a:xfrm>
          <a:prstGeom prst="rect">
            <a:avLst/>
          </a:prstGeom>
          <a:noFill/>
        </p:spPr>
        <p:txBody>
          <a:bodyPr wrap="square" rtlCol="0">
            <a:spAutoFit/>
          </a:bodyPr>
          <a:lstStyle/>
          <a:p>
            <a:r>
              <a:rPr lang="pt-BR" sz="2000">
                <a:solidFill>
                  <a:schemeClr val="tx1">
                    <a:lumMod val="65000"/>
                  </a:schemeClr>
                </a:solidFill>
              </a:rPr>
              <a:t>Consumidor</a:t>
            </a:r>
          </a:p>
        </p:txBody>
      </p:sp>
      <p:cxnSp>
        <p:nvCxnSpPr>
          <p:cNvPr id="32" name="Conector de Seta Reta 31">
            <a:extLst>
              <a:ext uri="{FF2B5EF4-FFF2-40B4-BE49-F238E27FC236}">
                <a16:creationId xmlns:a16="http://schemas.microsoft.com/office/drawing/2014/main" id="{5621FA12-D094-4BF5-83D0-DC0F131065FF}"/>
              </a:ext>
            </a:extLst>
          </p:cNvPr>
          <p:cNvCxnSpPr>
            <a:cxnSpLocks/>
          </p:cNvCxnSpPr>
          <p:nvPr/>
        </p:nvCxnSpPr>
        <p:spPr>
          <a:xfrm flipV="1">
            <a:off x="2403057" y="4463718"/>
            <a:ext cx="2168943" cy="88753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37" name="CaixaDeTexto 36">
            <a:extLst>
              <a:ext uri="{FF2B5EF4-FFF2-40B4-BE49-F238E27FC236}">
                <a16:creationId xmlns:a16="http://schemas.microsoft.com/office/drawing/2014/main" id="{35CDA4B7-BA74-4859-9F4D-FC7DF23FEA69}"/>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10 de 29</a:t>
            </a:r>
            <a:endParaRPr lang="pt-BR">
              <a:solidFill>
                <a:schemeClr val="tx1">
                  <a:lumMod val="50000"/>
                </a:schemeClr>
              </a:solidFill>
            </a:endParaRPr>
          </a:p>
        </p:txBody>
      </p:sp>
      <p:sp>
        <p:nvSpPr>
          <p:cNvPr id="19" name="CaixaDeTexto 18">
            <a:extLst>
              <a:ext uri="{FF2B5EF4-FFF2-40B4-BE49-F238E27FC236}">
                <a16:creationId xmlns:a16="http://schemas.microsoft.com/office/drawing/2014/main" id="{A56AE20F-2370-4C18-9276-ACD67F74988D}"/>
              </a:ext>
            </a:extLst>
          </p:cNvPr>
          <p:cNvSpPr txBox="1"/>
          <p:nvPr/>
        </p:nvSpPr>
        <p:spPr>
          <a:xfrm>
            <a:off x="421197" y="421417"/>
            <a:ext cx="7279557" cy="707886"/>
          </a:xfrm>
          <a:prstGeom prst="rect">
            <a:avLst/>
          </a:prstGeom>
          <a:noFill/>
        </p:spPr>
        <p:txBody>
          <a:bodyPr wrap="none" rtlCol="0">
            <a:spAutoFit/>
          </a:bodyPr>
          <a:lstStyle/>
          <a:p>
            <a:r>
              <a:rPr lang="pt-BR" sz="4000">
                <a:solidFill>
                  <a:schemeClr val="tx1">
                    <a:lumMod val="50000"/>
                  </a:schemeClr>
                </a:solidFill>
              </a:rPr>
              <a:t>Sumário – Modelo de Negócio</a:t>
            </a:r>
            <a:endParaRPr lang="pt-BR" sz="3200">
              <a:solidFill>
                <a:schemeClr val="tx1">
                  <a:lumMod val="50000"/>
                </a:schemeClr>
              </a:solidFill>
            </a:endParaRPr>
          </a:p>
        </p:txBody>
      </p:sp>
    </p:spTree>
    <p:extLst>
      <p:ext uri="{BB962C8B-B14F-4D97-AF65-F5344CB8AC3E}">
        <p14:creationId xmlns:p14="http://schemas.microsoft.com/office/powerpoint/2010/main" val="2907058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12" name="CaixaDeTexto 11">
            <a:extLst>
              <a:ext uri="{FF2B5EF4-FFF2-40B4-BE49-F238E27FC236}">
                <a16:creationId xmlns:a16="http://schemas.microsoft.com/office/drawing/2014/main" id="{1E1EB991-9F48-4FD8-BCC0-012B95649030}"/>
              </a:ext>
            </a:extLst>
          </p:cNvPr>
          <p:cNvSpPr txBox="1"/>
          <p:nvPr/>
        </p:nvSpPr>
        <p:spPr>
          <a:xfrm>
            <a:off x="5182741" y="1700655"/>
            <a:ext cx="1518364" cy="400110"/>
          </a:xfrm>
          <a:prstGeom prst="rect">
            <a:avLst/>
          </a:prstGeom>
          <a:noFill/>
        </p:spPr>
        <p:txBody>
          <a:bodyPr wrap="square" rtlCol="0">
            <a:spAutoFit/>
          </a:bodyPr>
          <a:lstStyle/>
          <a:p>
            <a:r>
              <a:rPr lang="pt-BR" sz="2000">
                <a:solidFill>
                  <a:schemeClr val="tx1">
                    <a:lumMod val="65000"/>
                  </a:schemeClr>
                </a:solidFill>
              </a:rPr>
              <a:t>Músico</a:t>
            </a:r>
          </a:p>
        </p:txBody>
      </p:sp>
      <p:pic>
        <p:nvPicPr>
          <p:cNvPr id="14" name="Imagem 13" descr="Logotipo&#10;&#10;Descrição gerada automaticamente">
            <a:extLst>
              <a:ext uri="{FF2B5EF4-FFF2-40B4-BE49-F238E27FC236}">
                <a16:creationId xmlns:a16="http://schemas.microsoft.com/office/drawing/2014/main" id="{725022B5-7ADD-487D-9612-B7416B43A922}"/>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b="12198"/>
          <a:stretch/>
        </p:blipFill>
        <p:spPr>
          <a:xfrm>
            <a:off x="1052420" y="1961063"/>
            <a:ext cx="2283441" cy="1303233"/>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15" name="CaixaDeTexto 14">
            <a:extLst>
              <a:ext uri="{FF2B5EF4-FFF2-40B4-BE49-F238E27FC236}">
                <a16:creationId xmlns:a16="http://schemas.microsoft.com/office/drawing/2014/main" id="{AB863AD1-3147-499E-936E-8976A38784FA}"/>
              </a:ext>
            </a:extLst>
          </p:cNvPr>
          <p:cNvSpPr txBox="1"/>
          <p:nvPr/>
        </p:nvSpPr>
        <p:spPr>
          <a:xfrm>
            <a:off x="1368306" y="1639100"/>
            <a:ext cx="2173159" cy="461665"/>
          </a:xfrm>
          <a:prstGeom prst="rect">
            <a:avLst/>
          </a:prstGeom>
          <a:noFill/>
        </p:spPr>
        <p:txBody>
          <a:bodyPr wrap="square" rtlCol="0">
            <a:spAutoFit/>
          </a:bodyPr>
          <a:lstStyle/>
          <a:p>
            <a:r>
              <a:rPr lang="pt-BR" sz="2400">
                <a:solidFill>
                  <a:schemeClr val="tx1">
                    <a:lumMod val="65000"/>
                  </a:schemeClr>
                </a:solidFill>
              </a:rPr>
              <a:t>Plataforma</a:t>
            </a:r>
          </a:p>
        </p:txBody>
      </p:sp>
      <p:pic>
        <p:nvPicPr>
          <p:cNvPr id="29" name="Imagem 28" descr="Imagem em preto e branco&#10;&#10;Descrição gerada automaticamente">
            <a:extLst>
              <a:ext uri="{FF2B5EF4-FFF2-40B4-BE49-F238E27FC236}">
                <a16:creationId xmlns:a16="http://schemas.microsoft.com/office/drawing/2014/main" id="{ACC338F6-D2C1-417F-A9FE-D55FCBAFF0F5}"/>
              </a:ext>
            </a:extLst>
          </p:cNvPr>
          <p:cNvPicPr>
            <a:picLocks noChangeAspect="1"/>
          </p:cNvPicPr>
          <p:nvPr/>
        </p:nvPicPr>
        <p:blipFill>
          <a:blip r:embed="rId3">
            <a:lum bright="70000" contrast="-70000"/>
            <a:alphaModFix amt="35000"/>
            <a:extLst>
              <a:ext uri="{28A0092B-C50C-407E-A947-70E740481C1C}">
                <a14:useLocalDpi xmlns:a14="http://schemas.microsoft.com/office/drawing/2010/main" val="0"/>
              </a:ext>
            </a:extLst>
          </a:blip>
          <a:stretch>
            <a:fillRect/>
          </a:stretch>
        </p:blipFill>
        <p:spPr>
          <a:xfrm>
            <a:off x="5313947" y="2244885"/>
            <a:ext cx="735591" cy="735591"/>
          </a:xfrm>
          <a:prstGeom prst="rect">
            <a:avLst/>
          </a:prstGeom>
          <a:noFill/>
        </p:spPr>
      </p:pic>
      <p:sp>
        <p:nvSpPr>
          <p:cNvPr id="31" name="CaixaDeTexto 30">
            <a:extLst>
              <a:ext uri="{FF2B5EF4-FFF2-40B4-BE49-F238E27FC236}">
                <a16:creationId xmlns:a16="http://schemas.microsoft.com/office/drawing/2014/main" id="{DBDB5C1C-8A31-4BF3-862B-B625208401E8}"/>
              </a:ext>
            </a:extLst>
          </p:cNvPr>
          <p:cNvSpPr txBox="1"/>
          <p:nvPr/>
        </p:nvSpPr>
        <p:spPr>
          <a:xfrm>
            <a:off x="8552881" y="1639100"/>
            <a:ext cx="2086172" cy="400110"/>
          </a:xfrm>
          <a:prstGeom prst="rect">
            <a:avLst/>
          </a:prstGeom>
          <a:noFill/>
        </p:spPr>
        <p:txBody>
          <a:bodyPr wrap="square" rtlCol="0">
            <a:spAutoFit/>
          </a:bodyPr>
          <a:lstStyle/>
          <a:p>
            <a:r>
              <a:rPr lang="pt-BR" sz="2000">
                <a:solidFill>
                  <a:schemeClr val="tx1">
                    <a:lumMod val="65000"/>
                  </a:schemeClr>
                </a:solidFill>
              </a:rPr>
              <a:t>Consumidor</a:t>
            </a:r>
          </a:p>
        </p:txBody>
      </p:sp>
      <p:pic>
        <p:nvPicPr>
          <p:cNvPr id="18" name="Imagem 17" descr="Imagem em preto e branco&#10;&#10;Descrição gerada automaticamente">
            <a:extLst>
              <a:ext uri="{FF2B5EF4-FFF2-40B4-BE49-F238E27FC236}">
                <a16:creationId xmlns:a16="http://schemas.microsoft.com/office/drawing/2014/main" id="{9C2611BE-29E6-4C17-87F6-FAEC3AE7B4CB}"/>
              </a:ext>
            </a:extLst>
          </p:cNvPr>
          <p:cNvPicPr>
            <a:picLocks noChangeAspect="1"/>
          </p:cNvPicPr>
          <p:nvPr/>
        </p:nvPicPr>
        <p:blipFill>
          <a:blip r:embed="rId3">
            <a:lum bright="70000" contrast="-70000"/>
            <a:alphaModFix amt="35000"/>
            <a:extLst>
              <a:ext uri="{28A0092B-C50C-407E-A947-70E740481C1C}">
                <a14:useLocalDpi xmlns:a14="http://schemas.microsoft.com/office/drawing/2010/main" val="0"/>
              </a:ext>
            </a:extLst>
          </a:blip>
          <a:stretch>
            <a:fillRect/>
          </a:stretch>
        </p:blipFill>
        <p:spPr>
          <a:xfrm>
            <a:off x="8860376" y="2244883"/>
            <a:ext cx="735591" cy="735591"/>
          </a:xfrm>
          <a:prstGeom prst="rect">
            <a:avLst/>
          </a:prstGeom>
          <a:noFill/>
        </p:spPr>
      </p:pic>
      <p:sp>
        <p:nvSpPr>
          <p:cNvPr id="19" name="CaixaDeTexto 18">
            <a:extLst>
              <a:ext uri="{FF2B5EF4-FFF2-40B4-BE49-F238E27FC236}">
                <a16:creationId xmlns:a16="http://schemas.microsoft.com/office/drawing/2014/main" id="{FBC46606-855E-4313-82A4-4A985BA38232}"/>
              </a:ext>
            </a:extLst>
          </p:cNvPr>
          <p:cNvSpPr txBox="1"/>
          <p:nvPr/>
        </p:nvSpPr>
        <p:spPr>
          <a:xfrm>
            <a:off x="1052420" y="3595924"/>
            <a:ext cx="2433905" cy="2677656"/>
          </a:xfrm>
          <a:prstGeom prst="rect">
            <a:avLst/>
          </a:prstGeom>
          <a:noFill/>
        </p:spPr>
        <p:txBody>
          <a:bodyPr wrap="square" rtlCol="0">
            <a:spAutoFit/>
          </a:bodyPr>
          <a:lstStyle/>
          <a:p>
            <a:pPr marL="342900" indent="-342900">
              <a:buFontTx/>
              <a:buChar char="-"/>
            </a:pPr>
            <a:r>
              <a:rPr lang="pt-BR">
                <a:solidFill>
                  <a:schemeClr val="tx1">
                    <a:lumMod val="65000"/>
                  </a:schemeClr>
                </a:solidFill>
              </a:rPr>
              <a:t>Porcentagem em registro de NFTs</a:t>
            </a:r>
          </a:p>
          <a:p>
            <a:pPr marL="342900" indent="-342900">
              <a:buFontTx/>
              <a:buChar char="-"/>
            </a:pPr>
            <a:endParaRPr lang="pt-BR">
              <a:solidFill>
                <a:schemeClr val="tx1">
                  <a:lumMod val="65000"/>
                </a:schemeClr>
              </a:solidFill>
            </a:endParaRPr>
          </a:p>
          <a:p>
            <a:pPr marL="342900" indent="-342900">
              <a:buFontTx/>
              <a:buChar char="-"/>
            </a:pPr>
            <a:r>
              <a:rPr lang="pt-BR">
                <a:solidFill>
                  <a:schemeClr val="tx1">
                    <a:lumMod val="65000"/>
                  </a:schemeClr>
                </a:solidFill>
              </a:rPr>
              <a:t>Royalties em Vendas</a:t>
            </a:r>
          </a:p>
          <a:p>
            <a:pPr marL="342900" indent="-342900">
              <a:buFontTx/>
              <a:buChar char="-"/>
            </a:pPr>
            <a:endParaRPr lang="pt-BR">
              <a:solidFill>
                <a:schemeClr val="tx1">
                  <a:lumMod val="65000"/>
                </a:schemeClr>
              </a:solidFill>
            </a:endParaRPr>
          </a:p>
          <a:p>
            <a:pPr marL="342900" indent="-342900">
              <a:buFontTx/>
              <a:buChar char="-"/>
            </a:pPr>
            <a:r>
              <a:rPr lang="pt-BR">
                <a:solidFill>
                  <a:schemeClr val="tx1">
                    <a:lumMod val="65000"/>
                  </a:schemeClr>
                </a:solidFill>
              </a:rPr>
              <a:t>Royalties em Revendas</a:t>
            </a:r>
          </a:p>
          <a:p>
            <a:pPr marL="342900" indent="-342900">
              <a:buFontTx/>
              <a:buChar char="-"/>
            </a:pPr>
            <a:endParaRPr lang="pt-BR" sz="2400">
              <a:solidFill>
                <a:schemeClr val="tx1">
                  <a:lumMod val="65000"/>
                </a:schemeClr>
              </a:solidFill>
            </a:endParaRPr>
          </a:p>
        </p:txBody>
      </p:sp>
      <p:sp>
        <p:nvSpPr>
          <p:cNvPr id="20" name="CaixaDeTexto 19">
            <a:extLst>
              <a:ext uri="{FF2B5EF4-FFF2-40B4-BE49-F238E27FC236}">
                <a16:creationId xmlns:a16="http://schemas.microsoft.com/office/drawing/2014/main" id="{9BB3549D-DC4C-4B3B-8108-2BCA0727B9E8}"/>
              </a:ext>
            </a:extLst>
          </p:cNvPr>
          <p:cNvSpPr txBox="1"/>
          <p:nvPr/>
        </p:nvSpPr>
        <p:spPr>
          <a:xfrm>
            <a:off x="4855343" y="3812012"/>
            <a:ext cx="2173159" cy="1846659"/>
          </a:xfrm>
          <a:prstGeom prst="rect">
            <a:avLst/>
          </a:prstGeom>
          <a:noFill/>
        </p:spPr>
        <p:txBody>
          <a:bodyPr wrap="square" rtlCol="0">
            <a:spAutoFit/>
          </a:bodyPr>
          <a:lstStyle/>
          <a:p>
            <a:r>
              <a:rPr lang="pt-BR">
                <a:solidFill>
                  <a:schemeClr val="tx1">
                    <a:lumMod val="65000"/>
                  </a:schemeClr>
                </a:solidFill>
              </a:rPr>
              <a:t>- Com a Venda  de seus NFTs</a:t>
            </a:r>
          </a:p>
          <a:p>
            <a:pPr marL="342900" indent="-342900">
              <a:buFontTx/>
              <a:buChar char="-"/>
            </a:pPr>
            <a:endParaRPr lang="pt-BR">
              <a:solidFill>
                <a:schemeClr val="tx1">
                  <a:lumMod val="65000"/>
                </a:schemeClr>
              </a:solidFill>
            </a:endParaRPr>
          </a:p>
          <a:p>
            <a:r>
              <a:rPr lang="pt-BR">
                <a:solidFill>
                  <a:schemeClr val="tx1">
                    <a:lumMod val="65000"/>
                  </a:schemeClr>
                </a:solidFill>
              </a:rPr>
              <a:t>- Royalties em Revendas</a:t>
            </a:r>
          </a:p>
          <a:p>
            <a:pPr marL="342900" indent="-342900">
              <a:buFontTx/>
              <a:buChar char="-"/>
            </a:pPr>
            <a:endParaRPr lang="pt-BR" sz="2400">
              <a:solidFill>
                <a:schemeClr val="tx1">
                  <a:lumMod val="65000"/>
                </a:schemeClr>
              </a:solidFill>
            </a:endParaRPr>
          </a:p>
        </p:txBody>
      </p:sp>
      <p:sp>
        <p:nvSpPr>
          <p:cNvPr id="22" name="CaixaDeTexto 21">
            <a:extLst>
              <a:ext uri="{FF2B5EF4-FFF2-40B4-BE49-F238E27FC236}">
                <a16:creationId xmlns:a16="http://schemas.microsoft.com/office/drawing/2014/main" id="{529AAC3B-7240-4606-A44D-65ED9D5951F9}"/>
              </a:ext>
            </a:extLst>
          </p:cNvPr>
          <p:cNvSpPr txBox="1"/>
          <p:nvPr/>
        </p:nvSpPr>
        <p:spPr>
          <a:xfrm>
            <a:off x="8251460" y="3678310"/>
            <a:ext cx="2433905" cy="2400657"/>
          </a:xfrm>
          <a:prstGeom prst="rect">
            <a:avLst/>
          </a:prstGeom>
          <a:noFill/>
        </p:spPr>
        <p:txBody>
          <a:bodyPr wrap="square" rtlCol="0">
            <a:spAutoFit/>
          </a:bodyPr>
          <a:lstStyle/>
          <a:p>
            <a:r>
              <a:rPr lang="pt-BR">
                <a:solidFill>
                  <a:schemeClr val="tx1">
                    <a:lumMod val="65000"/>
                  </a:schemeClr>
                </a:solidFill>
              </a:rPr>
              <a:t>- Aquisição de bens de propriedade intelectual – álbuns.</a:t>
            </a:r>
          </a:p>
          <a:p>
            <a:pPr marL="285750" indent="-285750">
              <a:buFontTx/>
              <a:buChar char="-"/>
            </a:pPr>
            <a:endParaRPr lang="pt-BR">
              <a:solidFill>
                <a:schemeClr val="tx1">
                  <a:lumMod val="65000"/>
                </a:schemeClr>
              </a:solidFill>
            </a:endParaRPr>
          </a:p>
          <a:p>
            <a:r>
              <a:rPr lang="pt-BR">
                <a:solidFill>
                  <a:schemeClr val="tx1">
                    <a:lumMod val="65000"/>
                  </a:schemeClr>
                </a:solidFill>
              </a:rPr>
              <a:t>- Possibilidade de Revenda por um valor subjetivo maior.</a:t>
            </a:r>
          </a:p>
          <a:p>
            <a:pPr marL="342900" indent="-342900">
              <a:buFontTx/>
              <a:buChar char="-"/>
            </a:pPr>
            <a:endParaRPr lang="pt-BR" sz="2400">
              <a:solidFill>
                <a:schemeClr val="tx1">
                  <a:lumMod val="65000"/>
                </a:schemeClr>
              </a:solidFill>
            </a:endParaRPr>
          </a:p>
        </p:txBody>
      </p:sp>
      <p:sp>
        <p:nvSpPr>
          <p:cNvPr id="23" name="CaixaDeTexto 22">
            <a:extLst>
              <a:ext uri="{FF2B5EF4-FFF2-40B4-BE49-F238E27FC236}">
                <a16:creationId xmlns:a16="http://schemas.microsoft.com/office/drawing/2014/main" id="{F77D9D25-8840-472F-8824-3D327EBAED7C}"/>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11 de 29</a:t>
            </a:r>
            <a:endParaRPr lang="pt-BR">
              <a:solidFill>
                <a:schemeClr val="tx1">
                  <a:lumMod val="50000"/>
                </a:schemeClr>
              </a:solidFill>
            </a:endParaRPr>
          </a:p>
        </p:txBody>
      </p:sp>
      <p:sp>
        <p:nvSpPr>
          <p:cNvPr id="16" name="CaixaDeTexto 15">
            <a:extLst>
              <a:ext uri="{FF2B5EF4-FFF2-40B4-BE49-F238E27FC236}">
                <a16:creationId xmlns:a16="http://schemas.microsoft.com/office/drawing/2014/main" id="{A2DA2F32-C56A-4562-8EE7-44927C9A52CB}"/>
              </a:ext>
            </a:extLst>
          </p:cNvPr>
          <p:cNvSpPr txBox="1"/>
          <p:nvPr/>
        </p:nvSpPr>
        <p:spPr>
          <a:xfrm>
            <a:off x="421197" y="421417"/>
            <a:ext cx="7279557" cy="707886"/>
          </a:xfrm>
          <a:prstGeom prst="rect">
            <a:avLst/>
          </a:prstGeom>
          <a:noFill/>
        </p:spPr>
        <p:txBody>
          <a:bodyPr wrap="none" rtlCol="0">
            <a:spAutoFit/>
          </a:bodyPr>
          <a:lstStyle/>
          <a:p>
            <a:r>
              <a:rPr lang="pt-BR" sz="4000">
                <a:solidFill>
                  <a:schemeClr val="tx1">
                    <a:lumMod val="50000"/>
                  </a:schemeClr>
                </a:solidFill>
              </a:rPr>
              <a:t>Sumário – Modelo de Negócio</a:t>
            </a:r>
            <a:endParaRPr lang="pt-BR" sz="3200">
              <a:solidFill>
                <a:schemeClr val="tx1">
                  <a:lumMod val="50000"/>
                </a:schemeClr>
              </a:solidFill>
            </a:endParaRPr>
          </a:p>
        </p:txBody>
      </p:sp>
    </p:spTree>
    <p:extLst>
      <p:ext uri="{BB962C8B-B14F-4D97-AF65-F5344CB8AC3E}">
        <p14:creationId xmlns:p14="http://schemas.microsoft.com/office/powerpoint/2010/main" val="4177279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12" name="CaixaDeTexto 11">
            <a:extLst>
              <a:ext uri="{FF2B5EF4-FFF2-40B4-BE49-F238E27FC236}">
                <a16:creationId xmlns:a16="http://schemas.microsoft.com/office/drawing/2014/main" id="{1E1EB991-9F48-4FD8-BCC0-012B95649030}"/>
              </a:ext>
            </a:extLst>
          </p:cNvPr>
          <p:cNvSpPr txBox="1"/>
          <p:nvPr/>
        </p:nvSpPr>
        <p:spPr>
          <a:xfrm>
            <a:off x="793353" y="1485634"/>
            <a:ext cx="1518364" cy="338554"/>
          </a:xfrm>
          <a:prstGeom prst="rect">
            <a:avLst/>
          </a:prstGeom>
          <a:noFill/>
        </p:spPr>
        <p:txBody>
          <a:bodyPr wrap="square" rtlCol="0">
            <a:spAutoFit/>
          </a:bodyPr>
          <a:lstStyle/>
          <a:p>
            <a:r>
              <a:rPr lang="pt-BR" sz="1600">
                <a:solidFill>
                  <a:schemeClr val="tx1">
                    <a:lumMod val="65000"/>
                  </a:schemeClr>
                </a:solidFill>
              </a:rPr>
              <a:t>Músico</a:t>
            </a:r>
          </a:p>
        </p:txBody>
      </p:sp>
      <p:pic>
        <p:nvPicPr>
          <p:cNvPr id="14" name="Imagem 13" descr="Logotipo&#10;&#10;Descrição gerada automaticamente">
            <a:extLst>
              <a:ext uri="{FF2B5EF4-FFF2-40B4-BE49-F238E27FC236}">
                <a16:creationId xmlns:a16="http://schemas.microsoft.com/office/drawing/2014/main" id="{725022B5-7ADD-487D-9612-B7416B43A922}"/>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b="12198"/>
          <a:stretch/>
        </p:blipFill>
        <p:spPr>
          <a:xfrm>
            <a:off x="295405" y="3029474"/>
            <a:ext cx="2081791" cy="1188145"/>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15" name="CaixaDeTexto 14">
            <a:extLst>
              <a:ext uri="{FF2B5EF4-FFF2-40B4-BE49-F238E27FC236}">
                <a16:creationId xmlns:a16="http://schemas.microsoft.com/office/drawing/2014/main" id="{AB863AD1-3147-499E-936E-8976A38784FA}"/>
              </a:ext>
            </a:extLst>
          </p:cNvPr>
          <p:cNvSpPr txBox="1"/>
          <p:nvPr/>
        </p:nvSpPr>
        <p:spPr>
          <a:xfrm>
            <a:off x="710579" y="2923914"/>
            <a:ext cx="2173159" cy="369332"/>
          </a:xfrm>
          <a:prstGeom prst="rect">
            <a:avLst/>
          </a:prstGeom>
          <a:noFill/>
        </p:spPr>
        <p:txBody>
          <a:bodyPr wrap="square" rtlCol="0">
            <a:spAutoFit/>
          </a:bodyPr>
          <a:lstStyle/>
          <a:p>
            <a:r>
              <a:rPr lang="pt-BR">
                <a:solidFill>
                  <a:schemeClr val="tx1">
                    <a:lumMod val="65000"/>
                  </a:schemeClr>
                </a:solidFill>
              </a:rPr>
              <a:t>Plataforma</a:t>
            </a:r>
          </a:p>
        </p:txBody>
      </p:sp>
      <p:pic>
        <p:nvPicPr>
          <p:cNvPr id="29" name="Imagem 28" descr="Imagem em preto e branco&#10;&#10;Descrição gerada automaticamente">
            <a:extLst>
              <a:ext uri="{FF2B5EF4-FFF2-40B4-BE49-F238E27FC236}">
                <a16:creationId xmlns:a16="http://schemas.microsoft.com/office/drawing/2014/main" id="{ACC338F6-D2C1-417F-A9FE-D55FCBAFF0F5}"/>
              </a:ext>
            </a:extLst>
          </p:cNvPr>
          <p:cNvPicPr>
            <a:picLocks noChangeAspect="1"/>
          </p:cNvPicPr>
          <p:nvPr/>
        </p:nvPicPr>
        <p:blipFill>
          <a:blip r:embed="rId3">
            <a:lum bright="70000" contrast="-70000"/>
            <a:alphaModFix amt="35000"/>
            <a:extLst>
              <a:ext uri="{28A0092B-C50C-407E-A947-70E740481C1C}">
                <a14:useLocalDpi xmlns:a14="http://schemas.microsoft.com/office/drawing/2010/main" val="0"/>
              </a:ext>
            </a:extLst>
          </a:blip>
          <a:stretch>
            <a:fillRect/>
          </a:stretch>
        </p:blipFill>
        <p:spPr>
          <a:xfrm>
            <a:off x="919499" y="1929150"/>
            <a:ext cx="567537" cy="567537"/>
          </a:xfrm>
          <a:prstGeom prst="rect">
            <a:avLst/>
          </a:prstGeom>
          <a:noFill/>
        </p:spPr>
      </p:pic>
      <p:pic>
        <p:nvPicPr>
          <p:cNvPr id="3" name="Imagem 2" descr="Placa branca com letras pretas&#10;&#10;Descrição gerada automaticamente">
            <a:extLst>
              <a:ext uri="{FF2B5EF4-FFF2-40B4-BE49-F238E27FC236}">
                <a16:creationId xmlns:a16="http://schemas.microsoft.com/office/drawing/2014/main" id="{352978AB-ABDC-41D6-BE17-7C8335606530}"/>
              </a:ext>
            </a:extLst>
          </p:cNvPr>
          <p:cNvPicPr>
            <a:picLocks noChangeAspect="1"/>
          </p:cNvPicPr>
          <p:nvPr/>
        </p:nvPicPr>
        <p:blipFill>
          <a:blip r:embed="rId4">
            <a:lum bright="70000" contrast="-70000"/>
            <a:alphaModFix amt="35000"/>
            <a:extLst>
              <a:ext uri="{28A0092B-C50C-407E-A947-70E740481C1C}">
                <a14:useLocalDpi xmlns:a14="http://schemas.microsoft.com/office/drawing/2010/main" val="0"/>
              </a:ext>
            </a:extLst>
          </a:blip>
          <a:stretch>
            <a:fillRect/>
          </a:stretch>
        </p:blipFill>
        <p:spPr>
          <a:xfrm>
            <a:off x="1552535" y="4655781"/>
            <a:ext cx="1011850" cy="1011850"/>
          </a:xfrm>
          <a:prstGeom prst="rect">
            <a:avLst/>
          </a:prstGeom>
        </p:spPr>
      </p:pic>
      <p:pic>
        <p:nvPicPr>
          <p:cNvPr id="17" name="Imagem 16" descr="Placa vermelha com letras brancas em fundo preto&#10;&#10;Descrição gerada automaticamente com confiança média">
            <a:extLst>
              <a:ext uri="{FF2B5EF4-FFF2-40B4-BE49-F238E27FC236}">
                <a16:creationId xmlns:a16="http://schemas.microsoft.com/office/drawing/2014/main" id="{538F79B1-5F52-4F72-A739-B94FFAC6E3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4415" y="4593834"/>
            <a:ext cx="932327" cy="932327"/>
          </a:xfrm>
          <a:prstGeom prst="rect">
            <a:avLst/>
          </a:prstGeom>
        </p:spPr>
      </p:pic>
      <p:cxnSp>
        <p:nvCxnSpPr>
          <p:cNvPr id="21" name="Conector de Seta Reta 20">
            <a:extLst>
              <a:ext uri="{FF2B5EF4-FFF2-40B4-BE49-F238E27FC236}">
                <a16:creationId xmlns:a16="http://schemas.microsoft.com/office/drawing/2014/main" id="{59A9E82A-C13B-4366-8FFF-EF20C275AE19}"/>
              </a:ext>
            </a:extLst>
          </p:cNvPr>
          <p:cNvCxnSpPr>
            <a:cxnSpLocks/>
          </p:cNvCxnSpPr>
          <p:nvPr/>
        </p:nvCxnSpPr>
        <p:spPr>
          <a:xfrm>
            <a:off x="1487036" y="3911827"/>
            <a:ext cx="310122" cy="507693"/>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3" name="CaixaDeTexto 22">
            <a:extLst>
              <a:ext uri="{FF2B5EF4-FFF2-40B4-BE49-F238E27FC236}">
                <a16:creationId xmlns:a16="http://schemas.microsoft.com/office/drawing/2014/main" id="{EDA554ED-C46C-4201-9887-AB73EDE7220C}"/>
              </a:ext>
            </a:extLst>
          </p:cNvPr>
          <p:cNvSpPr txBox="1"/>
          <p:nvPr/>
        </p:nvSpPr>
        <p:spPr>
          <a:xfrm>
            <a:off x="2180996" y="4684385"/>
            <a:ext cx="1518364" cy="338554"/>
          </a:xfrm>
          <a:prstGeom prst="rect">
            <a:avLst/>
          </a:prstGeom>
          <a:noFill/>
        </p:spPr>
        <p:txBody>
          <a:bodyPr wrap="square" rtlCol="0">
            <a:spAutoFit/>
          </a:bodyPr>
          <a:lstStyle/>
          <a:p>
            <a:r>
              <a:rPr lang="pt-BR" sz="1600">
                <a:solidFill>
                  <a:schemeClr val="tx1">
                    <a:lumMod val="65000"/>
                  </a:schemeClr>
                </a:solidFill>
              </a:rPr>
              <a:t>NFT</a:t>
            </a:r>
          </a:p>
        </p:txBody>
      </p:sp>
      <p:cxnSp>
        <p:nvCxnSpPr>
          <p:cNvPr id="24" name="Conector de Seta Reta 23">
            <a:extLst>
              <a:ext uri="{FF2B5EF4-FFF2-40B4-BE49-F238E27FC236}">
                <a16:creationId xmlns:a16="http://schemas.microsoft.com/office/drawing/2014/main" id="{D2EE52E7-F83F-4640-91DB-BDB88BCB34C7}"/>
              </a:ext>
            </a:extLst>
          </p:cNvPr>
          <p:cNvCxnSpPr>
            <a:cxnSpLocks/>
            <a:stCxn id="29" idx="2"/>
          </p:cNvCxnSpPr>
          <p:nvPr/>
        </p:nvCxnSpPr>
        <p:spPr>
          <a:xfrm>
            <a:off x="1203268" y="2496687"/>
            <a:ext cx="0" cy="455503"/>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5" name="Conector de Seta Reta 24">
            <a:extLst>
              <a:ext uri="{FF2B5EF4-FFF2-40B4-BE49-F238E27FC236}">
                <a16:creationId xmlns:a16="http://schemas.microsoft.com/office/drawing/2014/main" id="{177AA366-E329-44A1-BAD7-D983024D1D2F}"/>
              </a:ext>
            </a:extLst>
          </p:cNvPr>
          <p:cNvCxnSpPr>
            <a:cxnSpLocks/>
          </p:cNvCxnSpPr>
          <p:nvPr/>
        </p:nvCxnSpPr>
        <p:spPr>
          <a:xfrm flipH="1">
            <a:off x="793354" y="3911827"/>
            <a:ext cx="383388" cy="571396"/>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30" name="CaixaDeTexto 29">
            <a:extLst>
              <a:ext uri="{FF2B5EF4-FFF2-40B4-BE49-F238E27FC236}">
                <a16:creationId xmlns:a16="http://schemas.microsoft.com/office/drawing/2014/main" id="{DBF0BD32-239F-4EF4-BDA6-62D94B67FBE0}"/>
              </a:ext>
            </a:extLst>
          </p:cNvPr>
          <p:cNvSpPr txBox="1"/>
          <p:nvPr/>
        </p:nvSpPr>
        <p:spPr>
          <a:xfrm>
            <a:off x="3765703" y="2458826"/>
            <a:ext cx="7632943" cy="3046988"/>
          </a:xfrm>
          <a:prstGeom prst="rect">
            <a:avLst/>
          </a:prstGeom>
          <a:noFill/>
        </p:spPr>
        <p:txBody>
          <a:bodyPr wrap="square" rtlCol="0">
            <a:spAutoFit/>
          </a:bodyPr>
          <a:lstStyle/>
          <a:p>
            <a:pPr algn="just"/>
            <a:r>
              <a:rPr lang="pt-BR" sz="1600">
                <a:solidFill>
                  <a:schemeClr val="tx1">
                    <a:lumMod val="50000"/>
                  </a:schemeClr>
                </a:solidFill>
              </a:rPr>
              <a:t>- Surgiu como uma ideia de segundo produto para a plataforma durante as entrevistas.</a:t>
            </a:r>
          </a:p>
          <a:p>
            <a:pPr algn="just"/>
            <a:endParaRPr lang="pt-BR" sz="1600">
              <a:solidFill>
                <a:schemeClr val="tx1">
                  <a:lumMod val="50000"/>
                </a:schemeClr>
              </a:solidFill>
            </a:endParaRPr>
          </a:p>
          <a:p>
            <a:pPr algn="just"/>
            <a:r>
              <a:rPr lang="pt-BR" sz="1600">
                <a:solidFill>
                  <a:schemeClr val="tx1">
                    <a:lumMod val="50000"/>
                  </a:schemeClr>
                </a:solidFill>
              </a:rPr>
              <a:t>- Permite a criação de um passe VIP vitalício que o dono-ouvinte pode alugar para alguém interessado no próximo show da banda; cada transação gera royalties para a banda e para a Diskify, fora os ganhos do dono.</a:t>
            </a:r>
          </a:p>
          <a:p>
            <a:pPr algn="just"/>
            <a:endParaRPr lang="pt-BR" sz="1600">
              <a:solidFill>
                <a:schemeClr val="tx1">
                  <a:lumMod val="50000"/>
                </a:schemeClr>
              </a:solidFill>
            </a:endParaRPr>
          </a:p>
          <a:p>
            <a:pPr algn="just"/>
            <a:r>
              <a:rPr lang="pt-BR" sz="1600">
                <a:solidFill>
                  <a:schemeClr val="tx1">
                    <a:lumMod val="50000"/>
                  </a:schemeClr>
                </a:solidFill>
              </a:rPr>
              <a:t>- Permite a  criação de um passe para um show; depois do uso no show, vira um colecionável. Isto aconteceu com passes da Lollapalooza, sendo revendidos pós-uso no Ebay, esse fenômeno se assemelha as obras de Beeple, porém, com uma utilidade no mundo físico.</a:t>
            </a:r>
          </a:p>
          <a:p>
            <a:endParaRPr lang="pt-BR" sz="1600">
              <a:solidFill>
                <a:schemeClr val="tx1">
                  <a:lumMod val="50000"/>
                </a:schemeClr>
              </a:solidFill>
            </a:endParaRPr>
          </a:p>
        </p:txBody>
      </p:sp>
      <p:sp>
        <p:nvSpPr>
          <p:cNvPr id="32" name="CaixaDeTexto 31">
            <a:extLst>
              <a:ext uri="{FF2B5EF4-FFF2-40B4-BE49-F238E27FC236}">
                <a16:creationId xmlns:a16="http://schemas.microsoft.com/office/drawing/2014/main" id="{0CAA13BF-2265-4165-8B00-2214A004F90A}"/>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12 de 29</a:t>
            </a:r>
            <a:endParaRPr lang="pt-BR">
              <a:solidFill>
                <a:schemeClr val="tx1">
                  <a:lumMod val="50000"/>
                </a:schemeClr>
              </a:solidFill>
            </a:endParaRPr>
          </a:p>
        </p:txBody>
      </p:sp>
      <p:sp>
        <p:nvSpPr>
          <p:cNvPr id="18" name="CaixaDeTexto 17">
            <a:extLst>
              <a:ext uri="{FF2B5EF4-FFF2-40B4-BE49-F238E27FC236}">
                <a16:creationId xmlns:a16="http://schemas.microsoft.com/office/drawing/2014/main" id="{56ED8A49-E221-494F-B158-F6BAF0EBC1F0}"/>
              </a:ext>
            </a:extLst>
          </p:cNvPr>
          <p:cNvSpPr txBox="1"/>
          <p:nvPr/>
        </p:nvSpPr>
        <p:spPr>
          <a:xfrm>
            <a:off x="421197" y="421417"/>
            <a:ext cx="9772227" cy="707886"/>
          </a:xfrm>
          <a:prstGeom prst="rect">
            <a:avLst/>
          </a:prstGeom>
          <a:noFill/>
        </p:spPr>
        <p:txBody>
          <a:bodyPr wrap="none" rtlCol="0">
            <a:spAutoFit/>
          </a:bodyPr>
          <a:lstStyle/>
          <a:p>
            <a:r>
              <a:rPr lang="pt-BR" sz="4000">
                <a:solidFill>
                  <a:schemeClr val="tx1">
                    <a:lumMod val="50000"/>
                  </a:schemeClr>
                </a:solidFill>
              </a:rPr>
              <a:t>Sumário – Modelo de Negócio – Pós MVP</a:t>
            </a:r>
            <a:endParaRPr lang="pt-BR" sz="3200">
              <a:solidFill>
                <a:schemeClr val="tx1">
                  <a:lumMod val="50000"/>
                </a:schemeClr>
              </a:solidFill>
            </a:endParaRPr>
          </a:p>
        </p:txBody>
      </p:sp>
    </p:spTree>
    <p:extLst>
      <p:ext uri="{BB962C8B-B14F-4D97-AF65-F5344CB8AC3E}">
        <p14:creationId xmlns:p14="http://schemas.microsoft.com/office/powerpoint/2010/main" val="964741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pic>
        <p:nvPicPr>
          <p:cNvPr id="5" name="Imagem 4">
            <a:extLst>
              <a:ext uri="{FF2B5EF4-FFF2-40B4-BE49-F238E27FC236}">
                <a16:creationId xmlns:a16="http://schemas.microsoft.com/office/drawing/2014/main" id="{A11CA3D5-D93C-4893-BA5A-48EEEED5866D}"/>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109662" y="1221588"/>
            <a:ext cx="9972675" cy="5343011"/>
          </a:xfrm>
          <a:prstGeom prst="rect">
            <a:avLst/>
          </a:prstGeom>
          <a:noFill/>
          <a:ln>
            <a:noFill/>
          </a:ln>
        </p:spPr>
      </p:pic>
      <p:sp>
        <p:nvSpPr>
          <p:cNvPr id="9" name="CaixaDeTexto 8">
            <a:extLst>
              <a:ext uri="{FF2B5EF4-FFF2-40B4-BE49-F238E27FC236}">
                <a16:creationId xmlns:a16="http://schemas.microsoft.com/office/drawing/2014/main" id="{EC6B6FD9-A022-4383-9DFD-62CD6B30010A}"/>
              </a:ext>
            </a:extLst>
          </p:cNvPr>
          <p:cNvSpPr txBox="1"/>
          <p:nvPr/>
        </p:nvSpPr>
        <p:spPr>
          <a:xfrm>
            <a:off x="421197" y="421417"/>
            <a:ext cx="8797601" cy="707886"/>
          </a:xfrm>
          <a:prstGeom prst="rect">
            <a:avLst/>
          </a:prstGeom>
          <a:noFill/>
        </p:spPr>
        <p:txBody>
          <a:bodyPr wrap="none" rtlCol="0">
            <a:spAutoFit/>
          </a:bodyPr>
          <a:lstStyle/>
          <a:p>
            <a:r>
              <a:rPr lang="pt-BR" sz="4000">
                <a:solidFill>
                  <a:schemeClr val="tx1">
                    <a:lumMod val="50000"/>
                  </a:schemeClr>
                </a:solidFill>
              </a:rPr>
              <a:t>Sumário – Plano de Desenvolvimento</a:t>
            </a:r>
            <a:endParaRPr lang="pt-BR" sz="3200">
              <a:solidFill>
                <a:schemeClr val="tx1">
                  <a:lumMod val="50000"/>
                </a:schemeClr>
              </a:solidFill>
            </a:endParaRPr>
          </a:p>
        </p:txBody>
      </p:sp>
      <p:sp>
        <p:nvSpPr>
          <p:cNvPr id="8" name="CaixaDeTexto 7">
            <a:extLst>
              <a:ext uri="{FF2B5EF4-FFF2-40B4-BE49-F238E27FC236}">
                <a16:creationId xmlns:a16="http://schemas.microsoft.com/office/drawing/2014/main" id="{0F51AB4A-514C-4353-8057-BD09DA001E49}"/>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13 de 29</a:t>
            </a:r>
            <a:endParaRPr lang="pt-BR">
              <a:solidFill>
                <a:schemeClr val="tx1">
                  <a:lumMod val="50000"/>
                </a:schemeClr>
              </a:solidFill>
            </a:endParaRPr>
          </a:p>
        </p:txBody>
      </p:sp>
    </p:spTree>
    <p:extLst>
      <p:ext uri="{BB962C8B-B14F-4D97-AF65-F5344CB8AC3E}">
        <p14:creationId xmlns:p14="http://schemas.microsoft.com/office/powerpoint/2010/main" val="36654432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pic>
        <p:nvPicPr>
          <p:cNvPr id="3" name="Imagem 2" descr="Uma imagem contendo Ícone&#10;&#10;Descrição gerada automaticamente">
            <a:extLst>
              <a:ext uri="{FF2B5EF4-FFF2-40B4-BE49-F238E27FC236}">
                <a16:creationId xmlns:a16="http://schemas.microsoft.com/office/drawing/2014/main" id="{199D75E4-1CA5-4D30-83DE-DF106B953599}"/>
              </a:ext>
            </a:extLst>
          </p:cNvPr>
          <p:cNvPicPr>
            <a:picLocks noChangeAspect="1"/>
          </p:cNvPicPr>
          <p:nvPr/>
        </p:nvPicPr>
        <p:blipFill>
          <a:blip r:embed="rId3">
            <a:lum bright="70000" contrast="-70000"/>
            <a:alphaModFix amt="50000"/>
            <a:extLst>
              <a:ext uri="{28A0092B-C50C-407E-A947-70E740481C1C}">
                <a14:useLocalDpi xmlns:a14="http://schemas.microsoft.com/office/drawing/2010/main" val="0"/>
              </a:ext>
            </a:extLst>
          </a:blip>
          <a:stretch>
            <a:fillRect/>
          </a:stretch>
        </p:blipFill>
        <p:spPr>
          <a:xfrm>
            <a:off x="532088" y="1698773"/>
            <a:ext cx="1529919" cy="1529919"/>
          </a:xfrm>
          <a:prstGeom prst="rect">
            <a:avLst/>
          </a:prstGeom>
        </p:spPr>
      </p:pic>
      <p:pic>
        <p:nvPicPr>
          <p:cNvPr id="5" name="Imagem 4" descr="Logotipo, nome da empresa&#10;&#10;Descrição gerada automaticamente">
            <a:extLst>
              <a:ext uri="{FF2B5EF4-FFF2-40B4-BE49-F238E27FC236}">
                <a16:creationId xmlns:a16="http://schemas.microsoft.com/office/drawing/2014/main" id="{EEFA5043-C352-49BD-BBC6-F4965D3C7B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16441" y="1982653"/>
            <a:ext cx="1890922" cy="1107318"/>
          </a:xfrm>
          <a:prstGeom prst="rect">
            <a:avLst/>
          </a:prstGeom>
        </p:spPr>
      </p:pic>
      <p:pic>
        <p:nvPicPr>
          <p:cNvPr id="8" name="Imagem 7" descr="Placa vermelha com letras brancas em fundo preto&#10;&#10;Descrição gerada automaticamente com confiança média">
            <a:extLst>
              <a:ext uri="{FF2B5EF4-FFF2-40B4-BE49-F238E27FC236}">
                <a16:creationId xmlns:a16="http://schemas.microsoft.com/office/drawing/2014/main" id="{AD843596-CE5B-4BDE-A7CF-13930910A3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3012" y="4648826"/>
            <a:ext cx="1308069" cy="1308069"/>
          </a:xfrm>
          <a:prstGeom prst="rect">
            <a:avLst/>
          </a:prstGeom>
        </p:spPr>
      </p:pic>
      <p:pic>
        <p:nvPicPr>
          <p:cNvPr id="9" name="Imagem 8" descr="Diagrama, Texto&#10;&#10;Descrição gerada automaticamente">
            <a:extLst>
              <a:ext uri="{FF2B5EF4-FFF2-40B4-BE49-F238E27FC236}">
                <a16:creationId xmlns:a16="http://schemas.microsoft.com/office/drawing/2014/main" id="{4A95A25A-B8B0-47CA-BC62-5D26287B6E51}"/>
              </a:ext>
            </a:extLst>
          </p:cNvPr>
          <p:cNvPicPr>
            <a:picLocks noChangeAspect="1"/>
          </p:cNvPicPr>
          <p:nvPr/>
        </p:nvPicPr>
        <p:blipFill>
          <a:blip r:embed="rId6">
            <a:lum bright="70000" contrast="-70000"/>
            <a:alphaModFix amt="35000"/>
            <a:extLst>
              <a:ext uri="{28A0092B-C50C-407E-A947-70E740481C1C}">
                <a14:useLocalDpi xmlns:a14="http://schemas.microsoft.com/office/drawing/2010/main" val="0"/>
              </a:ext>
            </a:extLst>
          </a:blip>
          <a:stretch>
            <a:fillRect/>
          </a:stretch>
        </p:blipFill>
        <p:spPr>
          <a:xfrm>
            <a:off x="6489593" y="2412744"/>
            <a:ext cx="1631895" cy="1631895"/>
          </a:xfrm>
          <a:prstGeom prst="rect">
            <a:avLst/>
          </a:prstGeom>
        </p:spPr>
      </p:pic>
      <p:pic>
        <p:nvPicPr>
          <p:cNvPr id="11" name="Imagem 10" descr="Logotipo&#10;&#10;Descrição gerada automaticamente">
            <a:extLst>
              <a:ext uri="{FF2B5EF4-FFF2-40B4-BE49-F238E27FC236}">
                <a16:creationId xmlns:a16="http://schemas.microsoft.com/office/drawing/2014/main" id="{693F960E-697F-473E-AD3D-B37584B0021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110052" y="4124246"/>
            <a:ext cx="1920603" cy="1920603"/>
          </a:xfrm>
          <a:prstGeom prst="rect">
            <a:avLst/>
          </a:prstGeom>
        </p:spPr>
      </p:pic>
      <p:sp>
        <p:nvSpPr>
          <p:cNvPr id="12" name="Retângulo 11">
            <a:extLst>
              <a:ext uri="{FF2B5EF4-FFF2-40B4-BE49-F238E27FC236}">
                <a16:creationId xmlns:a16="http://schemas.microsoft.com/office/drawing/2014/main" id="{616F72C7-54EE-4790-B79E-591978A7951B}"/>
              </a:ext>
            </a:extLst>
          </p:cNvPr>
          <p:cNvSpPr/>
          <p:nvPr/>
        </p:nvSpPr>
        <p:spPr>
          <a:xfrm>
            <a:off x="5927339" y="1910073"/>
            <a:ext cx="45719" cy="4208015"/>
          </a:xfrm>
          <a:prstGeom prst="rect">
            <a:avLst/>
          </a:prstGeom>
          <a:solidFill>
            <a:schemeClr val="bg1">
              <a:lumMod val="65000"/>
              <a:lumOff val="35000"/>
            </a:schemeClr>
          </a:solidFill>
          <a:ln>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6" name="Imagem 15" descr="Forma&#10;&#10;Descrição gerada automaticamente com confiança média">
            <a:extLst>
              <a:ext uri="{FF2B5EF4-FFF2-40B4-BE49-F238E27FC236}">
                <a16:creationId xmlns:a16="http://schemas.microsoft.com/office/drawing/2014/main" id="{BCBDAE79-F741-44AE-980E-BF0F856E5F3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494495" y="4794779"/>
            <a:ext cx="1928159" cy="1284938"/>
          </a:xfrm>
          <a:prstGeom prst="rect">
            <a:avLst/>
          </a:prstGeom>
        </p:spPr>
      </p:pic>
      <p:pic>
        <p:nvPicPr>
          <p:cNvPr id="14" name="Imagem 13" descr="Desenho de uma pessoa&#10;&#10;Descrição gerada automaticamente com confiança média">
            <a:extLst>
              <a:ext uri="{FF2B5EF4-FFF2-40B4-BE49-F238E27FC236}">
                <a16:creationId xmlns:a16="http://schemas.microsoft.com/office/drawing/2014/main" id="{A1C43ACD-2261-4D70-AE16-D0E42188240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936710" y="4274349"/>
            <a:ext cx="1308069" cy="1308069"/>
          </a:xfrm>
          <a:prstGeom prst="rect">
            <a:avLst/>
          </a:prstGeom>
        </p:spPr>
      </p:pic>
      <p:sp>
        <p:nvSpPr>
          <p:cNvPr id="17" name="CaixaDeTexto 16">
            <a:extLst>
              <a:ext uri="{FF2B5EF4-FFF2-40B4-BE49-F238E27FC236}">
                <a16:creationId xmlns:a16="http://schemas.microsoft.com/office/drawing/2014/main" id="{28C983BC-0F7F-47B7-A305-6CB5CAB62CC4}"/>
              </a:ext>
            </a:extLst>
          </p:cNvPr>
          <p:cNvSpPr txBox="1"/>
          <p:nvPr/>
        </p:nvSpPr>
        <p:spPr>
          <a:xfrm>
            <a:off x="421197" y="421417"/>
            <a:ext cx="5332807" cy="707886"/>
          </a:xfrm>
          <a:prstGeom prst="rect">
            <a:avLst/>
          </a:prstGeom>
          <a:noFill/>
        </p:spPr>
        <p:txBody>
          <a:bodyPr wrap="none" rtlCol="0">
            <a:spAutoFit/>
          </a:bodyPr>
          <a:lstStyle/>
          <a:p>
            <a:r>
              <a:rPr lang="pt-BR" sz="4000">
                <a:solidFill>
                  <a:schemeClr val="tx1">
                    <a:lumMod val="50000"/>
                  </a:schemeClr>
                </a:solidFill>
              </a:rPr>
              <a:t>Sumário – Tecnologias</a:t>
            </a:r>
            <a:endParaRPr lang="pt-BR" sz="3200">
              <a:solidFill>
                <a:schemeClr val="tx1">
                  <a:lumMod val="50000"/>
                </a:schemeClr>
              </a:solidFill>
            </a:endParaRPr>
          </a:p>
        </p:txBody>
      </p:sp>
      <p:sp>
        <p:nvSpPr>
          <p:cNvPr id="19" name="Retângulo 18">
            <a:extLst>
              <a:ext uri="{FF2B5EF4-FFF2-40B4-BE49-F238E27FC236}">
                <a16:creationId xmlns:a16="http://schemas.microsoft.com/office/drawing/2014/main" id="{04E037C1-C0F6-4C8E-992C-70D91841B1D9}"/>
              </a:ext>
            </a:extLst>
          </p:cNvPr>
          <p:cNvSpPr/>
          <p:nvPr/>
        </p:nvSpPr>
        <p:spPr>
          <a:xfrm rot="3137953" flipH="1">
            <a:off x="4187538" y="1255652"/>
            <a:ext cx="45719" cy="2598689"/>
          </a:xfrm>
          <a:prstGeom prst="rect">
            <a:avLst/>
          </a:prstGeom>
          <a:solidFill>
            <a:srgbClr val="FF0000"/>
          </a:solidFill>
          <a:ln>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4" name="Conector de Seta Reta 3">
            <a:extLst>
              <a:ext uri="{FF2B5EF4-FFF2-40B4-BE49-F238E27FC236}">
                <a16:creationId xmlns:a16="http://schemas.microsoft.com/office/drawing/2014/main" id="{157C72B4-A1F6-4966-91F5-8B48A8C59E4A}"/>
              </a:ext>
            </a:extLst>
          </p:cNvPr>
          <p:cNvCxnSpPr>
            <a:cxnSpLocks/>
          </p:cNvCxnSpPr>
          <p:nvPr/>
        </p:nvCxnSpPr>
        <p:spPr>
          <a:xfrm>
            <a:off x="2113162" y="2802446"/>
            <a:ext cx="993476" cy="1191205"/>
          </a:xfrm>
          <a:prstGeom prst="straightConnector1">
            <a:avLst/>
          </a:prstGeom>
          <a:ln w="60325">
            <a:headEnd type="none" w="med" len="med"/>
            <a:tailEnd type="arrow" w="med" len="med"/>
          </a:ln>
        </p:spPr>
        <p:style>
          <a:lnRef idx="3">
            <a:schemeClr val="accent1"/>
          </a:lnRef>
          <a:fillRef idx="0">
            <a:schemeClr val="accent1"/>
          </a:fillRef>
          <a:effectRef idx="2">
            <a:schemeClr val="accent1"/>
          </a:effectRef>
          <a:fontRef idx="minor">
            <a:schemeClr val="tx1"/>
          </a:fontRef>
        </p:style>
      </p:cxnSp>
      <p:pic>
        <p:nvPicPr>
          <p:cNvPr id="15" name="Imagem 14" descr="Ícone&#10;&#10;Descrição gerada automaticamente">
            <a:extLst>
              <a:ext uri="{FF2B5EF4-FFF2-40B4-BE49-F238E27FC236}">
                <a16:creationId xmlns:a16="http://schemas.microsoft.com/office/drawing/2014/main" id="{92BC67B7-45B4-4D02-8578-FD12AE56BE7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418434" y="2342797"/>
            <a:ext cx="1691618" cy="1691618"/>
          </a:xfrm>
          <a:prstGeom prst="rect">
            <a:avLst/>
          </a:prstGeom>
        </p:spPr>
      </p:pic>
      <p:pic>
        <p:nvPicPr>
          <p:cNvPr id="27" name="Imagem 26" descr="Logotipo, nome da empresa&#10;&#10;Descrição gerada automaticamente">
            <a:extLst>
              <a:ext uri="{FF2B5EF4-FFF2-40B4-BE49-F238E27FC236}">
                <a16:creationId xmlns:a16="http://schemas.microsoft.com/office/drawing/2014/main" id="{39D0AAD8-2F22-4180-BBBD-906F4DC5416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511753" y="2670117"/>
            <a:ext cx="1117148" cy="1117148"/>
          </a:xfrm>
          <a:prstGeom prst="rect">
            <a:avLst/>
          </a:prstGeom>
        </p:spPr>
      </p:pic>
      <p:pic>
        <p:nvPicPr>
          <p:cNvPr id="29" name="Imagem 28" descr="Desenho de vídeo game&#10;&#10;Descrição gerada automaticamente com confiança média">
            <a:extLst>
              <a:ext uri="{FF2B5EF4-FFF2-40B4-BE49-F238E27FC236}">
                <a16:creationId xmlns:a16="http://schemas.microsoft.com/office/drawing/2014/main" id="{F699D167-12DE-4712-A813-56595E2F27F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690530" y="4326491"/>
            <a:ext cx="3481588" cy="1318784"/>
          </a:xfrm>
          <a:prstGeom prst="rect">
            <a:avLst/>
          </a:prstGeom>
        </p:spPr>
      </p:pic>
      <p:sp>
        <p:nvSpPr>
          <p:cNvPr id="20" name="CaixaDeTexto 19">
            <a:extLst>
              <a:ext uri="{FF2B5EF4-FFF2-40B4-BE49-F238E27FC236}">
                <a16:creationId xmlns:a16="http://schemas.microsoft.com/office/drawing/2014/main" id="{F25F1BEC-7FE1-4168-B5DE-12EA9219158A}"/>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14 de 29</a:t>
            </a:r>
            <a:endParaRPr lang="pt-BR">
              <a:solidFill>
                <a:schemeClr val="tx1">
                  <a:lumMod val="50000"/>
                </a:schemeClr>
              </a:solidFill>
            </a:endParaRPr>
          </a:p>
        </p:txBody>
      </p:sp>
    </p:spTree>
    <p:extLst>
      <p:ext uri="{BB962C8B-B14F-4D97-AF65-F5344CB8AC3E}">
        <p14:creationId xmlns:p14="http://schemas.microsoft.com/office/powerpoint/2010/main" val="21108594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21197" y="421417"/>
            <a:ext cx="7065076" cy="707886"/>
          </a:xfrm>
          <a:prstGeom prst="rect">
            <a:avLst/>
          </a:prstGeom>
          <a:noFill/>
        </p:spPr>
        <p:txBody>
          <a:bodyPr wrap="none" rtlCol="0">
            <a:spAutoFit/>
          </a:bodyPr>
          <a:lstStyle/>
          <a:p>
            <a:r>
              <a:rPr lang="pt-BR" sz="4000">
                <a:solidFill>
                  <a:schemeClr val="tx1">
                    <a:lumMod val="50000"/>
                  </a:schemeClr>
                </a:solidFill>
              </a:rPr>
              <a:t>Outros Modelos de Negócios</a:t>
            </a:r>
            <a:endParaRPr lang="pt-BR" sz="3200">
              <a:solidFill>
                <a:schemeClr val="tx1">
                  <a:lumMod val="50000"/>
                </a:schemeClr>
              </a:solidFill>
            </a:endParaRPr>
          </a:p>
        </p:txBody>
      </p:sp>
      <p:sp>
        <p:nvSpPr>
          <p:cNvPr id="5" name="CaixaDeTexto 4">
            <a:extLst>
              <a:ext uri="{FF2B5EF4-FFF2-40B4-BE49-F238E27FC236}">
                <a16:creationId xmlns:a16="http://schemas.microsoft.com/office/drawing/2014/main" id="{C79A718C-37F5-4F5D-9AF0-5EC2B60DE508}"/>
              </a:ext>
            </a:extLst>
          </p:cNvPr>
          <p:cNvSpPr txBox="1"/>
          <p:nvPr/>
        </p:nvSpPr>
        <p:spPr>
          <a:xfrm>
            <a:off x="1719876" y="1550720"/>
            <a:ext cx="9089571" cy="4524315"/>
          </a:xfrm>
          <a:prstGeom prst="rect">
            <a:avLst/>
          </a:prstGeom>
          <a:noFill/>
        </p:spPr>
        <p:txBody>
          <a:bodyPr wrap="square" rtlCol="0">
            <a:spAutoFit/>
          </a:bodyPr>
          <a:lstStyle/>
          <a:p>
            <a:r>
              <a:rPr lang="pt-BR" sz="3200">
                <a:solidFill>
                  <a:schemeClr val="tx1">
                    <a:lumMod val="65000"/>
                  </a:schemeClr>
                </a:solidFill>
              </a:rPr>
              <a:t>Na parte de negócios, dois protocolos competem com este projeto, são eles: BlueBox e Audius. Ambos estão direcionando o mundo da música a ser recluso e limitado em um ecossistema no qual os músicos não possuem toda a liberdade autoral que a Diskify oferece. Apenas os músicos que são selecionados por músicos nas plataformas podem aderir a esse novo ambiente. </a:t>
            </a:r>
          </a:p>
        </p:txBody>
      </p:sp>
      <p:sp>
        <p:nvSpPr>
          <p:cNvPr id="7" name="CaixaDeTexto 6">
            <a:extLst>
              <a:ext uri="{FF2B5EF4-FFF2-40B4-BE49-F238E27FC236}">
                <a16:creationId xmlns:a16="http://schemas.microsoft.com/office/drawing/2014/main" id="{0A503BF2-F539-47AF-A497-BA7EC4D581BF}"/>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15 de 29</a:t>
            </a:r>
            <a:endParaRPr lang="pt-BR">
              <a:solidFill>
                <a:schemeClr val="tx1">
                  <a:lumMod val="50000"/>
                </a:schemeClr>
              </a:solidFill>
            </a:endParaRPr>
          </a:p>
        </p:txBody>
      </p:sp>
    </p:spTree>
    <p:extLst>
      <p:ext uri="{BB962C8B-B14F-4D97-AF65-F5344CB8AC3E}">
        <p14:creationId xmlns:p14="http://schemas.microsoft.com/office/powerpoint/2010/main" val="21280488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21197" y="421417"/>
            <a:ext cx="7065076" cy="707886"/>
          </a:xfrm>
          <a:prstGeom prst="rect">
            <a:avLst/>
          </a:prstGeom>
          <a:noFill/>
        </p:spPr>
        <p:txBody>
          <a:bodyPr wrap="none" rtlCol="0">
            <a:spAutoFit/>
          </a:bodyPr>
          <a:lstStyle/>
          <a:p>
            <a:r>
              <a:rPr lang="pt-BR" sz="4000">
                <a:solidFill>
                  <a:schemeClr val="tx1">
                    <a:lumMod val="50000"/>
                  </a:schemeClr>
                </a:solidFill>
              </a:rPr>
              <a:t>Outros Modelos de Negócios</a:t>
            </a:r>
            <a:endParaRPr lang="pt-BR" sz="3200">
              <a:solidFill>
                <a:schemeClr val="tx1">
                  <a:lumMod val="50000"/>
                </a:schemeClr>
              </a:solidFill>
            </a:endParaRPr>
          </a:p>
        </p:txBody>
      </p:sp>
      <p:sp>
        <p:nvSpPr>
          <p:cNvPr id="5" name="CaixaDeTexto 4">
            <a:extLst>
              <a:ext uri="{FF2B5EF4-FFF2-40B4-BE49-F238E27FC236}">
                <a16:creationId xmlns:a16="http://schemas.microsoft.com/office/drawing/2014/main" id="{C79A718C-37F5-4F5D-9AF0-5EC2B60DE508}"/>
              </a:ext>
            </a:extLst>
          </p:cNvPr>
          <p:cNvSpPr txBox="1"/>
          <p:nvPr/>
        </p:nvSpPr>
        <p:spPr>
          <a:xfrm>
            <a:off x="1719876" y="1550720"/>
            <a:ext cx="9089571" cy="5016758"/>
          </a:xfrm>
          <a:prstGeom prst="rect">
            <a:avLst/>
          </a:prstGeom>
          <a:noFill/>
        </p:spPr>
        <p:txBody>
          <a:bodyPr wrap="square" rtlCol="0">
            <a:spAutoFit/>
          </a:bodyPr>
          <a:lstStyle/>
          <a:p>
            <a:pPr>
              <a:lnSpc>
                <a:spcPct val="150000"/>
              </a:lnSpc>
            </a:pPr>
            <a:r>
              <a:rPr lang="pt-BR" sz="3200">
                <a:solidFill>
                  <a:schemeClr val="tx1">
                    <a:lumMod val="65000"/>
                  </a:schemeClr>
                </a:solidFill>
              </a:rPr>
              <a:t>Como temos a intenção de não ser um limitador na relação entre as personas, teremos apenas formas de impedir conteúdo de propriedade intelectual de terceiros na plataforma durante a fase de criação dos álbuns em NFT na blockchain.</a:t>
            </a:r>
          </a:p>
          <a:p>
            <a:pPr marL="285750" indent="-285750">
              <a:buFontTx/>
              <a:buChar char="-"/>
            </a:pPr>
            <a:endParaRPr lang="pt-BR" sz="3200">
              <a:solidFill>
                <a:schemeClr val="tx1">
                  <a:lumMod val="65000"/>
                </a:schemeClr>
              </a:solidFill>
            </a:endParaRPr>
          </a:p>
        </p:txBody>
      </p:sp>
      <p:sp>
        <p:nvSpPr>
          <p:cNvPr id="7" name="CaixaDeTexto 6">
            <a:extLst>
              <a:ext uri="{FF2B5EF4-FFF2-40B4-BE49-F238E27FC236}">
                <a16:creationId xmlns:a16="http://schemas.microsoft.com/office/drawing/2014/main" id="{38CDF25E-0D50-41DF-806C-65C233EC3577}"/>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16 de 29</a:t>
            </a:r>
            <a:endParaRPr lang="pt-BR">
              <a:solidFill>
                <a:schemeClr val="tx1">
                  <a:lumMod val="50000"/>
                </a:schemeClr>
              </a:solidFill>
            </a:endParaRPr>
          </a:p>
        </p:txBody>
      </p:sp>
    </p:spTree>
    <p:extLst>
      <p:ext uri="{BB962C8B-B14F-4D97-AF65-F5344CB8AC3E}">
        <p14:creationId xmlns:p14="http://schemas.microsoft.com/office/powerpoint/2010/main" val="4151295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21197" y="421417"/>
            <a:ext cx="7065076" cy="707886"/>
          </a:xfrm>
          <a:prstGeom prst="rect">
            <a:avLst/>
          </a:prstGeom>
          <a:noFill/>
        </p:spPr>
        <p:txBody>
          <a:bodyPr wrap="none" rtlCol="0">
            <a:spAutoFit/>
          </a:bodyPr>
          <a:lstStyle/>
          <a:p>
            <a:r>
              <a:rPr lang="pt-BR" sz="4000">
                <a:solidFill>
                  <a:schemeClr val="tx1">
                    <a:lumMod val="50000"/>
                  </a:schemeClr>
                </a:solidFill>
              </a:rPr>
              <a:t>Outros Modelos de Negócios</a:t>
            </a:r>
            <a:endParaRPr lang="pt-BR" sz="3200">
              <a:solidFill>
                <a:schemeClr val="tx1">
                  <a:lumMod val="50000"/>
                </a:schemeClr>
              </a:solidFill>
            </a:endParaRPr>
          </a:p>
        </p:txBody>
      </p:sp>
      <p:sp>
        <p:nvSpPr>
          <p:cNvPr id="5" name="CaixaDeTexto 4">
            <a:extLst>
              <a:ext uri="{FF2B5EF4-FFF2-40B4-BE49-F238E27FC236}">
                <a16:creationId xmlns:a16="http://schemas.microsoft.com/office/drawing/2014/main" id="{C79A718C-37F5-4F5D-9AF0-5EC2B60DE508}"/>
              </a:ext>
            </a:extLst>
          </p:cNvPr>
          <p:cNvSpPr txBox="1"/>
          <p:nvPr/>
        </p:nvSpPr>
        <p:spPr>
          <a:xfrm>
            <a:off x="1060315" y="1322961"/>
            <a:ext cx="10586936" cy="5190203"/>
          </a:xfrm>
          <a:prstGeom prst="rect">
            <a:avLst/>
          </a:prstGeom>
          <a:noFill/>
        </p:spPr>
        <p:txBody>
          <a:bodyPr wrap="square" rtlCol="0">
            <a:spAutoFit/>
          </a:bodyPr>
          <a:lstStyle/>
          <a:p>
            <a:pPr>
              <a:lnSpc>
                <a:spcPct val="150000"/>
              </a:lnSpc>
            </a:pPr>
            <a:r>
              <a:rPr lang="pt-BR" sz="2800">
                <a:solidFill>
                  <a:schemeClr val="tx1">
                    <a:lumMod val="65000"/>
                  </a:schemeClr>
                </a:solidFill>
              </a:rPr>
              <a:t>Portanto, os custos do modelo de negócio se restringem à fase de criação dos nossos contratos inteligentes na rede e à manutenção da plataforma. Os músicos terão um custo a pagar no processo da criação dos NFTs, e obterão lucro com a venda destes álbuns e, também, com revendas destes álbuns posteriores em royalties – da mesma forma, a Diskify terá uma porcentagem do valor de venda das obras e royalties nas NFTs criadas na plataforma. </a:t>
            </a:r>
            <a:endParaRPr lang="pt-BR" sz="3200">
              <a:solidFill>
                <a:schemeClr val="tx1">
                  <a:lumMod val="65000"/>
                </a:schemeClr>
              </a:solidFill>
            </a:endParaRPr>
          </a:p>
        </p:txBody>
      </p:sp>
      <p:sp>
        <p:nvSpPr>
          <p:cNvPr id="7" name="CaixaDeTexto 6">
            <a:extLst>
              <a:ext uri="{FF2B5EF4-FFF2-40B4-BE49-F238E27FC236}">
                <a16:creationId xmlns:a16="http://schemas.microsoft.com/office/drawing/2014/main" id="{E8BD897A-CB75-4535-A476-008948DDECDA}"/>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17 de 29</a:t>
            </a:r>
            <a:endParaRPr lang="pt-BR">
              <a:solidFill>
                <a:schemeClr val="tx1">
                  <a:lumMod val="50000"/>
                </a:schemeClr>
              </a:solidFill>
            </a:endParaRPr>
          </a:p>
        </p:txBody>
      </p:sp>
    </p:spTree>
    <p:extLst>
      <p:ext uri="{BB962C8B-B14F-4D97-AF65-F5344CB8AC3E}">
        <p14:creationId xmlns:p14="http://schemas.microsoft.com/office/powerpoint/2010/main" val="34660805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21197" y="421417"/>
            <a:ext cx="7065076" cy="707886"/>
          </a:xfrm>
          <a:prstGeom prst="rect">
            <a:avLst/>
          </a:prstGeom>
          <a:noFill/>
        </p:spPr>
        <p:txBody>
          <a:bodyPr wrap="none" rtlCol="0">
            <a:spAutoFit/>
          </a:bodyPr>
          <a:lstStyle/>
          <a:p>
            <a:r>
              <a:rPr lang="pt-BR" sz="4000">
                <a:solidFill>
                  <a:schemeClr val="tx1">
                    <a:lumMod val="50000"/>
                  </a:schemeClr>
                </a:solidFill>
              </a:rPr>
              <a:t>Outros Modelos de Negócios</a:t>
            </a:r>
            <a:endParaRPr lang="pt-BR" sz="3200">
              <a:solidFill>
                <a:schemeClr val="tx1">
                  <a:lumMod val="50000"/>
                </a:schemeClr>
              </a:solidFill>
            </a:endParaRPr>
          </a:p>
        </p:txBody>
      </p:sp>
      <p:sp>
        <p:nvSpPr>
          <p:cNvPr id="5" name="CaixaDeTexto 4">
            <a:extLst>
              <a:ext uri="{FF2B5EF4-FFF2-40B4-BE49-F238E27FC236}">
                <a16:creationId xmlns:a16="http://schemas.microsoft.com/office/drawing/2014/main" id="{C79A718C-37F5-4F5D-9AF0-5EC2B60DE508}"/>
              </a:ext>
            </a:extLst>
          </p:cNvPr>
          <p:cNvSpPr txBox="1"/>
          <p:nvPr/>
        </p:nvSpPr>
        <p:spPr>
          <a:xfrm>
            <a:off x="1070043" y="1643973"/>
            <a:ext cx="10586936" cy="5016758"/>
          </a:xfrm>
          <a:prstGeom prst="rect">
            <a:avLst/>
          </a:prstGeom>
          <a:noFill/>
        </p:spPr>
        <p:txBody>
          <a:bodyPr wrap="square" rtlCol="0">
            <a:spAutoFit/>
          </a:bodyPr>
          <a:lstStyle/>
          <a:p>
            <a:pPr>
              <a:lnSpc>
                <a:spcPct val="150000"/>
              </a:lnSpc>
            </a:pPr>
            <a:r>
              <a:rPr lang="pt-BR" sz="3200">
                <a:solidFill>
                  <a:schemeClr val="tx1">
                    <a:lumMod val="65000"/>
                  </a:schemeClr>
                </a:solidFill>
              </a:rPr>
              <a:t>Estas cobranças serão feitas de forma automática e definida na criação dos contratos inteligentes que representam as NFTs, então, elas o valor acordado nas transações terá um decréscimo dos royalties definidos e estes valores serão direcionadas às carteiras digitais de seus proprietários.</a:t>
            </a:r>
          </a:p>
          <a:p>
            <a:pPr marL="285750" indent="-285750">
              <a:buFontTx/>
              <a:buChar char="-"/>
            </a:pPr>
            <a:endParaRPr lang="pt-BR" sz="3200">
              <a:solidFill>
                <a:schemeClr val="tx1">
                  <a:lumMod val="65000"/>
                </a:schemeClr>
              </a:solidFill>
            </a:endParaRPr>
          </a:p>
        </p:txBody>
      </p:sp>
      <p:sp>
        <p:nvSpPr>
          <p:cNvPr id="7" name="CaixaDeTexto 6">
            <a:extLst>
              <a:ext uri="{FF2B5EF4-FFF2-40B4-BE49-F238E27FC236}">
                <a16:creationId xmlns:a16="http://schemas.microsoft.com/office/drawing/2014/main" id="{01AE59BA-5F00-4110-A4F7-65B08312518F}"/>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18 de 29</a:t>
            </a:r>
            <a:endParaRPr lang="pt-BR">
              <a:solidFill>
                <a:schemeClr val="tx1">
                  <a:lumMod val="50000"/>
                </a:schemeClr>
              </a:solidFill>
            </a:endParaRPr>
          </a:p>
        </p:txBody>
      </p:sp>
    </p:spTree>
    <p:extLst>
      <p:ext uri="{BB962C8B-B14F-4D97-AF65-F5344CB8AC3E}">
        <p14:creationId xmlns:p14="http://schemas.microsoft.com/office/powerpoint/2010/main" val="3700589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21197" y="421417"/>
            <a:ext cx="2058577" cy="707886"/>
          </a:xfrm>
          <a:prstGeom prst="rect">
            <a:avLst/>
          </a:prstGeom>
          <a:noFill/>
        </p:spPr>
        <p:txBody>
          <a:bodyPr wrap="none" rtlCol="0">
            <a:spAutoFit/>
          </a:bodyPr>
          <a:lstStyle/>
          <a:p>
            <a:r>
              <a:rPr lang="pt-BR" sz="4000">
                <a:solidFill>
                  <a:schemeClr val="tx1">
                    <a:lumMod val="50000"/>
                  </a:schemeClr>
                </a:solidFill>
              </a:rPr>
              <a:t>Dúvidas</a:t>
            </a:r>
            <a:endParaRPr lang="pt-BR" sz="3200">
              <a:solidFill>
                <a:schemeClr val="tx1">
                  <a:lumMod val="50000"/>
                </a:schemeClr>
              </a:solidFill>
            </a:endParaRPr>
          </a:p>
        </p:txBody>
      </p:sp>
      <p:pic>
        <p:nvPicPr>
          <p:cNvPr id="3" name="Imagem 2" descr="Interface gráfica do usuário, Aplicativo&#10;&#10;Descrição gerada automaticamente">
            <a:extLst>
              <a:ext uri="{FF2B5EF4-FFF2-40B4-BE49-F238E27FC236}">
                <a16:creationId xmlns:a16="http://schemas.microsoft.com/office/drawing/2014/main" id="{D1FFC990-C028-46CF-9A04-89FB14DA41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01120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21197" y="421417"/>
            <a:ext cx="2058577" cy="707886"/>
          </a:xfrm>
          <a:prstGeom prst="rect">
            <a:avLst/>
          </a:prstGeom>
          <a:noFill/>
        </p:spPr>
        <p:txBody>
          <a:bodyPr wrap="none" rtlCol="0">
            <a:spAutoFit/>
          </a:bodyPr>
          <a:lstStyle/>
          <a:p>
            <a:r>
              <a:rPr lang="pt-BR" sz="4000">
                <a:solidFill>
                  <a:schemeClr val="tx1">
                    <a:lumMod val="50000"/>
                  </a:schemeClr>
                </a:solidFill>
              </a:rPr>
              <a:t>Dúvidas</a:t>
            </a:r>
            <a:endParaRPr lang="pt-BR" sz="3200">
              <a:solidFill>
                <a:schemeClr val="tx1">
                  <a:lumMod val="50000"/>
                </a:schemeClr>
              </a:solidFill>
            </a:endParaRPr>
          </a:p>
        </p:txBody>
      </p:sp>
      <p:pic>
        <p:nvPicPr>
          <p:cNvPr id="3" name="Imagem 2" descr="Tela de computador com texto preto sobre fundo branco&#10;&#10;Descrição gerada automaticamente com confiança média">
            <a:extLst>
              <a:ext uri="{FF2B5EF4-FFF2-40B4-BE49-F238E27FC236}">
                <a16:creationId xmlns:a16="http://schemas.microsoft.com/office/drawing/2014/main" id="{C7E19386-BF62-4377-B970-B7C1276495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575"/>
            <a:ext cx="12192000" cy="6800850"/>
          </a:xfrm>
          <a:prstGeom prst="rect">
            <a:avLst/>
          </a:prstGeom>
        </p:spPr>
      </p:pic>
    </p:spTree>
    <p:extLst>
      <p:ext uri="{BB962C8B-B14F-4D97-AF65-F5344CB8AC3E}">
        <p14:creationId xmlns:p14="http://schemas.microsoft.com/office/powerpoint/2010/main" val="128825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21197" y="421417"/>
            <a:ext cx="2058577" cy="707886"/>
          </a:xfrm>
          <a:prstGeom prst="rect">
            <a:avLst/>
          </a:prstGeom>
          <a:noFill/>
        </p:spPr>
        <p:txBody>
          <a:bodyPr wrap="none" rtlCol="0">
            <a:spAutoFit/>
          </a:bodyPr>
          <a:lstStyle/>
          <a:p>
            <a:r>
              <a:rPr lang="pt-BR" sz="4000">
                <a:solidFill>
                  <a:schemeClr val="tx1">
                    <a:lumMod val="50000"/>
                  </a:schemeClr>
                </a:solidFill>
              </a:rPr>
              <a:t>Dúvidas</a:t>
            </a:r>
            <a:endParaRPr lang="pt-BR" sz="3200">
              <a:solidFill>
                <a:schemeClr val="tx1">
                  <a:lumMod val="50000"/>
                </a:schemeClr>
              </a:solidFill>
            </a:endParaRPr>
          </a:p>
        </p:txBody>
      </p:sp>
      <p:pic>
        <p:nvPicPr>
          <p:cNvPr id="3" name="Imagem 2" descr="Interface gráfica do usuário, Aplicativo&#10;&#10;Descrição gerada automaticamente">
            <a:extLst>
              <a:ext uri="{FF2B5EF4-FFF2-40B4-BE49-F238E27FC236}">
                <a16:creationId xmlns:a16="http://schemas.microsoft.com/office/drawing/2014/main" id="{18C3EA3B-D5D7-47C6-BC7B-A30C0B0E09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5" y="0"/>
            <a:ext cx="12185650" cy="6858000"/>
          </a:xfrm>
          <a:prstGeom prst="rect">
            <a:avLst/>
          </a:prstGeom>
        </p:spPr>
      </p:pic>
    </p:spTree>
    <p:extLst>
      <p:ext uri="{BB962C8B-B14F-4D97-AF65-F5344CB8AC3E}">
        <p14:creationId xmlns:p14="http://schemas.microsoft.com/office/powerpoint/2010/main" val="39858585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21197" y="421417"/>
            <a:ext cx="2058577" cy="707886"/>
          </a:xfrm>
          <a:prstGeom prst="rect">
            <a:avLst/>
          </a:prstGeom>
          <a:noFill/>
        </p:spPr>
        <p:txBody>
          <a:bodyPr wrap="none" rtlCol="0">
            <a:spAutoFit/>
          </a:bodyPr>
          <a:lstStyle/>
          <a:p>
            <a:r>
              <a:rPr lang="pt-BR" sz="4000">
                <a:solidFill>
                  <a:schemeClr val="tx1">
                    <a:lumMod val="50000"/>
                  </a:schemeClr>
                </a:solidFill>
              </a:rPr>
              <a:t>Dúvidas</a:t>
            </a:r>
            <a:endParaRPr lang="pt-BR" sz="3200">
              <a:solidFill>
                <a:schemeClr val="tx1">
                  <a:lumMod val="50000"/>
                </a:schemeClr>
              </a:solidFill>
            </a:endParaRPr>
          </a:p>
        </p:txBody>
      </p:sp>
      <p:pic>
        <p:nvPicPr>
          <p:cNvPr id="3" name="Imagem 2" descr="Interface gráfica do usuário, Texto, Aplicativo, Email&#10;&#10;Descrição gerada automaticamente">
            <a:extLst>
              <a:ext uri="{FF2B5EF4-FFF2-40B4-BE49-F238E27FC236}">
                <a16:creationId xmlns:a16="http://schemas.microsoft.com/office/drawing/2014/main" id="{6E36201B-E555-4C69-BE6B-40A5337D85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706517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21197" y="421417"/>
            <a:ext cx="2058577" cy="707886"/>
          </a:xfrm>
          <a:prstGeom prst="rect">
            <a:avLst/>
          </a:prstGeom>
          <a:noFill/>
        </p:spPr>
        <p:txBody>
          <a:bodyPr wrap="none" rtlCol="0">
            <a:spAutoFit/>
          </a:bodyPr>
          <a:lstStyle/>
          <a:p>
            <a:r>
              <a:rPr lang="pt-BR" sz="4000">
                <a:solidFill>
                  <a:schemeClr val="tx1">
                    <a:lumMod val="50000"/>
                  </a:schemeClr>
                </a:solidFill>
              </a:rPr>
              <a:t>Dúvidas</a:t>
            </a:r>
            <a:endParaRPr lang="pt-BR" sz="3200">
              <a:solidFill>
                <a:schemeClr val="tx1">
                  <a:lumMod val="50000"/>
                </a:schemeClr>
              </a:solidFill>
            </a:endParaRPr>
          </a:p>
        </p:txBody>
      </p:sp>
      <p:pic>
        <p:nvPicPr>
          <p:cNvPr id="5" name="Imagem 4" descr="Texto&#10;&#10;Descrição gerada automaticamente">
            <a:extLst>
              <a:ext uri="{FF2B5EF4-FFF2-40B4-BE49-F238E27FC236}">
                <a16:creationId xmlns:a16="http://schemas.microsoft.com/office/drawing/2014/main" id="{AA4B2E7A-97A8-453B-AA80-6FC9C4C89C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842" y="0"/>
            <a:ext cx="7349783" cy="6804129"/>
          </a:xfrm>
          <a:prstGeom prst="rect">
            <a:avLst/>
          </a:prstGeom>
        </p:spPr>
      </p:pic>
      <p:pic>
        <p:nvPicPr>
          <p:cNvPr id="3" name="Imagem 2" descr="Texto&#10;&#10;Descrição gerada automaticamente">
            <a:extLst>
              <a:ext uri="{FF2B5EF4-FFF2-40B4-BE49-F238E27FC236}">
                <a16:creationId xmlns:a16="http://schemas.microsoft.com/office/drawing/2014/main" id="{38F718BC-3780-4C43-961E-1725578D39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05869" y="0"/>
            <a:ext cx="4986131" cy="6858000"/>
          </a:xfrm>
          <a:prstGeom prst="rect">
            <a:avLst/>
          </a:prstGeom>
        </p:spPr>
      </p:pic>
    </p:spTree>
    <p:extLst>
      <p:ext uri="{BB962C8B-B14F-4D97-AF65-F5344CB8AC3E}">
        <p14:creationId xmlns:p14="http://schemas.microsoft.com/office/powerpoint/2010/main" val="2499360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21197" y="421417"/>
            <a:ext cx="1786643" cy="584775"/>
          </a:xfrm>
          <a:prstGeom prst="rect">
            <a:avLst/>
          </a:prstGeom>
          <a:noFill/>
        </p:spPr>
        <p:txBody>
          <a:bodyPr wrap="none" rtlCol="0">
            <a:spAutoFit/>
          </a:bodyPr>
          <a:lstStyle/>
          <a:p>
            <a:r>
              <a:rPr lang="pt-BR" sz="3200">
                <a:solidFill>
                  <a:schemeClr val="tx1">
                    <a:lumMod val="50000"/>
                  </a:schemeClr>
                </a:solidFill>
              </a:rPr>
              <a:t>Backend</a:t>
            </a:r>
          </a:p>
        </p:txBody>
      </p:sp>
      <p:pic>
        <p:nvPicPr>
          <p:cNvPr id="4" name="Imagem 3" descr="Texto&#10;&#10;Descrição gerada automaticamente">
            <a:extLst>
              <a:ext uri="{FF2B5EF4-FFF2-40B4-BE49-F238E27FC236}">
                <a16:creationId xmlns:a16="http://schemas.microsoft.com/office/drawing/2014/main" id="{150CF295-7C67-4B14-84E0-EC0706270E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955" y="2059634"/>
            <a:ext cx="5597490" cy="4467626"/>
          </a:xfrm>
          <a:prstGeom prst="rect">
            <a:avLst/>
          </a:prstGeom>
        </p:spPr>
      </p:pic>
      <p:pic>
        <p:nvPicPr>
          <p:cNvPr id="3" name="Imagem 2" descr="Texto&#10;&#10;Descrição gerada automaticamente">
            <a:extLst>
              <a:ext uri="{FF2B5EF4-FFF2-40B4-BE49-F238E27FC236}">
                <a16:creationId xmlns:a16="http://schemas.microsoft.com/office/drawing/2014/main" id="{A886B61D-6D0A-4E7A-9EBD-EAE20B1665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94560" y="456942"/>
            <a:ext cx="4602879" cy="2972058"/>
          </a:xfrm>
          <a:prstGeom prst="rect">
            <a:avLst/>
          </a:prstGeom>
        </p:spPr>
      </p:pic>
      <p:pic>
        <p:nvPicPr>
          <p:cNvPr id="7" name="Imagem 6" descr="Texto&#10;&#10;Descrição gerada automaticamente">
            <a:extLst>
              <a:ext uri="{FF2B5EF4-FFF2-40B4-BE49-F238E27FC236}">
                <a16:creationId xmlns:a16="http://schemas.microsoft.com/office/drawing/2014/main" id="{1BEFE944-CBDC-4F82-A953-3842891314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05666" y="1611027"/>
            <a:ext cx="3756986" cy="4640982"/>
          </a:xfrm>
          <a:prstGeom prst="rect">
            <a:avLst/>
          </a:prstGeom>
        </p:spPr>
      </p:pic>
      <p:sp>
        <p:nvSpPr>
          <p:cNvPr id="8" name="CaixaDeTexto 7">
            <a:extLst>
              <a:ext uri="{FF2B5EF4-FFF2-40B4-BE49-F238E27FC236}">
                <a16:creationId xmlns:a16="http://schemas.microsoft.com/office/drawing/2014/main" id="{620DDD18-BAF6-4D15-8F3A-DE4B996FFB64}"/>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24 de 29</a:t>
            </a:r>
            <a:endParaRPr lang="pt-BR">
              <a:solidFill>
                <a:schemeClr val="tx1">
                  <a:lumMod val="50000"/>
                </a:schemeClr>
              </a:solidFill>
            </a:endParaRPr>
          </a:p>
        </p:txBody>
      </p:sp>
    </p:spTree>
    <p:extLst>
      <p:ext uri="{BB962C8B-B14F-4D97-AF65-F5344CB8AC3E}">
        <p14:creationId xmlns:p14="http://schemas.microsoft.com/office/powerpoint/2010/main" val="5125492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21197" y="421417"/>
            <a:ext cx="2434577" cy="707886"/>
          </a:xfrm>
          <a:prstGeom prst="rect">
            <a:avLst/>
          </a:prstGeom>
          <a:noFill/>
        </p:spPr>
        <p:txBody>
          <a:bodyPr wrap="none" rtlCol="0">
            <a:spAutoFit/>
          </a:bodyPr>
          <a:lstStyle/>
          <a:p>
            <a:r>
              <a:rPr lang="pt-BR" sz="4000">
                <a:solidFill>
                  <a:schemeClr val="tx1">
                    <a:lumMod val="50000"/>
                  </a:schemeClr>
                </a:solidFill>
              </a:rPr>
              <a:t>Validação</a:t>
            </a:r>
            <a:endParaRPr lang="pt-BR" sz="3200">
              <a:solidFill>
                <a:schemeClr val="tx1">
                  <a:lumMod val="50000"/>
                </a:schemeClr>
              </a:solidFill>
            </a:endParaRPr>
          </a:p>
        </p:txBody>
      </p:sp>
      <p:sp>
        <p:nvSpPr>
          <p:cNvPr id="4" name="CaixaDeTexto 3">
            <a:extLst>
              <a:ext uri="{FF2B5EF4-FFF2-40B4-BE49-F238E27FC236}">
                <a16:creationId xmlns:a16="http://schemas.microsoft.com/office/drawing/2014/main" id="{89A7344E-C346-4FEE-9994-312D63E57C28}"/>
              </a:ext>
            </a:extLst>
          </p:cNvPr>
          <p:cNvSpPr txBox="1"/>
          <p:nvPr/>
        </p:nvSpPr>
        <p:spPr>
          <a:xfrm>
            <a:off x="1063691" y="1959429"/>
            <a:ext cx="10655558" cy="3046988"/>
          </a:xfrm>
          <a:prstGeom prst="rect">
            <a:avLst/>
          </a:prstGeom>
          <a:noFill/>
        </p:spPr>
        <p:txBody>
          <a:bodyPr wrap="square" rtlCol="0">
            <a:spAutoFit/>
          </a:bodyPr>
          <a:lstStyle/>
          <a:p>
            <a:r>
              <a:rPr lang="pt-BR" sz="3200">
                <a:solidFill>
                  <a:schemeClr val="tx1">
                    <a:lumMod val="65000"/>
                  </a:schemeClr>
                </a:solidFill>
              </a:rPr>
              <a:t>- Contratos inteligentes voltados a manter um registro de transações feitas e à criação das NFTs em específico. </a:t>
            </a:r>
          </a:p>
          <a:p>
            <a:endParaRPr lang="pt-BR" sz="3200">
              <a:solidFill>
                <a:schemeClr val="tx1">
                  <a:lumMod val="65000"/>
                </a:schemeClr>
              </a:solidFill>
            </a:endParaRPr>
          </a:p>
          <a:p>
            <a:r>
              <a:rPr lang="pt-BR" sz="3200">
                <a:solidFill>
                  <a:schemeClr val="tx1">
                    <a:lumMod val="65000"/>
                  </a:schemeClr>
                </a:solidFill>
              </a:rPr>
              <a:t>- O hardware utilizado será o poder de processamento direcionado a rede Ethereum e serviços de hosting da plataforma.</a:t>
            </a:r>
          </a:p>
        </p:txBody>
      </p:sp>
      <p:sp>
        <p:nvSpPr>
          <p:cNvPr id="5" name="CaixaDeTexto 4">
            <a:extLst>
              <a:ext uri="{FF2B5EF4-FFF2-40B4-BE49-F238E27FC236}">
                <a16:creationId xmlns:a16="http://schemas.microsoft.com/office/drawing/2014/main" id="{4815B38E-F80E-4359-A96E-5A1FB69CEC83}"/>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25 de 29</a:t>
            </a:r>
            <a:endParaRPr lang="pt-BR">
              <a:solidFill>
                <a:schemeClr val="tx1">
                  <a:lumMod val="50000"/>
                </a:schemeClr>
              </a:solidFill>
            </a:endParaRPr>
          </a:p>
        </p:txBody>
      </p:sp>
    </p:spTree>
    <p:extLst>
      <p:ext uri="{BB962C8B-B14F-4D97-AF65-F5344CB8AC3E}">
        <p14:creationId xmlns:p14="http://schemas.microsoft.com/office/powerpoint/2010/main" val="19012030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21197" y="421417"/>
            <a:ext cx="2434577" cy="707886"/>
          </a:xfrm>
          <a:prstGeom prst="rect">
            <a:avLst/>
          </a:prstGeom>
          <a:noFill/>
        </p:spPr>
        <p:txBody>
          <a:bodyPr wrap="none" rtlCol="0">
            <a:spAutoFit/>
          </a:bodyPr>
          <a:lstStyle/>
          <a:p>
            <a:r>
              <a:rPr lang="pt-BR" sz="4000">
                <a:solidFill>
                  <a:schemeClr val="tx1">
                    <a:lumMod val="50000"/>
                  </a:schemeClr>
                </a:solidFill>
              </a:rPr>
              <a:t>Validação</a:t>
            </a:r>
            <a:endParaRPr lang="pt-BR" sz="3200">
              <a:solidFill>
                <a:schemeClr val="tx1">
                  <a:lumMod val="50000"/>
                </a:schemeClr>
              </a:solidFill>
            </a:endParaRPr>
          </a:p>
        </p:txBody>
      </p:sp>
      <p:sp>
        <p:nvSpPr>
          <p:cNvPr id="4" name="CaixaDeTexto 3">
            <a:extLst>
              <a:ext uri="{FF2B5EF4-FFF2-40B4-BE49-F238E27FC236}">
                <a16:creationId xmlns:a16="http://schemas.microsoft.com/office/drawing/2014/main" id="{89A7344E-C346-4FEE-9994-312D63E57C28}"/>
              </a:ext>
            </a:extLst>
          </p:cNvPr>
          <p:cNvSpPr txBox="1"/>
          <p:nvPr/>
        </p:nvSpPr>
        <p:spPr>
          <a:xfrm>
            <a:off x="1063691" y="1959429"/>
            <a:ext cx="10655558" cy="4031873"/>
          </a:xfrm>
          <a:prstGeom prst="rect">
            <a:avLst/>
          </a:prstGeom>
          <a:noFill/>
        </p:spPr>
        <p:txBody>
          <a:bodyPr wrap="square" rtlCol="0">
            <a:spAutoFit/>
          </a:bodyPr>
          <a:lstStyle/>
          <a:p>
            <a:r>
              <a:rPr lang="pt-BR" sz="3200">
                <a:solidFill>
                  <a:schemeClr val="tx1">
                    <a:lumMod val="65000"/>
                  </a:schemeClr>
                </a:solidFill>
              </a:rPr>
              <a:t>- O software do projeto é código autoral e inclui linguagens como: Solidity (desenvolvimento dos contratos); linguagens de front-end (HTML, CSS, JavaScript); ambientes de execução (Node.js). Ferramentas para automação das validações e visualização do fluxo na plataforma podem ser adicionadas ao projeto a posteriori e possivelmente serão desenvolvidas em python.</a:t>
            </a:r>
          </a:p>
        </p:txBody>
      </p:sp>
      <p:sp>
        <p:nvSpPr>
          <p:cNvPr id="5" name="CaixaDeTexto 4">
            <a:extLst>
              <a:ext uri="{FF2B5EF4-FFF2-40B4-BE49-F238E27FC236}">
                <a16:creationId xmlns:a16="http://schemas.microsoft.com/office/drawing/2014/main" id="{5314D069-5D96-47B0-9631-67CFC8899DED}"/>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26 de 29</a:t>
            </a:r>
            <a:endParaRPr lang="pt-BR">
              <a:solidFill>
                <a:schemeClr val="tx1">
                  <a:lumMod val="50000"/>
                </a:schemeClr>
              </a:solidFill>
            </a:endParaRPr>
          </a:p>
        </p:txBody>
      </p:sp>
    </p:spTree>
    <p:extLst>
      <p:ext uri="{BB962C8B-B14F-4D97-AF65-F5344CB8AC3E}">
        <p14:creationId xmlns:p14="http://schemas.microsoft.com/office/powerpoint/2010/main" val="10516441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21197" y="421417"/>
            <a:ext cx="2434577" cy="707886"/>
          </a:xfrm>
          <a:prstGeom prst="rect">
            <a:avLst/>
          </a:prstGeom>
          <a:noFill/>
        </p:spPr>
        <p:txBody>
          <a:bodyPr wrap="none" rtlCol="0">
            <a:spAutoFit/>
          </a:bodyPr>
          <a:lstStyle/>
          <a:p>
            <a:r>
              <a:rPr lang="pt-BR" sz="4000">
                <a:solidFill>
                  <a:schemeClr val="tx1">
                    <a:lumMod val="50000"/>
                  </a:schemeClr>
                </a:solidFill>
              </a:rPr>
              <a:t>Validação</a:t>
            </a:r>
            <a:endParaRPr lang="pt-BR" sz="3200">
              <a:solidFill>
                <a:schemeClr val="tx1">
                  <a:lumMod val="50000"/>
                </a:schemeClr>
              </a:solidFill>
            </a:endParaRPr>
          </a:p>
        </p:txBody>
      </p:sp>
      <p:sp>
        <p:nvSpPr>
          <p:cNvPr id="4" name="CaixaDeTexto 3">
            <a:extLst>
              <a:ext uri="{FF2B5EF4-FFF2-40B4-BE49-F238E27FC236}">
                <a16:creationId xmlns:a16="http://schemas.microsoft.com/office/drawing/2014/main" id="{89A7344E-C346-4FEE-9994-312D63E57C28}"/>
              </a:ext>
            </a:extLst>
          </p:cNvPr>
          <p:cNvSpPr txBox="1"/>
          <p:nvPr/>
        </p:nvSpPr>
        <p:spPr>
          <a:xfrm>
            <a:off x="1063691" y="1959429"/>
            <a:ext cx="10655558" cy="3539430"/>
          </a:xfrm>
          <a:prstGeom prst="rect">
            <a:avLst/>
          </a:prstGeom>
          <a:noFill/>
        </p:spPr>
        <p:txBody>
          <a:bodyPr wrap="square" rtlCol="0">
            <a:spAutoFit/>
          </a:bodyPr>
          <a:lstStyle/>
          <a:p>
            <a:r>
              <a:rPr lang="pt-BR" sz="3200">
                <a:solidFill>
                  <a:schemeClr val="tx1">
                    <a:lumMod val="65000"/>
                  </a:schemeClr>
                </a:solidFill>
              </a:rPr>
              <a:t>- No que tange a recursos humanos, será apenas uma pequena equipe para checagem e validação das NFTS para possam ser comercializadas na plataforma.</a:t>
            </a:r>
          </a:p>
          <a:p>
            <a:endParaRPr lang="pt-BR" sz="3200">
              <a:solidFill>
                <a:schemeClr val="tx1">
                  <a:lumMod val="65000"/>
                </a:schemeClr>
              </a:solidFill>
            </a:endParaRPr>
          </a:p>
          <a:p>
            <a:r>
              <a:rPr lang="pt-BR" sz="3200">
                <a:solidFill>
                  <a:schemeClr val="tx1">
                    <a:lumMod val="65000"/>
                  </a:schemeClr>
                </a:solidFill>
              </a:rPr>
              <a:t>- As condições para iniciar a validação do projeto se limita à finalização do software e ao processo de colocá-lo online (configurações de ambiente e servidores).</a:t>
            </a:r>
          </a:p>
        </p:txBody>
      </p:sp>
      <p:sp>
        <p:nvSpPr>
          <p:cNvPr id="5" name="CaixaDeTexto 4">
            <a:extLst>
              <a:ext uri="{FF2B5EF4-FFF2-40B4-BE49-F238E27FC236}">
                <a16:creationId xmlns:a16="http://schemas.microsoft.com/office/drawing/2014/main" id="{0C5B1569-7C74-4FEE-98F1-2A1C0428CA9C}"/>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27 de 29</a:t>
            </a:r>
            <a:endParaRPr lang="pt-BR">
              <a:solidFill>
                <a:schemeClr val="tx1">
                  <a:lumMod val="50000"/>
                </a:schemeClr>
              </a:solidFill>
            </a:endParaRPr>
          </a:p>
        </p:txBody>
      </p:sp>
    </p:spTree>
    <p:extLst>
      <p:ext uri="{BB962C8B-B14F-4D97-AF65-F5344CB8AC3E}">
        <p14:creationId xmlns:p14="http://schemas.microsoft.com/office/powerpoint/2010/main" val="17603740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21197" y="421417"/>
            <a:ext cx="2434577" cy="707886"/>
          </a:xfrm>
          <a:prstGeom prst="rect">
            <a:avLst/>
          </a:prstGeom>
          <a:noFill/>
        </p:spPr>
        <p:txBody>
          <a:bodyPr wrap="none" rtlCol="0">
            <a:spAutoFit/>
          </a:bodyPr>
          <a:lstStyle/>
          <a:p>
            <a:r>
              <a:rPr lang="pt-BR" sz="4000">
                <a:solidFill>
                  <a:schemeClr val="tx1">
                    <a:lumMod val="50000"/>
                  </a:schemeClr>
                </a:solidFill>
              </a:rPr>
              <a:t>Validação</a:t>
            </a:r>
            <a:endParaRPr lang="pt-BR" sz="3200">
              <a:solidFill>
                <a:schemeClr val="tx1">
                  <a:lumMod val="50000"/>
                </a:schemeClr>
              </a:solidFill>
            </a:endParaRPr>
          </a:p>
        </p:txBody>
      </p:sp>
      <p:sp>
        <p:nvSpPr>
          <p:cNvPr id="4" name="CaixaDeTexto 3">
            <a:extLst>
              <a:ext uri="{FF2B5EF4-FFF2-40B4-BE49-F238E27FC236}">
                <a16:creationId xmlns:a16="http://schemas.microsoft.com/office/drawing/2014/main" id="{89A7344E-C346-4FEE-9994-312D63E57C28}"/>
              </a:ext>
            </a:extLst>
          </p:cNvPr>
          <p:cNvSpPr txBox="1"/>
          <p:nvPr/>
        </p:nvSpPr>
        <p:spPr>
          <a:xfrm>
            <a:off x="1101013" y="1343609"/>
            <a:ext cx="10655558" cy="5016758"/>
          </a:xfrm>
          <a:prstGeom prst="rect">
            <a:avLst/>
          </a:prstGeom>
          <a:noFill/>
        </p:spPr>
        <p:txBody>
          <a:bodyPr wrap="square" rtlCol="0">
            <a:spAutoFit/>
          </a:bodyPr>
          <a:lstStyle/>
          <a:p>
            <a:r>
              <a:rPr lang="pt-BR" sz="3200">
                <a:solidFill>
                  <a:schemeClr val="tx1">
                    <a:lumMod val="65000"/>
                  </a:schemeClr>
                </a:solidFill>
              </a:rPr>
              <a:t>- Os procedimentos relacionados à validação ocorreram com a adoção da plataforma pela comunidade de usuários de DeFi, NFTs e blockchain. O marketing será feito de forma holística: com convencimento e conhecimento desses usuários.</a:t>
            </a:r>
          </a:p>
          <a:p>
            <a:endParaRPr lang="pt-BR" sz="3200">
              <a:solidFill>
                <a:schemeClr val="tx1">
                  <a:lumMod val="65000"/>
                </a:schemeClr>
              </a:solidFill>
            </a:endParaRPr>
          </a:p>
          <a:p>
            <a:r>
              <a:rPr lang="pt-BR" sz="3200">
                <a:solidFill>
                  <a:schemeClr val="tx1">
                    <a:lumMod val="65000"/>
                  </a:schemeClr>
                </a:solidFill>
              </a:rPr>
              <a:t>- A análise dos resultados será registrada em um contrato que apontará informações gerais da plataforma. Para que ele ocorra, haverá adoção de novos músicos e fãs à plataforma.</a:t>
            </a:r>
          </a:p>
        </p:txBody>
      </p:sp>
      <p:sp>
        <p:nvSpPr>
          <p:cNvPr id="5" name="CaixaDeTexto 4">
            <a:extLst>
              <a:ext uri="{FF2B5EF4-FFF2-40B4-BE49-F238E27FC236}">
                <a16:creationId xmlns:a16="http://schemas.microsoft.com/office/drawing/2014/main" id="{31FD100C-74A0-451F-B494-30AF46A04110}"/>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28 de 29</a:t>
            </a:r>
            <a:endParaRPr lang="pt-BR">
              <a:solidFill>
                <a:schemeClr val="tx1">
                  <a:lumMod val="50000"/>
                </a:schemeClr>
              </a:solidFill>
            </a:endParaRPr>
          </a:p>
        </p:txBody>
      </p:sp>
    </p:spTree>
    <p:extLst>
      <p:ext uri="{BB962C8B-B14F-4D97-AF65-F5344CB8AC3E}">
        <p14:creationId xmlns:p14="http://schemas.microsoft.com/office/powerpoint/2010/main" val="9655142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21197" y="421417"/>
            <a:ext cx="2841291" cy="707886"/>
          </a:xfrm>
          <a:prstGeom prst="rect">
            <a:avLst/>
          </a:prstGeom>
          <a:noFill/>
        </p:spPr>
        <p:txBody>
          <a:bodyPr wrap="none" rtlCol="0">
            <a:spAutoFit/>
          </a:bodyPr>
          <a:lstStyle/>
          <a:p>
            <a:r>
              <a:rPr lang="pt-BR" sz="4000">
                <a:solidFill>
                  <a:schemeClr val="tx1">
                    <a:lumMod val="50000"/>
                  </a:schemeClr>
                </a:solidFill>
              </a:rPr>
              <a:t>Referências</a:t>
            </a:r>
            <a:endParaRPr lang="pt-BR" sz="3200">
              <a:solidFill>
                <a:schemeClr val="tx1">
                  <a:lumMod val="50000"/>
                </a:schemeClr>
              </a:solidFill>
            </a:endParaRPr>
          </a:p>
        </p:txBody>
      </p:sp>
      <p:sp>
        <p:nvSpPr>
          <p:cNvPr id="5" name="CaixaDeTexto 4">
            <a:extLst>
              <a:ext uri="{FF2B5EF4-FFF2-40B4-BE49-F238E27FC236}">
                <a16:creationId xmlns:a16="http://schemas.microsoft.com/office/drawing/2014/main" id="{C4516E53-E5EF-4028-A346-3AD5A3233886}"/>
              </a:ext>
            </a:extLst>
          </p:cNvPr>
          <p:cNvSpPr txBox="1"/>
          <p:nvPr/>
        </p:nvSpPr>
        <p:spPr>
          <a:xfrm>
            <a:off x="869301" y="1135308"/>
            <a:ext cx="10107720" cy="5509200"/>
          </a:xfrm>
          <a:prstGeom prst="rect">
            <a:avLst/>
          </a:prstGeom>
          <a:noFill/>
        </p:spPr>
        <p:txBody>
          <a:bodyPr wrap="square" rtlCol="0">
            <a:spAutoFit/>
          </a:bodyPr>
          <a:lstStyle/>
          <a:p>
            <a:pPr algn="just">
              <a:spcAft>
                <a:spcPts val="1200"/>
              </a:spcAft>
            </a:pPr>
            <a:r>
              <a:rPr lang="pt-BR" sz="105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COINMARKETCAP -  Today's Cryptocurrency Prices by Market Cap (Preço de Criptoativos Hoje por Valor de Mercado). </a:t>
            </a:r>
            <a:r>
              <a:rPr lang="en-US" sz="105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Disponível em: &lt;https://coinmarketcap.com/&gt;. Acesso em 20 abr. 2021. </a:t>
            </a:r>
            <a:endParaRPr lang="pt-BR" sz="105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spcAft>
                <a:spcPts val="1200"/>
              </a:spcAft>
            </a:pPr>
            <a:r>
              <a:rPr lang="en-US" sz="105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DAVIS, B. I Looked Through All 5,000 Images in Beeple’s $69 Million Magnum Opus. </a:t>
            </a:r>
            <a:r>
              <a:rPr lang="pt-BR" sz="105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What I Found Isn’t So Pretty. (Eu observei Todas as 5000 Imagens de Beeple na sua Grande Obra de 69 milhões. O que Eu Encontrei não é tão Agradável.), março 2021. Disponível em: &lt;https://news.artnet.com/opinion/beeple-everydays-review-1951656&gt;. Acesso em 20 abr. 2021.</a:t>
            </a:r>
          </a:p>
          <a:p>
            <a:pPr algn="just">
              <a:spcAft>
                <a:spcPts val="1200"/>
              </a:spcAft>
            </a:pPr>
            <a:r>
              <a:rPr lang="pt-BR" sz="105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HERTIG, A. What Is DeFi? (O que é DeFi?), setembro 2020. Disponível em: &lt;https://www.coindesk.com/what-is-defi&gt;. Acesso em 20 abr. 2021.</a:t>
            </a:r>
          </a:p>
          <a:p>
            <a:pPr algn="just">
              <a:spcAft>
                <a:spcPts val="1200"/>
              </a:spcAft>
            </a:pPr>
            <a:r>
              <a:rPr lang="pt-BR" sz="105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HOLMES, F. 10 Países com as Maiores Reservas de Ouro, julho 2018. Disponível em: &lt;https://forbes.com.br/listas/2018/07/10-paises-com-as-maiores-reservas-de-ouro/&gt;. </a:t>
            </a:r>
            <a:r>
              <a:rPr lang="en-US" sz="105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Acesso em 20 abr. 2021.</a:t>
            </a:r>
            <a:endParaRPr lang="pt-BR" sz="105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spcAft>
                <a:spcPts val="1200"/>
              </a:spcAft>
            </a:pPr>
            <a:r>
              <a:rPr lang="en-US" sz="105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GOODWIN, J. What is an NFT? Non-fungible Tokens Explained (O que é uma NFT? </a:t>
            </a:r>
            <a:r>
              <a:rPr lang="pt-BR" sz="105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Tokens não-fungíveis explicados), março 2021. Disponível em: &lt;https://edition.cnn.com/2021/03/17/business/what-is-nft-meaning-fe-series/index.html&gt;. Acesso em 20 abr. 2021.</a:t>
            </a:r>
          </a:p>
          <a:p>
            <a:pPr algn="just">
              <a:spcAft>
                <a:spcPts val="1200"/>
              </a:spcAft>
            </a:pPr>
            <a:r>
              <a:rPr lang="pt-BR" sz="105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NAPOLETANO, E.; SCHMIDT, J. Decentralized Finance Is Building A New Financial System (Finanças Decentralizadas São a Formação de um Novo Sistema Financeiro), abril 2021. Disponível em: &lt;https://www.forbes.com/advisor/investing/defi-decentralized-finance/&gt;. Acesso em 20 abr. 2021.</a:t>
            </a:r>
          </a:p>
          <a:p>
            <a:pPr algn="just">
              <a:spcAft>
                <a:spcPts val="1200"/>
              </a:spcAft>
            </a:pPr>
            <a:r>
              <a:rPr lang="pt-BR" sz="105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PETRARCA, E. Everything You Need to Know to Make it Through a Conversation About NFTs (Tudo o que Você Precisa Saber para Sobreviver a uma Discussão Sobre NFTs), abril 2021. Disponível em: &lt;https://www.thecut.com/2021/04/what-is-an-nft-explainer.html&gt;. Acesso em 20 abr. 2021.</a:t>
            </a:r>
          </a:p>
          <a:p>
            <a:pPr algn="just">
              <a:spcAft>
                <a:spcPts val="1200"/>
              </a:spcAft>
            </a:pPr>
            <a:r>
              <a:rPr lang="pt-BR" sz="105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ROBERTSON, H.  Almost a Fifth of ALL US Dollars Were Created This Year (Quase um Quinto de Todos os Dólares Americanos Foram Criados este Ano), outubro 2020. Disponível em: &lt;https://www.cityam.com/almost-a-fifth-of-all-us-dollars-were-created-this-year/&gt;. Acesso em 20 abr. 2021.</a:t>
            </a:r>
          </a:p>
          <a:p>
            <a:pPr algn="just">
              <a:spcAft>
                <a:spcPts val="1200"/>
              </a:spcAft>
            </a:pPr>
            <a:r>
              <a:rPr lang="pt-BR" sz="105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SHARMA, R.  Decentralized Finance (DeFi) Definition (Finanças Decentralizadas (DeFi): Definição), março 2021. Disponível em: &lt;https://www.investopedia.com/decentralized-finance-defi-5113835&gt;. Acesso em 20 abr. 2021.</a:t>
            </a:r>
          </a:p>
          <a:p>
            <a:pPr algn="just">
              <a:spcAft>
                <a:spcPts val="1200"/>
              </a:spcAft>
            </a:pPr>
            <a:r>
              <a:rPr lang="pt-BR" sz="105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SHEDLOCK, M.  23.6% of All US Dollars Were Created in the Last Year (23.6% de Todos os Dólares Americanos Foram Criados no Último Ano), outubro 2020. Disponível em: &lt;https://www.thestreet.com/mishtalk/economics/23-6-of-all-us-dollars-were-created-in-the-last-year&gt;. Acesso em 20 abr. 2021.</a:t>
            </a:r>
          </a:p>
          <a:p>
            <a:pPr algn="just">
              <a:spcAft>
                <a:spcPts val="1200"/>
              </a:spcAft>
            </a:pPr>
            <a:r>
              <a:rPr lang="pt-BR" sz="105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WIKIPEDIA - Acordos de Bretton Woods. Disponível em: &lt;https://pt.wikipedia.org/wiki/Acordos_de_Bretton_Woods&gt;. Acesso em 20 abr. 2021.</a:t>
            </a:r>
          </a:p>
          <a:p>
            <a:pPr algn="just">
              <a:spcAft>
                <a:spcPts val="1200"/>
              </a:spcAft>
            </a:pPr>
            <a:r>
              <a:rPr lang="pt-BR" sz="105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YAHOO FINANCE – Relação Bitcoin-Dólar. Disponível em: &lt;https://finance.yahoo.com/quote/BTC-USD?p=BTC-USD&amp;.tsrc=fin-srch&gt;. Acesso em 20 abr. 2021.</a:t>
            </a:r>
          </a:p>
        </p:txBody>
      </p:sp>
      <p:sp>
        <p:nvSpPr>
          <p:cNvPr id="7" name="CaixaDeTexto 6">
            <a:extLst>
              <a:ext uri="{FF2B5EF4-FFF2-40B4-BE49-F238E27FC236}">
                <a16:creationId xmlns:a16="http://schemas.microsoft.com/office/drawing/2014/main" id="{B3084560-57C2-481A-817C-E5E5EE880598}"/>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29 de 29</a:t>
            </a:r>
            <a:endParaRPr lang="pt-BR">
              <a:solidFill>
                <a:schemeClr val="tx1">
                  <a:lumMod val="50000"/>
                </a:schemeClr>
              </a:solidFill>
            </a:endParaRPr>
          </a:p>
        </p:txBody>
      </p:sp>
    </p:spTree>
    <p:extLst>
      <p:ext uri="{BB962C8B-B14F-4D97-AF65-F5344CB8AC3E}">
        <p14:creationId xmlns:p14="http://schemas.microsoft.com/office/powerpoint/2010/main" val="38850192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21197" y="421417"/>
            <a:ext cx="2058577" cy="707886"/>
          </a:xfrm>
          <a:prstGeom prst="rect">
            <a:avLst/>
          </a:prstGeom>
          <a:noFill/>
        </p:spPr>
        <p:txBody>
          <a:bodyPr wrap="none" rtlCol="0">
            <a:spAutoFit/>
          </a:bodyPr>
          <a:lstStyle/>
          <a:p>
            <a:r>
              <a:rPr lang="pt-BR" sz="4000">
                <a:solidFill>
                  <a:schemeClr val="tx1">
                    <a:lumMod val="50000"/>
                  </a:schemeClr>
                </a:solidFill>
              </a:rPr>
              <a:t>Dúvidas</a:t>
            </a:r>
            <a:endParaRPr lang="pt-BR" sz="3200">
              <a:solidFill>
                <a:schemeClr val="tx1">
                  <a:lumMod val="50000"/>
                </a:schemeClr>
              </a:solidFill>
            </a:endParaRPr>
          </a:p>
        </p:txBody>
      </p:sp>
    </p:spTree>
    <p:extLst>
      <p:ext uri="{BB962C8B-B14F-4D97-AF65-F5344CB8AC3E}">
        <p14:creationId xmlns:p14="http://schemas.microsoft.com/office/powerpoint/2010/main" val="12846492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21197" y="421417"/>
            <a:ext cx="2443298" cy="707886"/>
          </a:xfrm>
          <a:prstGeom prst="rect">
            <a:avLst/>
          </a:prstGeom>
          <a:noFill/>
        </p:spPr>
        <p:txBody>
          <a:bodyPr wrap="none" rtlCol="0">
            <a:spAutoFit/>
          </a:bodyPr>
          <a:lstStyle/>
          <a:p>
            <a:r>
              <a:rPr lang="pt-BR" sz="4000">
                <a:solidFill>
                  <a:schemeClr val="tx1">
                    <a:lumMod val="50000"/>
                  </a:schemeClr>
                </a:solidFill>
              </a:rPr>
              <a:t>Apêndice</a:t>
            </a:r>
            <a:endParaRPr lang="pt-BR" sz="3200">
              <a:solidFill>
                <a:schemeClr val="tx1">
                  <a:lumMod val="50000"/>
                </a:schemeClr>
              </a:solidFill>
            </a:endParaRPr>
          </a:p>
        </p:txBody>
      </p:sp>
    </p:spTree>
    <p:extLst>
      <p:ext uri="{BB962C8B-B14F-4D97-AF65-F5344CB8AC3E}">
        <p14:creationId xmlns:p14="http://schemas.microsoft.com/office/powerpoint/2010/main" val="24747785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03441" y="521866"/>
            <a:ext cx="3860159" cy="707886"/>
          </a:xfrm>
          <a:prstGeom prst="rect">
            <a:avLst/>
          </a:prstGeom>
          <a:noFill/>
        </p:spPr>
        <p:txBody>
          <a:bodyPr wrap="none" rtlCol="0">
            <a:spAutoFit/>
          </a:bodyPr>
          <a:lstStyle/>
          <a:p>
            <a:r>
              <a:rPr lang="pt-BR" sz="4000">
                <a:solidFill>
                  <a:schemeClr val="tx1">
                    <a:lumMod val="50000"/>
                  </a:schemeClr>
                </a:solidFill>
              </a:rPr>
              <a:t>What is Diskify?</a:t>
            </a:r>
            <a:r>
              <a:rPr lang="pt-BR" sz="3200">
                <a:solidFill>
                  <a:schemeClr val="tx1">
                    <a:lumMod val="50000"/>
                  </a:schemeClr>
                </a:solidFill>
              </a:rPr>
              <a:t> </a:t>
            </a:r>
          </a:p>
        </p:txBody>
      </p:sp>
      <p:sp>
        <p:nvSpPr>
          <p:cNvPr id="5" name="CaixaDeTexto 4">
            <a:extLst>
              <a:ext uri="{FF2B5EF4-FFF2-40B4-BE49-F238E27FC236}">
                <a16:creationId xmlns:a16="http://schemas.microsoft.com/office/drawing/2014/main" id="{C4516E53-E5EF-4028-A346-3AD5A3233886}"/>
              </a:ext>
            </a:extLst>
          </p:cNvPr>
          <p:cNvSpPr txBox="1"/>
          <p:nvPr/>
        </p:nvSpPr>
        <p:spPr>
          <a:xfrm>
            <a:off x="536606" y="1751617"/>
            <a:ext cx="10107720" cy="3354765"/>
          </a:xfrm>
          <a:prstGeom prst="rect">
            <a:avLst/>
          </a:prstGeom>
          <a:noFill/>
        </p:spPr>
        <p:txBody>
          <a:bodyPr wrap="square" rtlCol="0">
            <a:spAutoFit/>
          </a:bodyPr>
          <a:lstStyle/>
          <a:p>
            <a:pPr algn="just">
              <a:lnSpc>
                <a:spcPct val="150000"/>
              </a:lnSpc>
            </a:pPr>
            <a:r>
              <a:rPr lang="en-US" sz="200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	Non-fungible tokens (NFTs) have become an attraction for many markets, a 	notable success of blockchain-based technology. NFTs are based on Smart 	Contracts and are used for definition and transfer of property rights, 	representing various types of data. The Diskify project brings the music industry 	closer to its fans, promoting scarcity of content and eliminating intermediaries 	such as streaming applications and production companies. </a:t>
            </a:r>
            <a:endParaRPr lang="pt-BR" sz="200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endParaRPr>
          </a:p>
          <a:p>
            <a:endParaRPr lang="pt-BR" sz="3200">
              <a:solidFill>
                <a:schemeClr val="tx1">
                  <a:lumMod val="50000"/>
                </a:schemeClr>
              </a:solidFill>
            </a:endParaRPr>
          </a:p>
        </p:txBody>
      </p:sp>
      <p:sp>
        <p:nvSpPr>
          <p:cNvPr id="7" name="CaixaDeTexto 6">
            <a:extLst>
              <a:ext uri="{FF2B5EF4-FFF2-40B4-BE49-F238E27FC236}">
                <a16:creationId xmlns:a16="http://schemas.microsoft.com/office/drawing/2014/main" id="{E16C73E2-E557-4D02-82DF-C6E5AC58666F}"/>
              </a:ext>
            </a:extLst>
          </p:cNvPr>
          <p:cNvSpPr txBox="1"/>
          <p:nvPr/>
        </p:nvSpPr>
        <p:spPr>
          <a:xfrm>
            <a:off x="10682996" y="174433"/>
            <a:ext cx="1237839" cy="461665"/>
          </a:xfrm>
          <a:prstGeom prst="rect">
            <a:avLst/>
          </a:prstGeom>
          <a:noFill/>
        </p:spPr>
        <p:txBody>
          <a:bodyPr wrap="none" rtlCol="0">
            <a:spAutoFit/>
          </a:bodyPr>
          <a:lstStyle/>
          <a:p>
            <a:r>
              <a:rPr lang="pt-BR" sz="2400">
                <a:solidFill>
                  <a:schemeClr val="tx1">
                    <a:lumMod val="50000"/>
                  </a:schemeClr>
                </a:solidFill>
              </a:rPr>
              <a:t>3 de 25</a:t>
            </a:r>
            <a:endParaRPr lang="pt-BR">
              <a:solidFill>
                <a:schemeClr val="tx1">
                  <a:lumMod val="50000"/>
                </a:schemeClr>
              </a:solidFill>
            </a:endParaRPr>
          </a:p>
        </p:txBody>
      </p:sp>
    </p:spTree>
    <p:extLst>
      <p:ext uri="{BB962C8B-B14F-4D97-AF65-F5344CB8AC3E}">
        <p14:creationId xmlns:p14="http://schemas.microsoft.com/office/powerpoint/2010/main" val="27912519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03441" y="521866"/>
            <a:ext cx="2691763" cy="707886"/>
          </a:xfrm>
          <a:prstGeom prst="rect">
            <a:avLst/>
          </a:prstGeom>
          <a:noFill/>
        </p:spPr>
        <p:txBody>
          <a:bodyPr wrap="none" rtlCol="0">
            <a:spAutoFit/>
          </a:bodyPr>
          <a:lstStyle/>
          <a:p>
            <a:r>
              <a:rPr lang="pt-BR" sz="4000">
                <a:solidFill>
                  <a:schemeClr val="tx1">
                    <a:lumMod val="50000"/>
                  </a:schemeClr>
                </a:solidFill>
              </a:rPr>
              <a:t>Motivação</a:t>
            </a:r>
            <a:r>
              <a:rPr lang="pt-BR" sz="3200">
                <a:solidFill>
                  <a:schemeClr val="tx1">
                    <a:lumMod val="50000"/>
                  </a:schemeClr>
                </a:solidFill>
              </a:rPr>
              <a:t> </a:t>
            </a:r>
          </a:p>
        </p:txBody>
      </p:sp>
      <p:sp>
        <p:nvSpPr>
          <p:cNvPr id="5" name="CaixaDeTexto 4">
            <a:extLst>
              <a:ext uri="{FF2B5EF4-FFF2-40B4-BE49-F238E27FC236}">
                <a16:creationId xmlns:a16="http://schemas.microsoft.com/office/drawing/2014/main" id="{C4516E53-E5EF-4028-A346-3AD5A3233886}"/>
              </a:ext>
            </a:extLst>
          </p:cNvPr>
          <p:cNvSpPr txBox="1"/>
          <p:nvPr/>
        </p:nvSpPr>
        <p:spPr>
          <a:xfrm>
            <a:off x="936204" y="5562131"/>
            <a:ext cx="10107720" cy="962636"/>
          </a:xfrm>
          <a:prstGeom prst="rect">
            <a:avLst/>
          </a:prstGeom>
          <a:noFill/>
        </p:spPr>
        <p:txBody>
          <a:bodyPr wrap="square" rtlCol="0">
            <a:spAutoFit/>
          </a:bodyPr>
          <a:lstStyle/>
          <a:p>
            <a:pPr algn="ctr">
              <a:lnSpc>
                <a:spcPct val="150000"/>
              </a:lnSpc>
            </a:pPr>
            <a:r>
              <a:rPr lang="en-US" sz="2000">
                <a:solidFill>
                  <a:schemeClr val="tx1">
                    <a:lumMod val="65000"/>
                  </a:schemeClr>
                </a:solidFill>
                <a:latin typeface="Arial" panose="020B0604020202020204" pitchFamily="34" charset="0"/>
                <a:cs typeface="Times New Roman" panose="02020603050405020304" pitchFamily="18" charset="0"/>
              </a:rPr>
              <a:t>Quebra do acordo de Bretton Woods em 1971 no governo de Richard Nixon.</a:t>
            </a:r>
          </a:p>
          <a:p>
            <a:pPr algn="ctr">
              <a:lnSpc>
                <a:spcPct val="150000"/>
              </a:lnSpc>
            </a:pPr>
            <a:r>
              <a:rPr lang="en-US" sz="2000">
                <a:solidFill>
                  <a:schemeClr val="tx1">
                    <a:lumMod val="65000"/>
                  </a:schemeClr>
                </a:solidFill>
                <a:latin typeface="Arial" panose="020B0604020202020204" pitchFamily="34" charset="0"/>
                <a:cs typeface="Times New Roman" panose="02020603050405020304" pitchFamily="18" charset="0"/>
              </a:rPr>
              <a:t>Fim da convertibilidade do dólar em ouro.</a:t>
            </a:r>
            <a:endParaRPr lang="pt-BR" sz="3200">
              <a:solidFill>
                <a:schemeClr val="tx1">
                  <a:lumMod val="50000"/>
                </a:schemeClr>
              </a:solidFill>
            </a:endParaRPr>
          </a:p>
        </p:txBody>
      </p:sp>
      <p:pic>
        <p:nvPicPr>
          <p:cNvPr id="7" name="Imagem 6" descr="Casa com gramado na frente de um prédio&#10;&#10;Descrição gerada automaticamente">
            <a:extLst>
              <a:ext uri="{FF2B5EF4-FFF2-40B4-BE49-F238E27FC236}">
                <a16:creationId xmlns:a16="http://schemas.microsoft.com/office/drawing/2014/main" id="{9FD526AA-CA0A-462F-BF4D-E5EFF7D37E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3378" y="1629100"/>
            <a:ext cx="6905244" cy="3599799"/>
          </a:xfrm>
          <a:prstGeom prst="rect">
            <a:avLst/>
          </a:prstGeom>
        </p:spPr>
      </p:pic>
      <p:sp>
        <p:nvSpPr>
          <p:cNvPr id="9" name="CaixaDeTexto 8">
            <a:extLst>
              <a:ext uri="{FF2B5EF4-FFF2-40B4-BE49-F238E27FC236}">
                <a16:creationId xmlns:a16="http://schemas.microsoft.com/office/drawing/2014/main" id="{1BC565A0-6B49-4A47-A6BA-6EA90CD1A105}"/>
              </a:ext>
            </a:extLst>
          </p:cNvPr>
          <p:cNvSpPr txBox="1"/>
          <p:nvPr/>
        </p:nvSpPr>
        <p:spPr>
          <a:xfrm>
            <a:off x="10682996" y="174433"/>
            <a:ext cx="1237839" cy="461665"/>
          </a:xfrm>
          <a:prstGeom prst="rect">
            <a:avLst/>
          </a:prstGeom>
          <a:noFill/>
        </p:spPr>
        <p:txBody>
          <a:bodyPr wrap="none" rtlCol="0">
            <a:spAutoFit/>
          </a:bodyPr>
          <a:lstStyle/>
          <a:p>
            <a:r>
              <a:rPr lang="pt-BR" sz="2400">
                <a:solidFill>
                  <a:schemeClr val="tx1">
                    <a:lumMod val="50000"/>
                  </a:schemeClr>
                </a:solidFill>
              </a:rPr>
              <a:t>4 de 25</a:t>
            </a:r>
            <a:endParaRPr lang="pt-BR">
              <a:solidFill>
                <a:schemeClr val="tx1">
                  <a:lumMod val="50000"/>
                </a:schemeClr>
              </a:solidFill>
            </a:endParaRPr>
          </a:p>
        </p:txBody>
      </p:sp>
    </p:spTree>
    <p:extLst>
      <p:ext uri="{BB962C8B-B14F-4D97-AF65-F5344CB8AC3E}">
        <p14:creationId xmlns:p14="http://schemas.microsoft.com/office/powerpoint/2010/main" val="2533390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03441" y="521866"/>
            <a:ext cx="2691763" cy="707886"/>
          </a:xfrm>
          <a:prstGeom prst="rect">
            <a:avLst/>
          </a:prstGeom>
          <a:noFill/>
        </p:spPr>
        <p:txBody>
          <a:bodyPr wrap="none" rtlCol="0">
            <a:spAutoFit/>
          </a:bodyPr>
          <a:lstStyle/>
          <a:p>
            <a:r>
              <a:rPr lang="pt-BR" sz="4000">
                <a:solidFill>
                  <a:schemeClr val="tx1">
                    <a:lumMod val="50000"/>
                  </a:schemeClr>
                </a:solidFill>
              </a:rPr>
              <a:t>Motivação</a:t>
            </a:r>
            <a:r>
              <a:rPr lang="pt-BR" sz="3200">
                <a:solidFill>
                  <a:schemeClr val="tx1">
                    <a:lumMod val="50000"/>
                  </a:schemeClr>
                </a:solidFill>
              </a:rPr>
              <a:t> </a:t>
            </a:r>
          </a:p>
        </p:txBody>
      </p:sp>
      <p:pic>
        <p:nvPicPr>
          <p:cNvPr id="3" name="Imagem 2" descr="Interface gráfica do usuário, Texto, Aplicativo, chat ou mensagem de texto&#10;&#10;Descrição gerada automaticamente">
            <a:extLst>
              <a:ext uri="{FF2B5EF4-FFF2-40B4-BE49-F238E27FC236}">
                <a16:creationId xmlns:a16="http://schemas.microsoft.com/office/drawing/2014/main" id="{1A9F24BD-D928-466F-8C5B-ACE5C63F2E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8811" y="4358453"/>
            <a:ext cx="7534378" cy="2240342"/>
          </a:xfrm>
          <a:prstGeom prst="rect">
            <a:avLst/>
          </a:prstGeom>
        </p:spPr>
      </p:pic>
      <p:sp>
        <p:nvSpPr>
          <p:cNvPr id="7" name="CaixaDeTexto 6">
            <a:extLst>
              <a:ext uri="{FF2B5EF4-FFF2-40B4-BE49-F238E27FC236}">
                <a16:creationId xmlns:a16="http://schemas.microsoft.com/office/drawing/2014/main" id="{7F06810C-73DB-45CE-8F11-C05D6DD945FA}"/>
              </a:ext>
            </a:extLst>
          </p:cNvPr>
          <p:cNvSpPr txBox="1"/>
          <p:nvPr/>
        </p:nvSpPr>
        <p:spPr>
          <a:xfrm>
            <a:off x="1508022" y="1751618"/>
            <a:ext cx="10107720" cy="2347630"/>
          </a:xfrm>
          <a:prstGeom prst="rect">
            <a:avLst/>
          </a:prstGeom>
          <a:noFill/>
        </p:spPr>
        <p:txBody>
          <a:bodyPr wrap="square" rtlCol="0">
            <a:spAutoFit/>
          </a:bodyPr>
          <a:lstStyle/>
          <a:p>
            <a:pPr algn="just">
              <a:lnSpc>
                <a:spcPct val="150000"/>
              </a:lnSpc>
            </a:pPr>
            <a:r>
              <a:rPr lang="en-US" sz="2000">
                <a:solidFill>
                  <a:schemeClr val="tx1">
                    <a:lumMod val="65000"/>
                  </a:schemeClr>
                </a:solidFill>
                <a:latin typeface="Arial" panose="020B0604020202020204" pitchFamily="34" charset="0"/>
                <a:cs typeface="Times New Roman" panose="02020603050405020304" pitchFamily="18" charset="0"/>
              </a:rPr>
              <a:t>Algumas premissas: </a:t>
            </a:r>
          </a:p>
          <a:p>
            <a:pPr algn="just">
              <a:lnSpc>
                <a:spcPct val="150000"/>
              </a:lnSpc>
            </a:pPr>
            <a:r>
              <a:rPr lang="en-US" sz="2000">
                <a:solidFill>
                  <a:schemeClr val="tx1">
                    <a:lumMod val="65000"/>
                  </a:schemeClr>
                </a:solidFill>
                <a:latin typeface="Arial" panose="020B0604020202020204" pitchFamily="34" charset="0"/>
                <a:cs typeface="Times New Roman" panose="02020603050405020304" pitchFamily="18" charset="0"/>
              </a:rPr>
              <a:t>	- Imprimir dinheiro </a:t>
            </a:r>
            <a:r>
              <a:rPr lang="pt-BR" sz="2000" b="0" i="0">
                <a:solidFill>
                  <a:schemeClr val="tx1">
                    <a:lumMod val="65000"/>
                  </a:schemeClr>
                </a:solidFill>
                <a:effectLst/>
                <a:latin typeface="Arial" panose="020B0604020202020204" pitchFamily="34" charset="0"/>
              </a:rPr>
              <a:t>≠ Gerar Riqueza</a:t>
            </a:r>
          </a:p>
          <a:p>
            <a:pPr algn="just">
              <a:lnSpc>
                <a:spcPct val="150000"/>
              </a:lnSpc>
            </a:pPr>
            <a:r>
              <a:rPr lang="pt-BR" sz="2000">
                <a:solidFill>
                  <a:schemeClr val="tx1">
                    <a:lumMod val="65000"/>
                  </a:schemeClr>
                </a:solidFill>
                <a:latin typeface="Arial" panose="020B0604020202020204" pitchFamily="34" charset="0"/>
              </a:rPr>
              <a:t>	- Ativos Inflacionários são inferirores a ativos deflacionários</a:t>
            </a:r>
          </a:p>
          <a:p>
            <a:pPr algn="just">
              <a:lnSpc>
                <a:spcPct val="150000"/>
              </a:lnSpc>
            </a:pPr>
            <a:r>
              <a:rPr lang="pt-BR" sz="2000">
                <a:solidFill>
                  <a:schemeClr val="tx1">
                    <a:lumMod val="65000"/>
                  </a:schemeClr>
                </a:solidFill>
                <a:latin typeface="Arial" panose="020B0604020202020204" pitchFamily="34" charset="0"/>
              </a:rPr>
              <a:t>	- Oferta </a:t>
            </a:r>
            <a:r>
              <a:rPr lang="pt-BR" sz="2000" i="1">
                <a:solidFill>
                  <a:schemeClr val="tx1">
                    <a:lumMod val="65000"/>
                  </a:schemeClr>
                </a:solidFill>
                <a:latin typeface="Arial" panose="020B0604020202020204" pitchFamily="34" charset="0"/>
              </a:rPr>
              <a:t>fixa, demanda crescente</a:t>
            </a:r>
          </a:p>
          <a:p>
            <a:pPr algn="just">
              <a:lnSpc>
                <a:spcPct val="150000"/>
              </a:lnSpc>
            </a:pPr>
            <a:r>
              <a:rPr lang="pt-BR" sz="2000" i="1">
                <a:solidFill>
                  <a:schemeClr val="tx1">
                    <a:lumMod val="65000"/>
                  </a:schemeClr>
                </a:solidFill>
                <a:latin typeface="Arial" panose="020B0604020202020204" pitchFamily="34" charset="0"/>
              </a:rPr>
              <a:t>	- O preço é subjetivo e não objetivo</a:t>
            </a:r>
            <a:endParaRPr lang="pt-BR" sz="3200" i="1">
              <a:solidFill>
                <a:schemeClr val="tx1">
                  <a:lumMod val="65000"/>
                </a:schemeClr>
              </a:solidFill>
            </a:endParaRPr>
          </a:p>
        </p:txBody>
      </p:sp>
      <p:sp>
        <p:nvSpPr>
          <p:cNvPr id="8" name="CaixaDeTexto 7">
            <a:extLst>
              <a:ext uri="{FF2B5EF4-FFF2-40B4-BE49-F238E27FC236}">
                <a16:creationId xmlns:a16="http://schemas.microsoft.com/office/drawing/2014/main" id="{AC6CBEEF-A861-4E46-BD5C-423E60E115BC}"/>
              </a:ext>
            </a:extLst>
          </p:cNvPr>
          <p:cNvSpPr txBox="1"/>
          <p:nvPr/>
        </p:nvSpPr>
        <p:spPr>
          <a:xfrm>
            <a:off x="10682996" y="174433"/>
            <a:ext cx="1237839" cy="461665"/>
          </a:xfrm>
          <a:prstGeom prst="rect">
            <a:avLst/>
          </a:prstGeom>
          <a:noFill/>
        </p:spPr>
        <p:txBody>
          <a:bodyPr wrap="none" rtlCol="0">
            <a:spAutoFit/>
          </a:bodyPr>
          <a:lstStyle/>
          <a:p>
            <a:r>
              <a:rPr lang="pt-BR" sz="2400">
                <a:solidFill>
                  <a:schemeClr val="tx1">
                    <a:lumMod val="50000"/>
                  </a:schemeClr>
                </a:solidFill>
              </a:rPr>
              <a:t>5 de 25</a:t>
            </a:r>
            <a:endParaRPr lang="pt-BR">
              <a:solidFill>
                <a:schemeClr val="tx1">
                  <a:lumMod val="50000"/>
                </a:schemeClr>
              </a:solidFill>
            </a:endParaRPr>
          </a:p>
        </p:txBody>
      </p:sp>
    </p:spTree>
    <p:extLst>
      <p:ext uri="{BB962C8B-B14F-4D97-AF65-F5344CB8AC3E}">
        <p14:creationId xmlns:p14="http://schemas.microsoft.com/office/powerpoint/2010/main" val="42201786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03441" y="521866"/>
            <a:ext cx="2691763" cy="707886"/>
          </a:xfrm>
          <a:prstGeom prst="rect">
            <a:avLst/>
          </a:prstGeom>
          <a:noFill/>
        </p:spPr>
        <p:txBody>
          <a:bodyPr wrap="none" rtlCol="0">
            <a:spAutoFit/>
          </a:bodyPr>
          <a:lstStyle/>
          <a:p>
            <a:r>
              <a:rPr lang="pt-BR" sz="4000">
                <a:solidFill>
                  <a:schemeClr val="tx1">
                    <a:lumMod val="50000"/>
                  </a:schemeClr>
                </a:solidFill>
              </a:rPr>
              <a:t>Motivação</a:t>
            </a:r>
            <a:r>
              <a:rPr lang="pt-BR" sz="3200">
                <a:solidFill>
                  <a:schemeClr val="tx1">
                    <a:lumMod val="50000"/>
                  </a:schemeClr>
                </a:solidFill>
              </a:rPr>
              <a:t> </a:t>
            </a:r>
          </a:p>
        </p:txBody>
      </p:sp>
      <p:sp>
        <p:nvSpPr>
          <p:cNvPr id="7" name="CaixaDeTexto 6">
            <a:extLst>
              <a:ext uri="{FF2B5EF4-FFF2-40B4-BE49-F238E27FC236}">
                <a16:creationId xmlns:a16="http://schemas.microsoft.com/office/drawing/2014/main" id="{7F06810C-73DB-45CE-8F11-C05D6DD945FA}"/>
              </a:ext>
            </a:extLst>
          </p:cNvPr>
          <p:cNvSpPr txBox="1"/>
          <p:nvPr/>
        </p:nvSpPr>
        <p:spPr>
          <a:xfrm>
            <a:off x="860322" y="1751618"/>
            <a:ext cx="10683978" cy="3532505"/>
          </a:xfrm>
          <a:prstGeom prst="rect">
            <a:avLst/>
          </a:prstGeom>
          <a:noFill/>
        </p:spPr>
        <p:txBody>
          <a:bodyPr wrap="square" rtlCol="0">
            <a:spAutoFit/>
          </a:bodyPr>
          <a:lstStyle/>
          <a:p>
            <a:pPr algn="just">
              <a:lnSpc>
                <a:spcPct val="150000"/>
              </a:lnSpc>
            </a:pPr>
            <a:r>
              <a:rPr lang="pt-BR" sz="2800" i="1">
                <a:solidFill>
                  <a:schemeClr val="tx1">
                    <a:lumMod val="65000"/>
                  </a:schemeClr>
                </a:solidFill>
              </a:rPr>
              <a:t>Sumarizando: </a:t>
            </a:r>
          </a:p>
          <a:p>
            <a:pPr algn="just">
              <a:lnSpc>
                <a:spcPct val="150000"/>
              </a:lnSpc>
            </a:pPr>
            <a:r>
              <a:rPr lang="pt-BR" sz="2800" i="1">
                <a:solidFill>
                  <a:schemeClr val="tx1">
                    <a:lumMod val="65000"/>
                  </a:schemeClr>
                </a:solidFill>
              </a:rPr>
              <a:t>	</a:t>
            </a:r>
            <a:r>
              <a:rPr lang="pt-BR" sz="2400" i="1">
                <a:solidFill>
                  <a:schemeClr val="tx1">
                    <a:lumMod val="65000"/>
                  </a:schemeClr>
                </a:solidFill>
              </a:rPr>
              <a:t>- Dolár é, hoje, uma moeda fiat.</a:t>
            </a:r>
          </a:p>
          <a:p>
            <a:pPr algn="just">
              <a:lnSpc>
                <a:spcPct val="150000"/>
              </a:lnSpc>
            </a:pPr>
            <a:r>
              <a:rPr lang="pt-BR" sz="2400" i="1">
                <a:solidFill>
                  <a:schemeClr val="tx1">
                    <a:lumMod val="65000"/>
                  </a:schemeClr>
                </a:solidFill>
              </a:rPr>
              <a:t>	- Bitcoin é a moeda deflacionária mais conhecida.</a:t>
            </a:r>
          </a:p>
          <a:p>
            <a:pPr algn="just">
              <a:lnSpc>
                <a:spcPct val="150000"/>
              </a:lnSpc>
            </a:pPr>
            <a:r>
              <a:rPr lang="pt-BR" sz="2400" i="1">
                <a:solidFill>
                  <a:schemeClr val="tx1">
                    <a:lumMod val="65000"/>
                  </a:schemeClr>
                </a:solidFill>
              </a:rPr>
              <a:t>	- DeFi é o futuro da economia (Finanças descentralizadas).</a:t>
            </a:r>
          </a:p>
          <a:p>
            <a:pPr algn="just">
              <a:lnSpc>
                <a:spcPct val="150000"/>
              </a:lnSpc>
            </a:pPr>
            <a:r>
              <a:rPr lang="pt-BR" sz="2400" i="1">
                <a:solidFill>
                  <a:schemeClr val="tx1">
                    <a:lumMod val="65000"/>
                  </a:schemeClr>
                </a:solidFill>
              </a:rPr>
              <a:t>	- NFTs são o case de maior sucesso de uma tecnologia baseada em 	blockchain com aplicabilidades físicas.</a:t>
            </a:r>
          </a:p>
        </p:txBody>
      </p:sp>
      <p:sp>
        <p:nvSpPr>
          <p:cNvPr id="9" name="CaixaDeTexto 8">
            <a:extLst>
              <a:ext uri="{FF2B5EF4-FFF2-40B4-BE49-F238E27FC236}">
                <a16:creationId xmlns:a16="http://schemas.microsoft.com/office/drawing/2014/main" id="{5833AA7F-50D1-42C7-AD22-A54030731C46}"/>
              </a:ext>
            </a:extLst>
          </p:cNvPr>
          <p:cNvSpPr txBox="1"/>
          <p:nvPr/>
        </p:nvSpPr>
        <p:spPr>
          <a:xfrm>
            <a:off x="10682996" y="174433"/>
            <a:ext cx="1237839" cy="461665"/>
          </a:xfrm>
          <a:prstGeom prst="rect">
            <a:avLst/>
          </a:prstGeom>
          <a:noFill/>
        </p:spPr>
        <p:txBody>
          <a:bodyPr wrap="none" rtlCol="0">
            <a:spAutoFit/>
          </a:bodyPr>
          <a:lstStyle/>
          <a:p>
            <a:r>
              <a:rPr lang="pt-BR" sz="2400">
                <a:solidFill>
                  <a:schemeClr val="tx1">
                    <a:lumMod val="50000"/>
                  </a:schemeClr>
                </a:solidFill>
              </a:rPr>
              <a:t>6 de 25</a:t>
            </a:r>
            <a:endParaRPr lang="pt-BR">
              <a:solidFill>
                <a:schemeClr val="tx1">
                  <a:lumMod val="50000"/>
                </a:schemeClr>
              </a:solidFill>
            </a:endParaRPr>
          </a:p>
        </p:txBody>
      </p:sp>
    </p:spTree>
    <p:extLst>
      <p:ext uri="{BB962C8B-B14F-4D97-AF65-F5344CB8AC3E}">
        <p14:creationId xmlns:p14="http://schemas.microsoft.com/office/powerpoint/2010/main" val="22092192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03441" y="521866"/>
            <a:ext cx="2691763" cy="707886"/>
          </a:xfrm>
          <a:prstGeom prst="rect">
            <a:avLst/>
          </a:prstGeom>
          <a:noFill/>
        </p:spPr>
        <p:txBody>
          <a:bodyPr wrap="none" rtlCol="0">
            <a:spAutoFit/>
          </a:bodyPr>
          <a:lstStyle/>
          <a:p>
            <a:r>
              <a:rPr lang="pt-BR" sz="4000">
                <a:solidFill>
                  <a:schemeClr val="tx1">
                    <a:lumMod val="50000"/>
                  </a:schemeClr>
                </a:solidFill>
              </a:rPr>
              <a:t>Motivação</a:t>
            </a:r>
            <a:r>
              <a:rPr lang="pt-BR" sz="3200">
                <a:solidFill>
                  <a:schemeClr val="tx1">
                    <a:lumMod val="50000"/>
                  </a:schemeClr>
                </a:solidFill>
              </a:rPr>
              <a:t> </a:t>
            </a:r>
          </a:p>
        </p:txBody>
      </p:sp>
      <p:pic>
        <p:nvPicPr>
          <p:cNvPr id="3" name="Imagem 2" descr="Texto&#10;&#10;Descrição gerada automaticamente">
            <a:extLst>
              <a:ext uri="{FF2B5EF4-FFF2-40B4-BE49-F238E27FC236}">
                <a16:creationId xmlns:a16="http://schemas.microsoft.com/office/drawing/2014/main" id="{227669FE-0F30-4EB2-A1F8-065C5DE38A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9946" y="1438554"/>
            <a:ext cx="9712107" cy="4722112"/>
          </a:xfrm>
          <a:prstGeom prst="rect">
            <a:avLst/>
          </a:prstGeom>
        </p:spPr>
      </p:pic>
      <p:sp>
        <p:nvSpPr>
          <p:cNvPr id="8" name="CaixaDeTexto 7">
            <a:extLst>
              <a:ext uri="{FF2B5EF4-FFF2-40B4-BE49-F238E27FC236}">
                <a16:creationId xmlns:a16="http://schemas.microsoft.com/office/drawing/2014/main" id="{1DF14ECC-E767-4843-B53A-5E64A63AAD7C}"/>
              </a:ext>
            </a:extLst>
          </p:cNvPr>
          <p:cNvSpPr txBox="1"/>
          <p:nvPr/>
        </p:nvSpPr>
        <p:spPr>
          <a:xfrm>
            <a:off x="10682996" y="174433"/>
            <a:ext cx="1237839" cy="461665"/>
          </a:xfrm>
          <a:prstGeom prst="rect">
            <a:avLst/>
          </a:prstGeom>
          <a:noFill/>
        </p:spPr>
        <p:txBody>
          <a:bodyPr wrap="none" rtlCol="0">
            <a:spAutoFit/>
          </a:bodyPr>
          <a:lstStyle/>
          <a:p>
            <a:r>
              <a:rPr lang="pt-BR" sz="2400">
                <a:solidFill>
                  <a:schemeClr val="tx1">
                    <a:lumMod val="50000"/>
                  </a:schemeClr>
                </a:solidFill>
              </a:rPr>
              <a:t>7 de 25</a:t>
            </a:r>
            <a:endParaRPr lang="pt-BR">
              <a:solidFill>
                <a:schemeClr val="tx1">
                  <a:lumMod val="50000"/>
                </a:schemeClr>
              </a:solidFill>
            </a:endParaRPr>
          </a:p>
        </p:txBody>
      </p:sp>
    </p:spTree>
    <p:extLst>
      <p:ext uri="{BB962C8B-B14F-4D97-AF65-F5344CB8AC3E}">
        <p14:creationId xmlns:p14="http://schemas.microsoft.com/office/powerpoint/2010/main" val="2132988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03441" y="521866"/>
            <a:ext cx="2691763" cy="707886"/>
          </a:xfrm>
          <a:prstGeom prst="rect">
            <a:avLst/>
          </a:prstGeom>
          <a:noFill/>
        </p:spPr>
        <p:txBody>
          <a:bodyPr wrap="none" rtlCol="0">
            <a:spAutoFit/>
          </a:bodyPr>
          <a:lstStyle/>
          <a:p>
            <a:r>
              <a:rPr lang="pt-BR" sz="4000">
                <a:solidFill>
                  <a:schemeClr val="tx1">
                    <a:lumMod val="50000"/>
                  </a:schemeClr>
                </a:solidFill>
              </a:rPr>
              <a:t>Motivação</a:t>
            </a:r>
            <a:r>
              <a:rPr lang="pt-BR" sz="3200">
                <a:solidFill>
                  <a:schemeClr val="tx1">
                    <a:lumMod val="50000"/>
                  </a:schemeClr>
                </a:solidFill>
              </a:rPr>
              <a:t> </a:t>
            </a:r>
          </a:p>
        </p:txBody>
      </p:sp>
      <p:pic>
        <p:nvPicPr>
          <p:cNvPr id="4" name="Imagem 3" descr="Multidão de pessoas&#10;&#10;Descrição gerada automaticamente com confiança média">
            <a:extLst>
              <a:ext uri="{FF2B5EF4-FFF2-40B4-BE49-F238E27FC236}">
                <a16:creationId xmlns:a16="http://schemas.microsoft.com/office/drawing/2014/main" id="{0E5A24DE-A654-4B27-AB2C-A8167C55D7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3600" y="1229752"/>
            <a:ext cx="5181600" cy="5181600"/>
          </a:xfrm>
          <a:prstGeom prst="rect">
            <a:avLst/>
          </a:prstGeom>
        </p:spPr>
      </p:pic>
      <p:sp>
        <p:nvSpPr>
          <p:cNvPr id="7" name="CaixaDeTexto 6">
            <a:extLst>
              <a:ext uri="{FF2B5EF4-FFF2-40B4-BE49-F238E27FC236}">
                <a16:creationId xmlns:a16="http://schemas.microsoft.com/office/drawing/2014/main" id="{FC124E05-A0F6-43AD-8373-F015460582DE}"/>
              </a:ext>
            </a:extLst>
          </p:cNvPr>
          <p:cNvSpPr txBox="1"/>
          <p:nvPr/>
        </p:nvSpPr>
        <p:spPr>
          <a:xfrm>
            <a:off x="709561" y="1871781"/>
            <a:ext cx="4524478" cy="3897542"/>
          </a:xfrm>
          <a:prstGeom prst="rect">
            <a:avLst/>
          </a:prstGeom>
          <a:noFill/>
        </p:spPr>
        <p:txBody>
          <a:bodyPr wrap="square" rtlCol="0">
            <a:spAutoFit/>
          </a:bodyPr>
          <a:lstStyle/>
          <a:p>
            <a:pPr algn="just">
              <a:lnSpc>
                <a:spcPct val="150000"/>
              </a:lnSpc>
            </a:pPr>
            <a:r>
              <a:rPr lang="pt-BR" sz="2800" i="1">
                <a:solidFill>
                  <a:schemeClr val="tx1">
                    <a:lumMod val="65000"/>
                  </a:schemeClr>
                </a:solidFill>
              </a:rPr>
              <a:t>Quadro NFT leiloado por 69 milhões de dólares.</a:t>
            </a:r>
          </a:p>
          <a:p>
            <a:pPr algn="just">
              <a:lnSpc>
                <a:spcPct val="150000"/>
              </a:lnSpc>
            </a:pPr>
            <a:endParaRPr lang="pt-BR" sz="2800" i="1">
              <a:solidFill>
                <a:schemeClr val="tx1">
                  <a:lumMod val="65000"/>
                </a:schemeClr>
              </a:solidFill>
            </a:endParaRPr>
          </a:p>
          <a:p>
            <a:pPr algn="just">
              <a:lnSpc>
                <a:spcPct val="150000"/>
              </a:lnSpc>
            </a:pPr>
            <a:r>
              <a:rPr lang="pt-BR" sz="2800" i="1">
                <a:solidFill>
                  <a:schemeClr val="tx1">
                    <a:lumMod val="65000"/>
                  </a:schemeClr>
                </a:solidFill>
              </a:rPr>
              <a:t>Beeple.</a:t>
            </a:r>
          </a:p>
          <a:p>
            <a:pPr algn="just">
              <a:lnSpc>
                <a:spcPct val="150000"/>
              </a:lnSpc>
            </a:pPr>
            <a:r>
              <a:rPr lang="pt-BR" sz="2800" i="1">
                <a:solidFill>
                  <a:schemeClr val="tx1">
                    <a:lumMod val="65000"/>
                  </a:schemeClr>
                </a:solidFill>
              </a:rPr>
              <a:t>Everyday: The First 5000 Days. </a:t>
            </a:r>
          </a:p>
        </p:txBody>
      </p:sp>
      <p:sp>
        <p:nvSpPr>
          <p:cNvPr id="8" name="CaixaDeTexto 7">
            <a:extLst>
              <a:ext uri="{FF2B5EF4-FFF2-40B4-BE49-F238E27FC236}">
                <a16:creationId xmlns:a16="http://schemas.microsoft.com/office/drawing/2014/main" id="{0A38451B-B5FB-4F54-807A-D6332BFF2988}"/>
              </a:ext>
            </a:extLst>
          </p:cNvPr>
          <p:cNvSpPr txBox="1"/>
          <p:nvPr/>
        </p:nvSpPr>
        <p:spPr>
          <a:xfrm>
            <a:off x="10682996" y="174433"/>
            <a:ext cx="1237839" cy="461665"/>
          </a:xfrm>
          <a:prstGeom prst="rect">
            <a:avLst/>
          </a:prstGeom>
          <a:noFill/>
        </p:spPr>
        <p:txBody>
          <a:bodyPr wrap="none" rtlCol="0">
            <a:spAutoFit/>
          </a:bodyPr>
          <a:lstStyle/>
          <a:p>
            <a:r>
              <a:rPr lang="pt-BR" sz="2400">
                <a:solidFill>
                  <a:schemeClr val="tx1">
                    <a:lumMod val="50000"/>
                  </a:schemeClr>
                </a:solidFill>
              </a:rPr>
              <a:t>8 de 25</a:t>
            </a:r>
            <a:endParaRPr lang="pt-BR">
              <a:solidFill>
                <a:schemeClr val="tx1">
                  <a:lumMod val="50000"/>
                </a:schemeClr>
              </a:solidFill>
            </a:endParaRPr>
          </a:p>
        </p:txBody>
      </p:sp>
    </p:spTree>
    <p:extLst>
      <p:ext uri="{BB962C8B-B14F-4D97-AF65-F5344CB8AC3E}">
        <p14:creationId xmlns:p14="http://schemas.microsoft.com/office/powerpoint/2010/main" val="41294625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03441" y="521866"/>
            <a:ext cx="2691763" cy="707886"/>
          </a:xfrm>
          <a:prstGeom prst="rect">
            <a:avLst/>
          </a:prstGeom>
          <a:noFill/>
        </p:spPr>
        <p:txBody>
          <a:bodyPr wrap="none" rtlCol="0">
            <a:spAutoFit/>
          </a:bodyPr>
          <a:lstStyle/>
          <a:p>
            <a:r>
              <a:rPr lang="pt-BR" sz="4000">
                <a:solidFill>
                  <a:schemeClr val="tx1">
                    <a:lumMod val="50000"/>
                  </a:schemeClr>
                </a:solidFill>
              </a:rPr>
              <a:t>Motivação</a:t>
            </a:r>
            <a:r>
              <a:rPr lang="pt-BR" sz="3200">
                <a:solidFill>
                  <a:schemeClr val="tx1">
                    <a:lumMod val="50000"/>
                  </a:schemeClr>
                </a:solidFill>
              </a:rPr>
              <a:t> </a:t>
            </a:r>
          </a:p>
        </p:txBody>
      </p:sp>
      <p:pic>
        <p:nvPicPr>
          <p:cNvPr id="3" name="Imagem 2" descr="Interface gráfica do usuário&#10;&#10;Descrição gerada automaticamente com confiança baixa">
            <a:extLst>
              <a:ext uri="{FF2B5EF4-FFF2-40B4-BE49-F238E27FC236}">
                <a16:creationId xmlns:a16="http://schemas.microsoft.com/office/drawing/2014/main" id="{86BA5D1D-531F-41A4-9ADF-AC7E9F11C0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284" y="3257409"/>
            <a:ext cx="5308757" cy="2859878"/>
          </a:xfrm>
          <a:prstGeom prst="rect">
            <a:avLst/>
          </a:prstGeom>
        </p:spPr>
      </p:pic>
      <p:pic>
        <p:nvPicPr>
          <p:cNvPr id="8" name="Imagem 7" descr="Gráfico, Histograma&#10;&#10;Descrição gerada automaticamente">
            <a:extLst>
              <a:ext uri="{FF2B5EF4-FFF2-40B4-BE49-F238E27FC236}">
                <a16:creationId xmlns:a16="http://schemas.microsoft.com/office/drawing/2014/main" id="{522A9AA4-29D9-4322-AA0F-A0109FCDD918}"/>
              </a:ext>
            </a:extLst>
          </p:cNvPr>
          <p:cNvPicPr>
            <a:picLocks noChangeAspect="1"/>
          </p:cNvPicPr>
          <p:nvPr/>
        </p:nvPicPr>
        <p:blipFill rotWithShape="1">
          <a:blip r:embed="rId4">
            <a:extLst>
              <a:ext uri="{28A0092B-C50C-407E-A947-70E740481C1C}">
                <a14:useLocalDpi xmlns:a14="http://schemas.microsoft.com/office/drawing/2010/main" val="0"/>
              </a:ext>
            </a:extLst>
          </a:blip>
          <a:srcRect l="33436" t="-1" b="-4686"/>
          <a:stretch/>
        </p:blipFill>
        <p:spPr>
          <a:xfrm>
            <a:off x="6323325" y="3257409"/>
            <a:ext cx="5461000" cy="3019338"/>
          </a:xfrm>
          <a:prstGeom prst="rect">
            <a:avLst/>
          </a:prstGeom>
        </p:spPr>
      </p:pic>
      <p:sp>
        <p:nvSpPr>
          <p:cNvPr id="10" name="CaixaDeTexto 9">
            <a:extLst>
              <a:ext uri="{FF2B5EF4-FFF2-40B4-BE49-F238E27FC236}">
                <a16:creationId xmlns:a16="http://schemas.microsoft.com/office/drawing/2014/main" id="{EA27A375-B8E4-495E-ABE4-4F6AC9DADD6B}"/>
              </a:ext>
            </a:extLst>
          </p:cNvPr>
          <p:cNvSpPr txBox="1"/>
          <p:nvPr/>
        </p:nvSpPr>
        <p:spPr>
          <a:xfrm>
            <a:off x="1529502" y="1970693"/>
            <a:ext cx="3264320" cy="789447"/>
          </a:xfrm>
          <a:prstGeom prst="rect">
            <a:avLst/>
          </a:prstGeom>
          <a:noFill/>
        </p:spPr>
        <p:txBody>
          <a:bodyPr wrap="square" rtlCol="0">
            <a:spAutoFit/>
          </a:bodyPr>
          <a:lstStyle/>
          <a:p>
            <a:pPr algn="just">
              <a:lnSpc>
                <a:spcPct val="150000"/>
              </a:lnSpc>
            </a:pPr>
            <a:r>
              <a:rPr lang="pt-BR" sz="1600" i="1">
                <a:solidFill>
                  <a:schemeClr val="tx1">
                    <a:lumMod val="65000"/>
                  </a:schemeClr>
                </a:solidFill>
              </a:rPr>
              <a:t>Aumento do supply de dólares, mais impressão = inflação.</a:t>
            </a:r>
            <a:endParaRPr lang="pt-BR" sz="1400" i="1">
              <a:solidFill>
                <a:schemeClr val="tx1">
                  <a:lumMod val="65000"/>
                </a:schemeClr>
              </a:solidFill>
            </a:endParaRPr>
          </a:p>
        </p:txBody>
      </p:sp>
      <p:sp>
        <p:nvSpPr>
          <p:cNvPr id="11" name="CaixaDeTexto 10">
            <a:extLst>
              <a:ext uri="{FF2B5EF4-FFF2-40B4-BE49-F238E27FC236}">
                <a16:creationId xmlns:a16="http://schemas.microsoft.com/office/drawing/2014/main" id="{CD0F43C1-BB7D-4AB8-9090-0C14BE098773}"/>
              </a:ext>
            </a:extLst>
          </p:cNvPr>
          <p:cNvSpPr txBox="1"/>
          <p:nvPr/>
        </p:nvSpPr>
        <p:spPr>
          <a:xfrm>
            <a:off x="7398178" y="1970693"/>
            <a:ext cx="3264320" cy="789447"/>
          </a:xfrm>
          <a:prstGeom prst="rect">
            <a:avLst/>
          </a:prstGeom>
          <a:noFill/>
        </p:spPr>
        <p:txBody>
          <a:bodyPr wrap="square" rtlCol="0">
            <a:spAutoFit/>
          </a:bodyPr>
          <a:lstStyle/>
          <a:p>
            <a:pPr algn="just">
              <a:lnSpc>
                <a:spcPct val="150000"/>
              </a:lnSpc>
            </a:pPr>
            <a:r>
              <a:rPr lang="pt-BR" sz="1600" i="1">
                <a:solidFill>
                  <a:schemeClr val="tx1">
                    <a:lumMod val="65000"/>
                  </a:schemeClr>
                </a:solidFill>
              </a:rPr>
              <a:t>Valorização do Bitcoin no mesmo período.</a:t>
            </a:r>
            <a:endParaRPr lang="pt-BR" sz="1400" i="1">
              <a:solidFill>
                <a:schemeClr val="tx1">
                  <a:lumMod val="65000"/>
                </a:schemeClr>
              </a:solidFill>
            </a:endParaRPr>
          </a:p>
        </p:txBody>
      </p:sp>
      <p:sp>
        <p:nvSpPr>
          <p:cNvPr id="12" name="CaixaDeTexto 11">
            <a:extLst>
              <a:ext uri="{FF2B5EF4-FFF2-40B4-BE49-F238E27FC236}">
                <a16:creationId xmlns:a16="http://schemas.microsoft.com/office/drawing/2014/main" id="{D3BD58E1-026B-48E5-8B4D-F0795ECD1EC7}"/>
              </a:ext>
            </a:extLst>
          </p:cNvPr>
          <p:cNvSpPr txBox="1"/>
          <p:nvPr/>
        </p:nvSpPr>
        <p:spPr>
          <a:xfrm>
            <a:off x="10682996" y="174433"/>
            <a:ext cx="1237839" cy="461665"/>
          </a:xfrm>
          <a:prstGeom prst="rect">
            <a:avLst/>
          </a:prstGeom>
          <a:noFill/>
        </p:spPr>
        <p:txBody>
          <a:bodyPr wrap="none" rtlCol="0">
            <a:spAutoFit/>
          </a:bodyPr>
          <a:lstStyle/>
          <a:p>
            <a:r>
              <a:rPr lang="pt-BR" sz="2400">
                <a:solidFill>
                  <a:schemeClr val="tx1">
                    <a:lumMod val="50000"/>
                  </a:schemeClr>
                </a:solidFill>
              </a:rPr>
              <a:t>9 de 25</a:t>
            </a:r>
            <a:endParaRPr lang="pt-BR">
              <a:solidFill>
                <a:schemeClr val="tx1">
                  <a:lumMod val="50000"/>
                </a:schemeClr>
              </a:solidFill>
            </a:endParaRPr>
          </a:p>
        </p:txBody>
      </p:sp>
    </p:spTree>
    <p:extLst>
      <p:ext uri="{BB962C8B-B14F-4D97-AF65-F5344CB8AC3E}">
        <p14:creationId xmlns:p14="http://schemas.microsoft.com/office/powerpoint/2010/main" val="31067083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18662"/>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03441" y="521866"/>
            <a:ext cx="1896994" cy="707886"/>
          </a:xfrm>
          <a:prstGeom prst="rect">
            <a:avLst/>
          </a:prstGeom>
          <a:noFill/>
        </p:spPr>
        <p:txBody>
          <a:bodyPr wrap="none" rtlCol="0">
            <a:spAutoFit/>
          </a:bodyPr>
          <a:lstStyle/>
          <a:p>
            <a:r>
              <a:rPr lang="pt-BR" sz="4000">
                <a:solidFill>
                  <a:schemeClr val="tx1">
                    <a:lumMod val="50000"/>
                  </a:schemeClr>
                </a:solidFill>
              </a:rPr>
              <a:t>A ideia</a:t>
            </a:r>
            <a:r>
              <a:rPr lang="pt-BR" sz="3200">
                <a:solidFill>
                  <a:schemeClr val="tx1">
                    <a:lumMod val="50000"/>
                  </a:schemeClr>
                </a:solidFill>
              </a:rPr>
              <a:t> </a:t>
            </a:r>
          </a:p>
        </p:txBody>
      </p:sp>
      <p:sp>
        <p:nvSpPr>
          <p:cNvPr id="10" name="CaixaDeTexto 9">
            <a:extLst>
              <a:ext uri="{FF2B5EF4-FFF2-40B4-BE49-F238E27FC236}">
                <a16:creationId xmlns:a16="http://schemas.microsoft.com/office/drawing/2014/main" id="{EA27A375-B8E4-495E-ABE4-4F6AC9DADD6B}"/>
              </a:ext>
            </a:extLst>
          </p:cNvPr>
          <p:cNvSpPr txBox="1"/>
          <p:nvPr/>
        </p:nvSpPr>
        <p:spPr>
          <a:xfrm>
            <a:off x="1351938" y="1751618"/>
            <a:ext cx="9795724" cy="3964483"/>
          </a:xfrm>
          <a:prstGeom prst="rect">
            <a:avLst/>
          </a:prstGeom>
          <a:noFill/>
        </p:spPr>
        <p:txBody>
          <a:bodyPr wrap="square" rtlCol="0">
            <a:spAutoFit/>
          </a:bodyPr>
          <a:lstStyle/>
          <a:p>
            <a:pPr algn="just">
              <a:lnSpc>
                <a:spcPct val="150000"/>
              </a:lnSpc>
            </a:pPr>
            <a:r>
              <a:rPr lang="pt-BR" sz="2000" i="1">
                <a:solidFill>
                  <a:schemeClr val="tx1">
                    <a:lumMod val="65000"/>
                  </a:schemeClr>
                </a:solidFill>
              </a:rPr>
              <a:t>Mas não basta ter os insights, é preciso ter a aceitação do mercado.</a:t>
            </a:r>
          </a:p>
          <a:p>
            <a:pPr algn="just">
              <a:lnSpc>
                <a:spcPct val="150000"/>
              </a:lnSpc>
            </a:pPr>
            <a:endParaRPr lang="pt-BR" sz="1000" i="1">
              <a:solidFill>
                <a:schemeClr val="tx1">
                  <a:lumMod val="65000"/>
                </a:schemeClr>
              </a:solidFill>
            </a:endParaRPr>
          </a:p>
          <a:p>
            <a:pPr algn="just">
              <a:lnSpc>
                <a:spcPct val="150000"/>
              </a:lnSpc>
            </a:pPr>
            <a:r>
              <a:rPr lang="pt-BR" sz="2000" i="1">
                <a:solidFill>
                  <a:schemeClr val="tx1">
                    <a:lumMod val="65000"/>
                  </a:schemeClr>
                </a:solidFill>
              </a:rPr>
              <a:t> E, na minha opinião como músico, eu supus que esse estímulo seria muito provocante e dificilmente ignorado pelos músicos, justamente, pela viabilidade econômica e a possibilidade de uma renda alternativa.</a:t>
            </a:r>
          </a:p>
          <a:p>
            <a:pPr algn="just">
              <a:lnSpc>
                <a:spcPct val="150000"/>
              </a:lnSpc>
            </a:pPr>
            <a:endParaRPr lang="pt-BR" sz="2000" i="1">
              <a:solidFill>
                <a:schemeClr val="tx1">
                  <a:lumMod val="65000"/>
                </a:schemeClr>
              </a:solidFill>
            </a:endParaRPr>
          </a:p>
          <a:p>
            <a:pPr algn="just">
              <a:lnSpc>
                <a:spcPct val="150000"/>
              </a:lnSpc>
            </a:pPr>
            <a:r>
              <a:rPr lang="pt-BR" sz="2000" i="1">
                <a:solidFill>
                  <a:schemeClr val="tx1">
                    <a:lumMod val="65000"/>
                  </a:schemeClr>
                </a:solidFill>
              </a:rPr>
              <a:t>Realizei entrevistas com o público consumidor e músico para testar seus conhecimentos e crenças com respeito à primeira arte e à indústria da música...</a:t>
            </a:r>
          </a:p>
          <a:p>
            <a:pPr algn="just">
              <a:lnSpc>
                <a:spcPct val="150000"/>
              </a:lnSpc>
            </a:pPr>
            <a:endParaRPr lang="pt-BR" sz="2000" i="1">
              <a:solidFill>
                <a:schemeClr val="tx1">
                  <a:lumMod val="65000"/>
                </a:schemeClr>
              </a:solidFill>
            </a:endParaRPr>
          </a:p>
        </p:txBody>
      </p:sp>
      <p:sp>
        <p:nvSpPr>
          <p:cNvPr id="9" name="CaixaDeTexto 8">
            <a:extLst>
              <a:ext uri="{FF2B5EF4-FFF2-40B4-BE49-F238E27FC236}">
                <a16:creationId xmlns:a16="http://schemas.microsoft.com/office/drawing/2014/main" id="{6A712E65-F368-4028-9373-7B26D477D5D6}"/>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10 de 25</a:t>
            </a:r>
            <a:endParaRPr lang="pt-BR">
              <a:solidFill>
                <a:schemeClr val="tx1">
                  <a:lumMod val="50000"/>
                </a:schemeClr>
              </a:solidFill>
            </a:endParaRPr>
          </a:p>
        </p:txBody>
      </p:sp>
    </p:spTree>
    <p:extLst>
      <p:ext uri="{BB962C8B-B14F-4D97-AF65-F5344CB8AC3E}">
        <p14:creationId xmlns:p14="http://schemas.microsoft.com/office/powerpoint/2010/main" val="1764915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pic>
        <p:nvPicPr>
          <p:cNvPr id="3" name="Imagem 2" descr="Pessoas andando na praia com uma montanha ao fundo&#10;&#10;Descrição gerada automaticamente">
            <a:extLst>
              <a:ext uri="{FF2B5EF4-FFF2-40B4-BE49-F238E27FC236}">
                <a16:creationId xmlns:a16="http://schemas.microsoft.com/office/drawing/2014/main" id="{2082B3E3-426B-4A9E-93FB-168E74C5DE24}"/>
              </a:ext>
            </a:extLst>
          </p:cNvPr>
          <p:cNvPicPr>
            <a:picLocks noChangeAspect="1"/>
          </p:cNvPicPr>
          <p:nvPr/>
        </p:nvPicPr>
        <p:blipFill>
          <a:blip r:embed="rId3">
            <a:duotone>
              <a:prstClr val="black"/>
              <a:srgbClr val="D9C3A5">
                <a:tint val="50000"/>
                <a:satMod val="180000"/>
              </a:srgbClr>
            </a:duotone>
            <a:extLst>
              <a:ext uri="{28A0092B-C50C-407E-A947-70E740481C1C}">
                <a14:useLocalDpi xmlns:a14="http://schemas.microsoft.com/office/drawing/2010/main" val="0"/>
              </a:ext>
            </a:extLst>
          </a:blip>
          <a:stretch>
            <a:fillRect/>
          </a:stretch>
        </p:blipFill>
        <p:spPr>
          <a:xfrm>
            <a:off x="0" y="256046"/>
            <a:ext cx="12191999" cy="6345907"/>
          </a:xfrm>
          <a:prstGeom prst="rect">
            <a:avLst/>
          </a:pr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019252" y="5924195"/>
            <a:ext cx="8030403" cy="707886"/>
          </a:xfrm>
          <a:prstGeom prst="rect">
            <a:avLst/>
          </a:prstGeom>
          <a:noFill/>
        </p:spPr>
        <p:txBody>
          <a:bodyPr wrap="none" rtlCol="0">
            <a:spAutoFit/>
          </a:bodyPr>
          <a:lstStyle/>
          <a:p>
            <a:r>
              <a:rPr lang="pt-BR" sz="4000">
                <a:solidFill>
                  <a:schemeClr val="tx1">
                    <a:lumMod val="50000"/>
                  </a:schemeClr>
                </a:solidFill>
              </a:rPr>
              <a:t>A vida sem música seria um exílio.</a:t>
            </a:r>
            <a:endParaRPr lang="pt-BR" sz="3200">
              <a:solidFill>
                <a:schemeClr val="tx1">
                  <a:lumMod val="50000"/>
                </a:schemeClr>
              </a:solidFill>
            </a:endParaRPr>
          </a:p>
        </p:txBody>
      </p:sp>
    </p:spTree>
    <p:extLst>
      <p:ext uri="{BB962C8B-B14F-4D97-AF65-F5344CB8AC3E}">
        <p14:creationId xmlns:p14="http://schemas.microsoft.com/office/powerpoint/2010/main" val="28814393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03441" y="521866"/>
            <a:ext cx="9409755" cy="707886"/>
          </a:xfrm>
          <a:prstGeom prst="rect">
            <a:avLst/>
          </a:prstGeom>
          <a:noFill/>
        </p:spPr>
        <p:txBody>
          <a:bodyPr wrap="none" rtlCol="0">
            <a:spAutoFit/>
          </a:bodyPr>
          <a:lstStyle/>
          <a:p>
            <a:r>
              <a:rPr lang="pt-BR" sz="4000">
                <a:solidFill>
                  <a:schemeClr val="tx1">
                    <a:lumMod val="50000"/>
                  </a:schemeClr>
                </a:solidFill>
              </a:rPr>
              <a:t>Personas e Canvas de Proposta de Valor</a:t>
            </a:r>
            <a:endParaRPr lang="pt-BR" sz="3200">
              <a:solidFill>
                <a:schemeClr val="tx1">
                  <a:lumMod val="50000"/>
                </a:schemeClr>
              </a:solidFill>
            </a:endParaRPr>
          </a:p>
        </p:txBody>
      </p:sp>
      <p:pic>
        <p:nvPicPr>
          <p:cNvPr id="5" name="Imagem 4">
            <a:extLst>
              <a:ext uri="{FF2B5EF4-FFF2-40B4-BE49-F238E27FC236}">
                <a16:creationId xmlns:a16="http://schemas.microsoft.com/office/drawing/2014/main" id="{67869484-3199-4E58-87D0-1C0CA1E0E5B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56794" y="1374805"/>
            <a:ext cx="9283268" cy="5196100"/>
          </a:xfrm>
          <a:prstGeom prst="rect">
            <a:avLst/>
          </a:prstGeom>
          <a:noFill/>
          <a:ln>
            <a:noFill/>
          </a:ln>
        </p:spPr>
      </p:pic>
      <p:sp>
        <p:nvSpPr>
          <p:cNvPr id="7" name="CaixaDeTexto 6">
            <a:extLst>
              <a:ext uri="{FF2B5EF4-FFF2-40B4-BE49-F238E27FC236}">
                <a16:creationId xmlns:a16="http://schemas.microsoft.com/office/drawing/2014/main" id="{6500C225-2D14-43D5-A11F-1C24EB3ED742}"/>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12 de 25</a:t>
            </a:r>
            <a:endParaRPr lang="pt-BR">
              <a:solidFill>
                <a:schemeClr val="tx1">
                  <a:lumMod val="50000"/>
                </a:schemeClr>
              </a:solidFill>
            </a:endParaRPr>
          </a:p>
        </p:txBody>
      </p:sp>
    </p:spTree>
    <p:extLst>
      <p:ext uri="{BB962C8B-B14F-4D97-AF65-F5344CB8AC3E}">
        <p14:creationId xmlns:p14="http://schemas.microsoft.com/office/powerpoint/2010/main" val="40326558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03441" y="521866"/>
            <a:ext cx="9409755" cy="707886"/>
          </a:xfrm>
          <a:prstGeom prst="rect">
            <a:avLst/>
          </a:prstGeom>
          <a:noFill/>
        </p:spPr>
        <p:txBody>
          <a:bodyPr wrap="none" rtlCol="0">
            <a:spAutoFit/>
          </a:bodyPr>
          <a:lstStyle/>
          <a:p>
            <a:r>
              <a:rPr lang="pt-BR" sz="4000">
                <a:solidFill>
                  <a:schemeClr val="tx1">
                    <a:lumMod val="50000"/>
                  </a:schemeClr>
                </a:solidFill>
              </a:rPr>
              <a:t>Personas e Canvas de Proposta de Valor</a:t>
            </a:r>
            <a:endParaRPr lang="pt-BR" sz="3200">
              <a:solidFill>
                <a:schemeClr val="tx1">
                  <a:lumMod val="50000"/>
                </a:schemeClr>
              </a:solidFill>
            </a:endParaRPr>
          </a:p>
        </p:txBody>
      </p:sp>
      <p:pic>
        <p:nvPicPr>
          <p:cNvPr id="7" name="Imagem 6">
            <a:extLst>
              <a:ext uri="{FF2B5EF4-FFF2-40B4-BE49-F238E27FC236}">
                <a16:creationId xmlns:a16="http://schemas.microsoft.com/office/drawing/2014/main" id="{5F694CA2-6AAE-4EB4-9D22-191D0FBC638A}"/>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91123" y="1429155"/>
            <a:ext cx="9409754" cy="5104810"/>
          </a:xfrm>
          <a:prstGeom prst="rect">
            <a:avLst/>
          </a:prstGeom>
          <a:noFill/>
          <a:ln>
            <a:noFill/>
          </a:ln>
        </p:spPr>
      </p:pic>
      <p:sp>
        <p:nvSpPr>
          <p:cNvPr id="8" name="CaixaDeTexto 7">
            <a:extLst>
              <a:ext uri="{FF2B5EF4-FFF2-40B4-BE49-F238E27FC236}">
                <a16:creationId xmlns:a16="http://schemas.microsoft.com/office/drawing/2014/main" id="{A7588F8A-73A4-471D-8D6D-FD98ACABC5EE}"/>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13 de 25</a:t>
            </a:r>
            <a:endParaRPr lang="pt-BR">
              <a:solidFill>
                <a:schemeClr val="tx1">
                  <a:lumMod val="50000"/>
                </a:schemeClr>
              </a:solidFill>
            </a:endParaRPr>
          </a:p>
        </p:txBody>
      </p:sp>
    </p:spTree>
    <p:extLst>
      <p:ext uri="{BB962C8B-B14F-4D97-AF65-F5344CB8AC3E}">
        <p14:creationId xmlns:p14="http://schemas.microsoft.com/office/powerpoint/2010/main" val="35642429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03441" y="521866"/>
            <a:ext cx="4544899" cy="707886"/>
          </a:xfrm>
          <a:prstGeom prst="rect">
            <a:avLst/>
          </a:prstGeom>
          <a:noFill/>
        </p:spPr>
        <p:txBody>
          <a:bodyPr wrap="none" rtlCol="0">
            <a:spAutoFit/>
          </a:bodyPr>
          <a:lstStyle/>
          <a:p>
            <a:r>
              <a:rPr lang="pt-BR" sz="4000">
                <a:solidFill>
                  <a:schemeClr val="tx1">
                    <a:lumMod val="50000"/>
                  </a:schemeClr>
                </a:solidFill>
              </a:rPr>
              <a:t>Personas - Músicos</a:t>
            </a:r>
            <a:endParaRPr lang="pt-BR" sz="3200">
              <a:solidFill>
                <a:schemeClr val="tx1">
                  <a:lumMod val="50000"/>
                </a:schemeClr>
              </a:solidFill>
            </a:endParaRPr>
          </a:p>
        </p:txBody>
      </p:sp>
      <p:sp>
        <p:nvSpPr>
          <p:cNvPr id="10" name="CaixaDeTexto 9">
            <a:extLst>
              <a:ext uri="{FF2B5EF4-FFF2-40B4-BE49-F238E27FC236}">
                <a16:creationId xmlns:a16="http://schemas.microsoft.com/office/drawing/2014/main" id="{EA27A375-B8E4-495E-ABE4-4F6AC9DADD6B}"/>
              </a:ext>
            </a:extLst>
          </p:cNvPr>
          <p:cNvSpPr txBox="1"/>
          <p:nvPr/>
        </p:nvSpPr>
        <p:spPr>
          <a:xfrm>
            <a:off x="1313548" y="1599048"/>
            <a:ext cx="9795724" cy="4001288"/>
          </a:xfrm>
          <a:prstGeom prst="rect">
            <a:avLst/>
          </a:prstGeom>
          <a:noFill/>
        </p:spPr>
        <p:txBody>
          <a:bodyPr wrap="square" rtlCol="0">
            <a:spAutoFit/>
          </a:bodyPr>
          <a:lstStyle/>
          <a:p>
            <a:pPr algn="just">
              <a:lnSpc>
                <a:spcPct val="115000"/>
              </a:lnSpc>
            </a:pPr>
            <a:r>
              <a:rPr lang="pt-BR" sz="1800">
                <a:solidFill>
                  <a:schemeClr val="tx1">
                    <a:lumMod val="65000"/>
                  </a:schemeClr>
                </a:solidFill>
                <a:effectLst/>
                <a:latin typeface="Arial" panose="020B0604020202020204" pitchFamily="34" charset="0"/>
                <a:ea typeface="Arial" panose="020B0604020202020204" pitchFamily="34" charset="0"/>
              </a:rPr>
              <a:t>1.3. Possui alguma banda ou grupo de apresentação? Se sim, está satisfeito com sua situação financeira ou fama?</a:t>
            </a:r>
            <a:endParaRPr lang="pt-BR" sz="1800">
              <a:solidFill>
                <a:schemeClr val="tx1">
                  <a:lumMod val="65000"/>
                </a:schemeClr>
              </a:solidFill>
              <a:effectLst/>
              <a:latin typeface="Times New Roman" panose="02020603050405020304" pitchFamily="18" charset="0"/>
              <a:ea typeface="Times New Roman" panose="02020603050405020304" pitchFamily="18" charset="0"/>
            </a:endParaRPr>
          </a:p>
          <a:p>
            <a:pPr algn="just">
              <a:lnSpc>
                <a:spcPct val="115000"/>
              </a:lnSpc>
            </a:pPr>
            <a:endParaRPr lang="pt-BR" sz="1400">
              <a:effectLst/>
              <a:latin typeface="Times New Roman" panose="02020603050405020304" pitchFamily="18" charset="0"/>
              <a:ea typeface="Times New Roman" panose="02020603050405020304" pitchFamily="18" charset="0"/>
            </a:endParaRPr>
          </a:p>
          <a:p>
            <a:pPr algn="just">
              <a:lnSpc>
                <a:spcPct val="115000"/>
              </a:lnSpc>
            </a:pPr>
            <a:r>
              <a:rPr lang="pt-BR" sz="1200" i="1">
                <a:solidFill>
                  <a:schemeClr val="tx1">
                    <a:lumMod val="65000"/>
                  </a:schemeClr>
                </a:solidFill>
                <a:effectLst/>
                <a:latin typeface="Arial" panose="020B0604020202020204" pitchFamily="34" charset="0"/>
                <a:ea typeface="Arial" panose="020B0604020202020204" pitchFamily="34" charset="0"/>
              </a:rPr>
              <a:t>- Minha banda principal existe desde 1999, a Solution Orchestra, é um grupo de muito sucesso. Devido à pandemia, está tudo parado e a situação financeira é péssima, em termos de fama, acredito que a banda conquistou uma fatia significativa do mercado.</a:t>
            </a:r>
          </a:p>
          <a:p>
            <a:pPr algn="just">
              <a:lnSpc>
                <a:spcPct val="115000"/>
              </a:lnSpc>
            </a:pPr>
            <a:endParaRPr lang="pt-BR" sz="1200" i="1">
              <a:solidFill>
                <a:schemeClr val="tx1">
                  <a:lumMod val="65000"/>
                </a:schemeClr>
              </a:solidFill>
              <a:effectLst/>
              <a:latin typeface="Arial" panose="020B0604020202020204" pitchFamily="34" charset="0"/>
              <a:ea typeface="Arial" panose="020B0604020202020204" pitchFamily="34" charset="0"/>
            </a:endParaRPr>
          </a:p>
          <a:p>
            <a:pPr algn="just">
              <a:lnSpc>
                <a:spcPct val="115000"/>
              </a:lnSpc>
            </a:pPr>
            <a:r>
              <a:rPr lang="pt-BR" sz="1100">
                <a:solidFill>
                  <a:schemeClr val="tx1">
                    <a:lumMod val="65000"/>
                  </a:schemeClr>
                </a:solidFill>
                <a:effectLst/>
                <a:latin typeface="Times New Roman" panose="02020603050405020304" pitchFamily="18" charset="0"/>
                <a:ea typeface="Times New Roman" panose="02020603050405020304" pitchFamily="18" charset="0"/>
              </a:rPr>
              <a:t>- </a:t>
            </a:r>
            <a:r>
              <a:rPr lang="pt-BR" sz="1200" i="1">
                <a:solidFill>
                  <a:schemeClr val="tx1">
                    <a:lumMod val="65000"/>
                  </a:schemeClr>
                </a:solidFill>
                <a:effectLst/>
                <a:latin typeface="Arial" panose="020B0604020202020204" pitchFamily="34" charset="0"/>
                <a:ea typeface="Arial" panose="020B0604020202020204" pitchFamily="34" charset="0"/>
              </a:rPr>
              <a:t>Como tinha dito, tenho uma banda de rock chamada Terra de Ninguém, mas a gente está muito no começo ainda. Nem lançamos Single, Álbum, ou alguma coisa nesse sentido. Tocamos muito pouco ao vivo devido a pandemia e o material que estamos tentando alavanca se resume a pequenas produções para clipes amadores no IGTV do nosso Instagram. A resposta tem sido boa até agora. Mas a banda não dá nenhum retorno financeiro por enquanto. Apesar disso, tenho boas expectativas para o futuro dela.</a:t>
            </a:r>
            <a:endParaRPr lang="pt-BR" sz="1400">
              <a:solidFill>
                <a:schemeClr val="tx1">
                  <a:lumMod val="65000"/>
                </a:schemeClr>
              </a:solidFill>
              <a:effectLst/>
              <a:latin typeface="Times New Roman" panose="02020603050405020304" pitchFamily="18" charset="0"/>
              <a:ea typeface="Times New Roman" panose="02020603050405020304" pitchFamily="18" charset="0"/>
            </a:endParaRPr>
          </a:p>
          <a:p>
            <a:pPr algn="just">
              <a:lnSpc>
                <a:spcPct val="115000"/>
              </a:lnSpc>
            </a:pPr>
            <a:endParaRPr lang="pt-BR" sz="1200">
              <a:solidFill>
                <a:schemeClr val="tx1">
                  <a:lumMod val="65000"/>
                </a:schemeClr>
              </a:solidFill>
              <a:effectLst/>
              <a:latin typeface="Times New Roman" panose="02020603050405020304" pitchFamily="18" charset="0"/>
              <a:ea typeface="Times New Roman" panose="02020603050405020304" pitchFamily="18" charset="0"/>
            </a:endParaRPr>
          </a:p>
          <a:p>
            <a:pPr algn="just">
              <a:lnSpc>
                <a:spcPct val="115000"/>
              </a:lnSpc>
            </a:pPr>
            <a:r>
              <a:rPr lang="pt-BR" sz="1200">
                <a:solidFill>
                  <a:schemeClr val="tx1">
                    <a:lumMod val="65000"/>
                  </a:schemeClr>
                </a:solidFill>
                <a:latin typeface="Times New Roman" panose="02020603050405020304" pitchFamily="18" charset="0"/>
                <a:ea typeface="Times New Roman" panose="02020603050405020304" pitchFamily="18" charset="0"/>
              </a:rPr>
              <a:t>- </a:t>
            </a:r>
            <a:r>
              <a:rPr lang="pt-BR" sz="1200" i="1">
                <a:solidFill>
                  <a:schemeClr val="tx1">
                    <a:lumMod val="65000"/>
                  </a:schemeClr>
                </a:solidFill>
                <a:effectLst/>
                <a:latin typeface="Arial" panose="020B0604020202020204" pitchFamily="34" charset="0"/>
                <a:ea typeface="Arial" panose="020B0604020202020204" pitchFamily="34" charset="0"/>
              </a:rPr>
              <a:t>Neste momento, estou com minha banda bastante em low-profile (discreto) neste momento de pandemia, então estamos ensaiando. Não, não estou satisfeito com minha situação financeira, este evento tem prejudicado muito a todos os músicos, estamos sem nos apresentar a mais de um ano; isso atrapalha nossa vida financeira e social, nosso envolvimento com músicos e fãs, portanto, com pessoas que nos financiam. Temos problemas financeiros relacionadas à sobrevivência diária e, também, à manutenção dos nossos instrumentos.</a:t>
            </a:r>
            <a:endParaRPr lang="pt-BR" sz="1200">
              <a:solidFill>
                <a:schemeClr val="tx1">
                  <a:lumMod val="65000"/>
                </a:schemeClr>
              </a:solidFill>
              <a:effectLst/>
              <a:latin typeface="Times New Roman" panose="02020603050405020304" pitchFamily="18" charset="0"/>
              <a:ea typeface="Times New Roman" panose="02020603050405020304" pitchFamily="18" charset="0"/>
            </a:endParaRPr>
          </a:p>
          <a:p>
            <a:pPr algn="just">
              <a:lnSpc>
                <a:spcPct val="115000"/>
              </a:lnSpc>
            </a:pPr>
            <a:endParaRPr lang="pt-BR" sz="1400">
              <a:effectLst/>
              <a:latin typeface="Times New Roman" panose="02020603050405020304" pitchFamily="18" charset="0"/>
              <a:ea typeface="Times New Roman" panose="02020603050405020304" pitchFamily="18" charset="0"/>
            </a:endParaRPr>
          </a:p>
          <a:p>
            <a:pPr algn="just">
              <a:lnSpc>
                <a:spcPct val="115000"/>
              </a:lnSpc>
            </a:pPr>
            <a:endParaRPr lang="pt-BR" sz="1400">
              <a:effectLst/>
              <a:latin typeface="Times New Roman" panose="02020603050405020304" pitchFamily="18" charset="0"/>
              <a:ea typeface="Times New Roman" panose="02020603050405020304" pitchFamily="18" charset="0"/>
            </a:endParaRPr>
          </a:p>
        </p:txBody>
      </p:sp>
      <p:sp>
        <p:nvSpPr>
          <p:cNvPr id="5" name="CaixaDeTexto 4">
            <a:extLst>
              <a:ext uri="{FF2B5EF4-FFF2-40B4-BE49-F238E27FC236}">
                <a16:creationId xmlns:a16="http://schemas.microsoft.com/office/drawing/2014/main" id="{CA537998-FD1E-4520-9597-BE4904761780}"/>
              </a:ext>
            </a:extLst>
          </p:cNvPr>
          <p:cNvSpPr txBox="1"/>
          <p:nvPr/>
        </p:nvSpPr>
        <p:spPr>
          <a:xfrm>
            <a:off x="1313548" y="5372472"/>
            <a:ext cx="9795724" cy="963662"/>
          </a:xfrm>
          <a:prstGeom prst="rect">
            <a:avLst/>
          </a:prstGeom>
          <a:noFill/>
        </p:spPr>
        <p:txBody>
          <a:bodyPr wrap="square" rtlCol="0">
            <a:spAutoFit/>
          </a:bodyPr>
          <a:lstStyle/>
          <a:p>
            <a:pPr algn="just">
              <a:lnSpc>
                <a:spcPct val="150000"/>
              </a:lnSpc>
            </a:pPr>
            <a:r>
              <a:rPr lang="pt-BR" sz="2000" i="1">
                <a:solidFill>
                  <a:schemeClr val="tx1">
                    <a:lumMod val="65000"/>
                  </a:schemeClr>
                </a:solidFill>
              </a:rPr>
              <a:t>Há procura por meios de se vender e se aproximar do seu público. É tanto uma busca por parte dos músicos quanto dos seus ouvintes.</a:t>
            </a:r>
          </a:p>
        </p:txBody>
      </p:sp>
      <p:sp>
        <p:nvSpPr>
          <p:cNvPr id="7" name="CaixaDeTexto 6">
            <a:extLst>
              <a:ext uri="{FF2B5EF4-FFF2-40B4-BE49-F238E27FC236}">
                <a16:creationId xmlns:a16="http://schemas.microsoft.com/office/drawing/2014/main" id="{6184DA7D-7CBD-404A-A266-182679FFB46E}"/>
              </a:ext>
            </a:extLst>
          </p:cNvPr>
          <p:cNvSpPr txBox="1"/>
          <p:nvPr/>
        </p:nvSpPr>
        <p:spPr>
          <a:xfrm>
            <a:off x="8635453" y="1077182"/>
            <a:ext cx="2473819" cy="400110"/>
          </a:xfrm>
          <a:prstGeom prst="rect">
            <a:avLst/>
          </a:prstGeom>
          <a:noFill/>
        </p:spPr>
        <p:txBody>
          <a:bodyPr wrap="none" rtlCol="0">
            <a:spAutoFit/>
          </a:bodyPr>
          <a:lstStyle/>
          <a:p>
            <a:r>
              <a:rPr lang="pt-BR" sz="2000">
                <a:solidFill>
                  <a:schemeClr val="tx1">
                    <a:lumMod val="50000"/>
                  </a:schemeClr>
                </a:solidFill>
              </a:rPr>
              <a:t>Questões de Rotina</a:t>
            </a:r>
            <a:endParaRPr lang="pt-BR" sz="1600">
              <a:solidFill>
                <a:schemeClr val="tx1">
                  <a:lumMod val="50000"/>
                </a:schemeClr>
              </a:solidFill>
            </a:endParaRPr>
          </a:p>
        </p:txBody>
      </p:sp>
      <p:sp>
        <p:nvSpPr>
          <p:cNvPr id="8" name="CaixaDeTexto 7">
            <a:extLst>
              <a:ext uri="{FF2B5EF4-FFF2-40B4-BE49-F238E27FC236}">
                <a16:creationId xmlns:a16="http://schemas.microsoft.com/office/drawing/2014/main" id="{903BC595-7601-405F-B2A6-3F8BD8334F4B}"/>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14 de 25</a:t>
            </a:r>
            <a:endParaRPr lang="pt-BR">
              <a:solidFill>
                <a:schemeClr val="tx1">
                  <a:lumMod val="50000"/>
                </a:schemeClr>
              </a:solidFill>
            </a:endParaRPr>
          </a:p>
        </p:txBody>
      </p:sp>
    </p:spTree>
    <p:extLst>
      <p:ext uri="{BB962C8B-B14F-4D97-AF65-F5344CB8AC3E}">
        <p14:creationId xmlns:p14="http://schemas.microsoft.com/office/powerpoint/2010/main" val="20876867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03441" y="521866"/>
            <a:ext cx="4544899" cy="707886"/>
          </a:xfrm>
          <a:prstGeom prst="rect">
            <a:avLst/>
          </a:prstGeom>
          <a:noFill/>
        </p:spPr>
        <p:txBody>
          <a:bodyPr wrap="none" rtlCol="0">
            <a:spAutoFit/>
          </a:bodyPr>
          <a:lstStyle/>
          <a:p>
            <a:r>
              <a:rPr lang="pt-BR" sz="4000">
                <a:solidFill>
                  <a:schemeClr val="tx1">
                    <a:lumMod val="50000"/>
                  </a:schemeClr>
                </a:solidFill>
              </a:rPr>
              <a:t>Personas - Músicos</a:t>
            </a:r>
            <a:endParaRPr lang="pt-BR" sz="3200">
              <a:solidFill>
                <a:schemeClr val="tx1">
                  <a:lumMod val="50000"/>
                </a:schemeClr>
              </a:solidFill>
            </a:endParaRPr>
          </a:p>
        </p:txBody>
      </p:sp>
      <p:sp>
        <p:nvSpPr>
          <p:cNvPr id="10" name="CaixaDeTexto 9">
            <a:extLst>
              <a:ext uri="{FF2B5EF4-FFF2-40B4-BE49-F238E27FC236}">
                <a16:creationId xmlns:a16="http://schemas.microsoft.com/office/drawing/2014/main" id="{EA27A375-B8E4-495E-ABE4-4F6AC9DADD6B}"/>
              </a:ext>
            </a:extLst>
          </p:cNvPr>
          <p:cNvSpPr txBox="1"/>
          <p:nvPr/>
        </p:nvSpPr>
        <p:spPr>
          <a:xfrm>
            <a:off x="1351938" y="1751618"/>
            <a:ext cx="9795724" cy="3133487"/>
          </a:xfrm>
          <a:prstGeom prst="rect">
            <a:avLst/>
          </a:prstGeom>
          <a:noFill/>
        </p:spPr>
        <p:txBody>
          <a:bodyPr wrap="square" rtlCol="0">
            <a:spAutoFit/>
          </a:bodyPr>
          <a:lstStyle/>
          <a:p>
            <a:pPr algn="just">
              <a:lnSpc>
                <a:spcPct val="150000"/>
              </a:lnSpc>
            </a:pPr>
            <a:r>
              <a:rPr lang="pt-BR" sz="1800">
                <a:solidFill>
                  <a:schemeClr val="tx1">
                    <a:lumMod val="65000"/>
                  </a:schemeClr>
                </a:solidFill>
                <a:effectLst/>
                <a:latin typeface="Arial" panose="020B0604020202020204" pitchFamily="34" charset="0"/>
                <a:ea typeface="Arial" panose="020B0604020202020204" pitchFamily="34" charset="0"/>
              </a:rPr>
              <a:t>2.2. Acredita que a remuneração pelo seu trabalho é decente?</a:t>
            </a:r>
            <a:endParaRPr lang="pt-BR" sz="1800">
              <a:solidFill>
                <a:schemeClr val="tx1">
                  <a:lumMod val="65000"/>
                </a:schemeClr>
              </a:solidFill>
              <a:effectLst/>
              <a:latin typeface="Times New Roman" panose="02020603050405020304" pitchFamily="18" charset="0"/>
              <a:ea typeface="Times New Roman" panose="02020603050405020304" pitchFamily="18" charset="0"/>
            </a:endParaRPr>
          </a:p>
          <a:p>
            <a:pPr algn="just">
              <a:lnSpc>
                <a:spcPct val="150000"/>
              </a:lnSpc>
            </a:pPr>
            <a:endParaRPr lang="pt-BR" sz="2000" i="1">
              <a:solidFill>
                <a:schemeClr val="tx1">
                  <a:lumMod val="65000"/>
                </a:schemeClr>
              </a:solidFill>
            </a:endParaRPr>
          </a:p>
          <a:p>
            <a:pPr algn="just">
              <a:lnSpc>
                <a:spcPct val="150000"/>
              </a:lnSpc>
            </a:pPr>
            <a:r>
              <a:rPr lang="pt-BR" sz="1400" i="1">
                <a:solidFill>
                  <a:schemeClr val="tx1">
                    <a:lumMod val="65000"/>
                  </a:schemeClr>
                </a:solidFill>
                <a:effectLst/>
                <a:latin typeface="Arial" panose="020B0604020202020204" pitchFamily="34" charset="0"/>
                <a:ea typeface="Arial" panose="020B0604020202020204" pitchFamily="34" charset="0"/>
              </a:rPr>
              <a:t>- Pelo meu trabalho na Solution, eu diria que sim. Mas antecipo que, no geral, a remuneração de músicos é péssima.</a:t>
            </a:r>
            <a:endParaRPr lang="pt-BR" sz="1400">
              <a:solidFill>
                <a:schemeClr val="tx1">
                  <a:lumMod val="65000"/>
                </a:schemeClr>
              </a:solidFill>
              <a:effectLst/>
              <a:latin typeface="Times New Roman" panose="02020603050405020304" pitchFamily="18" charset="0"/>
              <a:ea typeface="Times New Roman" panose="02020603050405020304" pitchFamily="18" charset="0"/>
            </a:endParaRPr>
          </a:p>
          <a:p>
            <a:pPr algn="just">
              <a:lnSpc>
                <a:spcPct val="150000"/>
              </a:lnSpc>
            </a:pPr>
            <a:endParaRPr lang="pt-BR" sz="1600" i="1">
              <a:solidFill>
                <a:schemeClr val="tx1">
                  <a:lumMod val="65000"/>
                </a:schemeClr>
              </a:solidFill>
            </a:endParaRPr>
          </a:p>
          <a:p>
            <a:pPr algn="just">
              <a:lnSpc>
                <a:spcPct val="150000"/>
              </a:lnSpc>
            </a:pPr>
            <a:r>
              <a:rPr lang="pt-BR" sz="1400" i="1">
                <a:solidFill>
                  <a:schemeClr val="tx1">
                    <a:lumMod val="65000"/>
                  </a:schemeClr>
                </a:solidFill>
                <a:latin typeface="Arial" panose="020B0604020202020204" pitchFamily="34" charset="0"/>
                <a:ea typeface="Arial" panose="020B0604020202020204" pitchFamily="34" charset="0"/>
              </a:rPr>
              <a:t>- </a:t>
            </a:r>
            <a:r>
              <a:rPr lang="pt-BR" sz="1400" i="1">
                <a:solidFill>
                  <a:schemeClr val="tx1">
                    <a:lumMod val="65000"/>
                  </a:schemeClr>
                </a:solidFill>
                <a:effectLst/>
                <a:latin typeface="Arial" panose="020B0604020202020204" pitchFamily="34" charset="0"/>
                <a:ea typeface="Arial" panose="020B0604020202020204" pitchFamily="34" charset="0"/>
              </a:rPr>
              <a:t>É claro, apesar de reconhecer que ter retorno financeiro com uma banda independente é bem difícil.</a:t>
            </a:r>
            <a:endParaRPr lang="pt-BR" sz="1400">
              <a:solidFill>
                <a:schemeClr val="tx1">
                  <a:lumMod val="65000"/>
                </a:schemeClr>
              </a:solidFill>
              <a:effectLst/>
              <a:latin typeface="Times New Roman" panose="02020603050405020304" pitchFamily="18" charset="0"/>
              <a:ea typeface="Times New Roman" panose="02020603050405020304" pitchFamily="18" charset="0"/>
            </a:endParaRPr>
          </a:p>
          <a:p>
            <a:pPr algn="just">
              <a:lnSpc>
                <a:spcPct val="150000"/>
              </a:lnSpc>
            </a:pPr>
            <a:endParaRPr lang="pt-BR" sz="1600" i="1">
              <a:solidFill>
                <a:schemeClr val="tx1">
                  <a:lumMod val="65000"/>
                </a:schemeClr>
              </a:solidFill>
            </a:endParaRPr>
          </a:p>
          <a:p>
            <a:pPr algn="just">
              <a:lnSpc>
                <a:spcPct val="150000"/>
              </a:lnSpc>
            </a:pPr>
            <a:r>
              <a:rPr lang="pt-BR" sz="1400" i="1">
                <a:solidFill>
                  <a:schemeClr val="tx1">
                    <a:lumMod val="65000"/>
                  </a:schemeClr>
                </a:solidFill>
                <a:effectLst/>
                <a:latin typeface="Arial" panose="020B0604020202020204" pitchFamily="34" charset="0"/>
                <a:ea typeface="Arial" panose="020B0604020202020204" pitchFamily="34" charset="0"/>
              </a:rPr>
              <a:t>- Não, acho que nunca é.</a:t>
            </a:r>
            <a:endParaRPr lang="pt-BR" sz="1400">
              <a:solidFill>
                <a:schemeClr val="tx1">
                  <a:lumMod val="65000"/>
                </a:schemeClr>
              </a:solidFill>
              <a:effectLst/>
              <a:latin typeface="Times New Roman" panose="02020603050405020304" pitchFamily="18" charset="0"/>
              <a:ea typeface="Times New Roman" panose="02020603050405020304" pitchFamily="18" charset="0"/>
            </a:endParaRPr>
          </a:p>
          <a:p>
            <a:pPr algn="just">
              <a:lnSpc>
                <a:spcPct val="150000"/>
              </a:lnSpc>
            </a:pPr>
            <a:endParaRPr lang="pt-BR" sz="2000" i="1">
              <a:solidFill>
                <a:schemeClr val="tx1">
                  <a:lumMod val="65000"/>
                </a:schemeClr>
              </a:solidFill>
            </a:endParaRPr>
          </a:p>
        </p:txBody>
      </p:sp>
      <p:sp>
        <p:nvSpPr>
          <p:cNvPr id="5" name="CaixaDeTexto 4">
            <a:extLst>
              <a:ext uri="{FF2B5EF4-FFF2-40B4-BE49-F238E27FC236}">
                <a16:creationId xmlns:a16="http://schemas.microsoft.com/office/drawing/2014/main" id="{CA537998-FD1E-4520-9597-BE4904761780}"/>
              </a:ext>
            </a:extLst>
          </p:cNvPr>
          <p:cNvSpPr txBox="1"/>
          <p:nvPr/>
        </p:nvSpPr>
        <p:spPr>
          <a:xfrm>
            <a:off x="1198138" y="4811659"/>
            <a:ext cx="9795724" cy="1425327"/>
          </a:xfrm>
          <a:prstGeom prst="rect">
            <a:avLst/>
          </a:prstGeom>
          <a:noFill/>
        </p:spPr>
        <p:txBody>
          <a:bodyPr wrap="square" rtlCol="0">
            <a:spAutoFit/>
          </a:bodyPr>
          <a:lstStyle/>
          <a:p>
            <a:pPr algn="just">
              <a:lnSpc>
                <a:spcPct val="150000"/>
              </a:lnSpc>
            </a:pPr>
            <a:r>
              <a:rPr lang="pt-BR" sz="2000" i="1">
                <a:solidFill>
                  <a:schemeClr val="tx1">
                    <a:lumMod val="65000"/>
                  </a:schemeClr>
                </a:solidFill>
              </a:rPr>
              <a:t>O retorno financeiro só é satisfatório se a música produzida for para o setor comercial. Músicas com arranjos mais complexos são de maior beleza musical e menos valorizadas do que uma que seja fácil e “chiclete”.</a:t>
            </a:r>
          </a:p>
        </p:txBody>
      </p:sp>
      <p:sp>
        <p:nvSpPr>
          <p:cNvPr id="7" name="CaixaDeTexto 6">
            <a:extLst>
              <a:ext uri="{FF2B5EF4-FFF2-40B4-BE49-F238E27FC236}">
                <a16:creationId xmlns:a16="http://schemas.microsoft.com/office/drawing/2014/main" id="{12445A39-BF86-4674-82EB-5D6607895430}"/>
              </a:ext>
            </a:extLst>
          </p:cNvPr>
          <p:cNvSpPr txBox="1"/>
          <p:nvPr/>
        </p:nvSpPr>
        <p:spPr>
          <a:xfrm>
            <a:off x="8359335" y="1130604"/>
            <a:ext cx="2788327" cy="400110"/>
          </a:xfrm>
          <a:prstGeom prst="rect">
            <a:avLst/>
          </a:prstGeom>
          <a:noFill/>
        </p:spPr>
        <p:txBody>
          <a:bodyPr wrap="none" rtlCol="0">
            <a:spAutoFit/>
          </a:bodyPr>
          <a:lstStyle/>
          <a:p>
            <a:r>
              <a:rPr lang="pt-BR" sz="2000">
                <a:solidFill>
                  <a:schemeClr val="tx1">
                    <a:lumMod val="50000"/>
                  </a:schemeClr>
                </a:solidFill>
              </a:rPr>
              <a:t>Questões sobre Dores</a:t>
            </a:r>
            <a:endParaRPr lang="pt-BR" sz="1600">
              <a:solidFill>
                <a:schemeClr val="tx1">
                  <a:lumMod val="50000"/>
                </a:schemeClr>
              </a:solidFill>
            </a:endParaRPr>
          </a:p>
        </p:txBody>
      </p:sp>
      <p:sp>
        <p:nvSpPr>
          <p:cNvPr id="8" name="CaixaDeTexto 7">
            <a:extLst>
              <a:ext uri="{FF2B5EF4-FFF2-40B4-BE49-F238E27FC236}">
                <a16:creationId xmlns:a16="http://schemas.microsoft.com/office/drawing/2014/main" id="{37874170-2A56-45E8-B3F2-7F32C22CCBA1}"/>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15 de 25</a:t>
            </a:r>
            <a:endParaRPr lang="pt-BR">
              <a:solidFill>
                <a:schemeClr val="tx1">
                  <a:lumMod val="50000"/>
                </a:schemeClr>
              </a:solidFill>
            </a:endParaRPr>
          </a:p>
        </p:txBody>
      </p:sp>
    </p:spTree>
    <p:extLst>
      <p:ext uri="{BB962C8B-B14F-4D97-AF65-F5344CB8AC3E}">
        <p14:creationId xmlns:p14="http://schemas.microsoft.com/office/powerpoint/2010/main" val="16519951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03441" y="521866"/>
            <a:ext cx="6045758" cy="707886"/>
          </a:xfrm>
          <a:prstGeom prst="rect">
            <a:avLst/>
          </a:prstGeom>
          <a:noFill/>
        </p:spPr>
        <p:txBody>
          <a:bodyPr wrap="none" rtlCol="0">
            <a:spAutoFit/>
          </a:bodyPr>
          <a:lstStyle/>
          <a:p>
            <a:r>
              <a:rPr lang="pt-BR" sz="4000">
                <a:solidFill>
                  <a:schemeClr val="tx1">
                    <a:lumMod val="50000"/>
                  </a:schemeClr>
                </a:solidFill>
              </a:rPr>
              <a:t>Personas - Consumidores</a:t>
            </a:r>
            <a:endParaRPr lang="pt-BR" sz="3200">
              <a:solidFill>
                <a:schemeClr val="tx1">
                  <a:lumMod val="50000"/>
                </a:schemeClr>
              </a:solidFill>
            </a:endParaRPr>
          </a:p>
        </p:txBody>
      </p:sp>
      <p:sp>
        <p:nvSpPr>
          <p:cNvPr id="10" name="CaixaDeTexto 9">
            <a:extLst>
              <a:ext uri="{FF2B5EF4-FFF2-40B4-BE49-F238E27FC236}">
                <a16:creationId xmlns:a16="http://schemas.microsoft.com/office/drawing/2014/main" id="{EA27A375-B8E4-495E-ABE4-4F6AC9DADD6B}"/>
              </a:ext>
            </a:extLst>
          </p:cNvPr>
          <p:cNvSpPr txBox="1"/>
          <p:nvPr/>
        </p:nvSpPr>
        <p:spPr>
          <a:xfrm>
            <a:off x="1325305" y="1922744"/>
            <a:ext cx="9795724" cy="2195922"/>
          </a:xfrm>
          <a:prstGeom prst="rect">
            <a:avLst/>
          </a:prstGeom>
          <a:noFill/>
        </p:spPr>
        <p:txBody>
          <a:bodyPr wrap="square" rtlCol="0">
            <a:spAutoFit/>
          </a:bodyPr>
          <a:lstStyle/>
          <a:p>
            <a:pPr algn="just">
              <a:lnSpc>
                <a:spcPct val="115000"/>
              </a:lnSpc>
            </a:pPr>
            <a:r>
              <a:rPr lang="pt-BR" sz="1800">
                <a:solidFill>
                  <a:schemeClr val="tx1">
                    <a:lumMod val="65000"/>
                  </a:schemeClr>
                </a:solidFill>
                <a:effectLst/>
                <a:latin typeface="Arial" panose="020B0604020202020204" pitchFamily="34" charset="0"/>
                <a:ea typeface="Arial" panose="020B0604020202020204" pitchFamily="34" charset="0"/>
              </a:rPr>
              <a:t>2.2 Acha que seus músicos são bem remunerados pelos os seus trabalhos?</a:t>
            </a:r>
            <a:endParaRPr lang="pt-BR" sz="1800">
              <a:solidFill>
                <a:schemeClr val="tx1">
                  <a:lumMod val="65000"/>
                </a:schemeClr>
              </a:solidFill>
              <a:effectLst/>
              <a:latin typeface="Times New Roman" panose="02020603050405020304" pitchFamily="18" charset="0"/>
              <a:ea typeface="Times New Roman" panose="02020603050405020304" pitchFamily="18" charset="0"/>
            </a:endParaRPr>
          </a:p>
          <a:p>
            <a:pPr algn="just">
              <a:lnSpc>
                <a:spcPct val="115000"/>
              </a:lnSpc>
            </a:pPr>
            <a:endParaRPr lang="pt-BR" sz="1800" i="1">
              <a:effectLst/>
              <a:latin typeface="Arial" panose="020B0604020202020204" pitchFamily="34" charset="0"/>
              <a:ea typeface="Arial" panose="020B0604020202020204" pitchFamily="34" charset="0"/>
            </a:endParaRPr>
          </a:p>
          <a:p>
            <a:pPr algn="just">
              <a:lnSpc>
                <a:spcPct val="115000"/>
              </a:lnSpc>
            </a:pPr>
            <a:r>
              <a:rPr lang="pt-BR" sz="1400" i="1">
                <a:solidFill>
                  <a:schemeClr val="tx1">
                    <a:lumMod val="65000"/>
                  </a:schemeClr>
                </a:solidFill>
                <a:latin typeface="Arial" panose="020B0604020202020204" pitchFamily="34" charset="0"/>
                <a:ea typeface="Arial" panose="020B0604020202020204" pitchFamily="34" charset="0"/>
              </a:rPr>
              <a:t>-</a:t>
            </a:r>
            <a:r>
              <a:rPr lang="pt-BR" sz="1400" i="1">
                <a:solidFill>
                  <a:schemeClr val="tx1">
                    <a:lumMod val="65000"/>
                  </a:schemeClr>
                </a:solidFill>
                <a:effectLst/>
                <a:latin typeface="Arial" panose="020B0604020202020204" pitchFamily="34" charset="0"/>
                <a:ea typeface="Arial" panose="020B0604020202020204" pitchFamily="34" charset="0"/>
              </a:rPr>
              <a:t>A maioria sim, eu acho que a maioria é mais do que seria necessário.</a:t>
            </a:r>
          </a:p>
          <a:p>
            <a:pPr algn="just">
              <a:lnSpc>
                <a:spcPct val="115000"/>
              </a:lnSpc>
            </a:pPr>
            <a:endParaRPr lang="pt-BR" sz="1400" i="1">
              <a:solidFill>
                <a:schemeClr val="tx1">
                  <a:lumMod val="65000"/>
                </a:schemeClr>
              </a:solidFill>
              <a:latin typeface="Arial" panose="020B0604020202020204" pitchFamily="34" charset="0"/>
              <a:ea typeface="Times New Roman" panose="02020603050405020304" pitchFamily="18" charset="0"/>
            </a:endParaRPr>
          </a:p>
          <a:p>
            <a:pPr algn="just">
              <a:lnSpc>
                <a:spcPct val="115000"/>
              </a:lnSpc>
            </a:pPr>
            <a:r>
              <a:rPr lang="pt-BR" sz="1400" i="1">
                <a:solidFill>
                  <a:schemeClr val="tx1">
                    <a:lumMod val="65000"/>
                  </a:schemeClr>
                </a:solidFill>
                <a:effectLst/>
                <a:latin typeface="Arial" panose="020B0604020202020204" pitchFamily="34" charset="0"/>
                <a:ea typeface="Times New Roman" panose="02020603050405020304" pitchFamily="18" charset="0"/>
              </a:rPr>
              <a:t>-</a:t>
            </a:r>
            <a:r>
              <a:rPr lang="pt-BR" sz="1400" i="1">
                <a:solidFill>
                  <a:schemeClr val="tx1">
                    <a:lumMod val="65000"/>
                  </a:schemeClr>
                </a:solidFill>
                <a:effectLst/>
                <a:latin typeface="Arial" panose="020B0604020202020204" pitchFamily="34" charset="0"/>
                <a:ea typeface="Arial" panose="020B0604020202020204" pitchFamily="34" charset="0"/>
              </a:rPr>
              <a:t>Acho que dependente, principalmente, se for um músico que tem uma carreira consolidada; mas no geral, acho difícil se manter se for algum músico indie.</a:t>
            </a:r>
            <a:endParaRPr lang="pt-BR" sz="1400">
              <a:solidFill>
                <a:schemeClr val="tx1">
                  <a:lumMod val="65000"/>
                </a:schemeClr>
              </a:solidFill>
              <a:effectLst/>
              <a:latin typeface="Times New Roman" panose="02020603050405020304" pitchFamily="18" charset="0"/>
              <a:ea typeface="Times New Roman" panose="02020603050405020304" pitchFamily="18" charset="0"/>
            </a:endParaRPr>
          </a:p>
          <a:p>
            <a:pPr algn="just">
              <a:lnSpc>
                <a:spcPct val="115000"/>
              </a:lnSpc>
            </a:pPr>
            <a:endParaRPr lang="pt-BR" sz="1400">
              <a:solidFill>
                <a:schemeClr val="tx1">
                  <a:lumMod val="65000"/>
                </a:schemeClr>
              </a:solidFill>
              <a:effectLst/>
              <a:latin typeface="Times New Roman" panose="02020603050405020304" pitchFamily="18" charset="0"/>
              <a:ea typeface="Times New Roman" panose="02020603050405020304" pitchFamily="18" charset="0"/>
            </a:endParaRPr>
          </a:p>
          <a:p>
            <a:pPr algn="just">
              <a:lnSpc>
                <a:spcPct val="115000"/>
              </a:lnSpc>
            </a:pPr>
            <a:r>
              <a:rPr lang="pt-BR" sz="1400">
                <a:solidFill>
                  <a:schemeClr val="tx1">
                    <a:lumMod val="65000"/>
                  </a:schemeClr>
                </a:solidFill>
                <a:latin typeface="Times New Roman" panose="02020603050405020304" pitchFamily="18" charset="0"/>
                <a:ea typeface="Times New Roman" panose="02020603050405020304" pitchFamily="18" charset="0"/>
              </a:rPr>
              <a:t>-</a:t>
            </a:r>
            <a:r>
              <a:rPr lang="pt-BR" sz="1400" i="1">
                <a:solidFill>
                  <a:schemeClr val="tx1">
                    <a:lumMod val="65000"/>
                  </a:schemeClr>
                </a:solidFill>
                <a:effectLst/>
                <a:latin typeface="Arial" panose="020B0604020202020204" pitchFamily="34" charset="0"/>
                <a:ea typeface="Arial" panose="020B0604020202020204" pitchFamily="34" charset="0"/>
              </a:rPr>
              <a:t>Nunca me perguntei se os músicos são bem-remunerados, mas acredito que sejam dependendo da fama.</a:t>
            </a:r>
            <a:endParaRPr lang="pt-BR" sz="1400">
              <a:solidFill>
                <a:schemeClr val="tx1">
                  <a:lumMod val="65000"/>
                </a:schemeClr>
              </a:solidFill>
              <a:effectLst/>
              <a:latin typeface="Times New Roman" panose="02020603050405020304" pitchFamily="18" charset="0"/>
              <a:ea typeface="Times New Roman" panose="02020603050405020304" pitchFamily="18" charset="0"/>
            </a:endParaRPr>
          </a:p>
        </p:txBody>
      </p:sp>
      <p:sp>
        <p:nvSpPr>
          <p:cNvPr id="5" name="CaixaDeTexto 4">
            <a:extLst>
              <a:ext uri="{FF2B5EF4-FFF2-40B4-BE49-F238E27FC236}">
                <a16:creationId xmlns:a16="http://schemas.microsoft.com/office/drawing/2014/main" id="{CA537998-FD1E-4520-9597-BE4904761780}"/>
              </a:ext>
            </a:extLst>
          </p:cNvPr>
          <p:cNvSpPr txBox="1"/>
          <p:nvPr/>
        </p:nvSpPr>
        <p:spPr>
          <a:xfrm>
            <a:off x="1198138" y="4544837"/>
            <a:ext cx="9795724" cy="1886991"/>
          </a:xfrm>
          <a:prstGeom prst="rect">
            <a:avLst/>
          </a:prstGeom>
          <a:noFill/>
        </p:spPr>
        <p:txBody>
          <a:bodyPr wrap="square" rtlCol="0">
            <a:spAutoFit/>
          </a:bodyPr>
          <a:lstStyle/>
          <a:p>
            <a:pPr algn="just">
              <a:lnSpc>
                <a:spcPct val="150000"/>
              </a:lnSpc>
            </a:pPr>
            <a:r>
              <a:rPr lang="pt-BR" sz="2000" i="1">
                <a:solidFill>
                  <a:schemeClr val="tx1">
                    <a:lumMod val="65000"/>
                  </a:schemeClr>
                </a:solidFill>
              </a:rPr>
              <a:t>Indecisão do público entrevistado sobre a remuneração de artistas. Supõe-se que, por terem proteção de direitos autorais, são bem remunerados, mas uma fatia significativa do pouco que ganham com streaming vai para às gravadoras ou produtoras.</a:t>
            </a:r>
          </a:p>
        </p:txBody>
      </p:sp>
      <p:sp>
        <p:nvSpPr>
          <p:cNvPr id="7" name="CaixaDeTexto 6">
            <a:extLst>
              <a:ext uri="{FF2B5EF4-FFF2-40B4-BE49-F238E27FC236}">
                <a16:creationId xmlns:a16="http://schemas.microsoft.com/office/drawing/2014/main" id="{EF422CD4-47A8-4DAC-833E-B1868E63D835}"/>
              </a:ext>
            </a:extLst>
          </p:cNvPr>
          <p:cNvSpPr txBox="1"/>
          <p:nvPr/>
        </p:nvSpPr>
        <p:spPr>
          <a:xfrm>
            <a:off x="8205535" y="1309549"/>
            <a:ext cx="2788327" cy="400110"/>
          </a:xfrm>
          <a:prstGeom prst="rect">
            <a:avLst/>
          </a:prstGeom>
          <a:noFill/>
        </p:spPr>
        <p:txBody>
          <a:bodyPr wrap="none" rtlCol="0">
            <a:spAutoFit/>
          </a:bodyPr>
          <a:lstStyle/>
          <a:p>
            <a:r>
              <a:rPr lang="pt-BR" sz="2000">
                <a:solidFill>
                  <a:schemeClr val="tx1">
                    <a:lumMod val="50000"/>
                  </a:schemeClr>
                </a:solidFill>
              </a:rPr>
              <a:t>Questões sobre Dores</a:t>
            </a:r>
            <a:endParaRPr lang="pt-BR" sz="1600">
              <a:solidFill>
                <a:schemeClr val="tx1">
                  <a:lumMod val="50000"/>
                </a:schemeClr>
              </a:solidFill>
            </a:endParaRPr>
          </a:p>
        </p:txBody>
      </p:sp>
      <p:sp>
        <p:nvSpPr>
          <p:cNvPr id="8" name="CaixaDeTexto 7">
            <a:extLst>
              <a:ext uri="{FF2B5EF4-FFF2-40B4-BE49-F238E27FC236}">
                <a16:creationId xmlns:a16="http://schemas.microsoft.com/office/drawing/2014/main" id="{A451C3FD-CD4D-4F82-8D74-52746CC891B7}"/>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16 de 25</a:t>
            </a:r>
            <a:endParaRPr lang="pt-BR">
              <a:solidFill>
                <a:schemeClr val="tx1">
                  <a:lumMod val="50000"/>
                </a:schemeClr>
              </a:solidFill>
            </a:endParaRPr>
          </a:p>
        </p:txBody>
      </p:sp>
    </p:spTree>
    <p:extLst>
      <p:ext uri="{BB962C8B-B14F-4D97-AF65-F5344CB8AC3E}">
        <p14:creationId xmlns:p14="http://schemas.microsoft.com/office/powerpoint/2010/main" val="22402413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03441" y="521866"/>
            <a:ext cx="6045758" cy="707886"/>
          </a:xfrm>
          <a:prstGeom prst="rect">
            <a:avLst/>
          </a:prstGeom>
          <a:noFill/>
        </p:spPr>
        <p:txBody>
          <a:bodyPr wrap="none" rtlCol="0">
            <a:spAutoFit/>
          </a:bodyPr>
          <a:lstStyle/>
          <a:p>
            <a:r>
              <a:rPr lang="pt-BR" sz="4000">
                <a:solidFill>
                  <a:schemeClr val="tx1">
                    <a:lumMod val="50000"/>
                  </a:schemeClr>
                </a:solidFill>
              </a:rPr>
              <a:t>Personas - Consumidores</a:t>
            </a:r>
            <a:endParaRPr lang="pt-BR" sz="3200">
              <a:solidFill>
                <a:schemeClr val="tx1">
                  <a:lumMod val="50000"/>
                </a:schemeClr>
              </a:solidFill>
            </a:endParaRPr>
          </a:p>
        </p:txBody>
      </p:sp>
      <p:sp>
        <p:nvSpPr>
          <p:cNvPr id="10" name="CaixaDeTexto 9">
            <a:extLst>
              <a:ext uri="{FF2B5EF4-FFF2-40B4-BE49-F238E27FC236}">
                <a16:creationId xmlns:a16="http://schemas.microsoft.com/office/drawing/2014/main" id="{EA27A375-B8E4-495E-ABE4-4F6AC9DADD6B}"/>
              </a:ext>
            </a:extLst>
          </p:cNvPr>
          <p:cNvSpPr txBox="1"/>
          <p:nvPr/>
        </p:nvSpPr>
        <p:spPr>
          <a:xfrm>
            <a:off x="1198138" y="1789160"/>
            <a:ext cx="9795724" cy="3279680"/>
          </a:xfrm>
          <a:prstGeom prst="rect">
            <a:avLst/>
          </a:prstGeom>
          <a:noFill/>
        </p:spPr>
        <p:txBody>
          <a:bodyPr wrap="square" rtlCol="0">
            <a:spAutoFit/>
          </a:bodyPr>
          <a:lstStyle/>
          <a:p>
            <a:pPr algn="just">
              <a:lnSpc>
                <a:spcPct val="115000"/>
              </a:lnSpc>
            </a:pPr>
            <a:r>
              <a:rPr lang="pt-BR" sz="1800">
                <a:solidFill>
                  <a:schemeClr val="tx1">
                    <a:lumMod val="65000"/>
                  </a:schemeClr>
                </a:solidFill>
                <a:effectLst/>
                <a:latin typeface="Arial" panose="020B0604020202020204" pitchFamily="34" charset="0"/>
                <a:ea typeface="Arial" panose="020B0604020202020204" pitchFamily="34" charset="0"/>
              </a:rPr>
              <a:t>3.1 Gostaria de apoiar seus artistas?</a:t>
            </a:r>
            <a:endParaRPr lang="pt-BR" sz="1800">
              <a:solidFill>
                <a:schemeClr val="tx1">
                  <a:lumMod val="65000"/>
                </a:schemeClr>
              </a:solidFill>
              <a:effectLst/>
              <a:latin typeface="Times New Roman" panose="02020603050405020304" pitchFamily="18" charset="0"/>
              <a:ea typeface="Times New Roman" panose="02020603050405020304" pitchFamily="18" charset="0"/>
            </a:endParaRPr>
          </a:p>
          <a:p>
            <a:pPr algn="just">
              <a:lnSpc>
                <a:spcPct val="115000"/>
              </a:lnSpc>
            </a:pPr>
            <a:endParaRPr lang="pt-BR" sz="1800" i="1">
              <a:solidFill>
                <a:schemeClr val="tx1">
                  <a:lumMod val="65000"/>
                </a:schemeClr>
              </a:solidFill>
              <a:effectLst/>
              <a:latin typeface="Arial" panose="020B0604020202020204" pitchFamily="34" charset="0"/>
              <a:ea typeface="Arial" panose="020B0604020202020204" pitchFamily="34" charset="0"/>
            </a:endParaRPr>
          </a:p>
          <a:p>
            <a:pPr algn="just">
              <a:lnSpc>
                <a:spcPct val="115000"/>
              </a:lnSpc>
            </a:pPr>
            <a:r>
              <a:rPr lang="pt-BR" sz="1400" i="1">
                <a:solidFill>
                  <a:schemeClr val="tx1">
                    <a:lumMod val="65000"/>
                  </a:schemeClr>
                </a:solidFill>
                <a:effectLst/>
                <a:latin typeface="Arial" panose="020B0604020202020204" pitchFamily="34" charset="0"/>
                <a:ea typeface="Arial" panose="020B0604020202020204" pitchFamily="34" charset="0"/>
              </a:rPr>
              <a:t>-Sim, eu podendo ajudar algum que precise do meio apoio, eu apoiaria com certeza.</a:t>
            </a:r>
            <a:endParaRPr lang="pt-BR" sz="1400">
              <a:solidFill>
                <a:schemeClr val="tx1">
                  <a:lumMod val="65000"/>
                </a:schemeClr>
              </a:solidFill>
              <a:effectLst/>
              <a:latin typeface="Times New Roman" panose="02020603050405020304" pitchFamily="18" charset="0"/>
              <a:ea typeface="Times New Roman" panose="02020603050405020304" pitchFamily="18" charset="0"/>
            </a:endParaRPr>
          </a:p>
          <a:p>
            <a:pPr algn="just">
              <a:lnSpc>
                <a:spcPct val="150000"/>
              </a:lnSpc>
            </a:pPr>
            <a:endParaRPr lang="pt-BR" sz="1600" i="1">
              <a:solidFill>
                <a:schemeClr val="tx1">
                  <a:lumMod val="65000"/>
                </a:schemeClr>
              </a:solidFill>
            </a:endParaRPr>
          </a:p>
          <a:p>
            <a:pPr algn="just">
              <a:lnSpc>
                <a:spcPct val="150000"/>
              </a:lnSpc>
            </a:pPr>
            <a:r>
              <a:rPr lang="pt-BR" sz="1600" i="1">
                <a:solidFill>
                  <a:schemeClr val="tx1">
                    <a:lumMod val="65000"/>
                  </a:schemeClr>
                </a:solidFill>
              </a:rPr>
              <a:t>-</a:t>
            </a:r>
            <a:r>
              <a:rPr lang="pt-BR" sz="1400" i="1">
                <a:solidFill>
                  <a:schemeClr val="tx1">
                    <a:lumMod val="65000"/>
                  </a:schemeClr>
                </a:solidFill>
                <a:effectLst/>
                <a:latin typeface="Arial" panose="020B0604020202020204" pitchFamily="34" charset="0"/>
                <a:ea typeface="Arial" panose="020B0604020202020204" pitchFamily="34" charset="0"/>
              </a:rPr>
              <a:t>Acho bem legal, principalmente, se for um artista menos famoso.</a:t>
            </a:r>
          </a:p>
          <a:p>
            <a:pPr algn="just">
              <a:lnSpc>
                <a:spcPct val="150000"/>
              </a:lnSpc>
            </a:pPr>
            <a:endParaRPr lang="pt-BR" sz="1400" i="1">
              <a:solidFill>
                <a:schemeClr val="tx1">
                  <a:lumMod val="65000"/>
                </a:schemeClr>
              </a:solidFill>
              <a:latin typeface="Arial" panose="020B0604020202020204" pitchFamily="34" charset="0"/>
              <a:ea typeface="Times New Roman" panose="02020603050405020304" pitchFamily="18" charset="0"/>
            </a:endParaRPr>
          </a:p>
          <a:p>
            <a:pPr algn="just">
              <a:lnSpc>
                <a:spcPct val="150000"/>
              </a:lnSpc>
            </a:pPr>
            <a:r>
              <a:rPr lang="pt-BR" sz="1400" i="1">
                <a:solidFill>
                  <a:schemeClr val="tx1">
                    <a:lumMod val="65000"/>
                  </a:schemeClr>
                </a:solidFill>
                <a:effectLst/>
                <a:latin typeface="Arial" panose="020B0604020202020204" pitchFamily="34" charset="0"/>
                <a:ea typeface="Times New Roman" panose="02020603050405020304" pitchFamily="18" charset="0"/>
              </a:rPr>
              <a:t>-</a:t>
            </a:r>
            <a:r>
              <a:rPr lang="pt-BR" sz="1400" i="1">
                <a:solidFill>
                  <a:schemeClr val="tx1">
                    <a:lumMod val="65000"/>
                  </a:schemeClr>
                </a:solidFill>
                <a:effectLst/>
                <a:latin typeface="Arial" panose="020B0604020202020204" pitchFamily="34" charset="0"/>
                <a:ea typeface="Arial" panose="020B0604020202020204" pitchFamily="34" charset="0"/>
              </a:rPr>
              <a:t>Se eu pudesse, eu apoiaria meus artistas.</a:t>
            </a:r>
            <a:endParaRPr lang="pt-BR" sz="1400">
              <a:solidFill>
                <a:schemeClr val="tx1">
                  <a:lumMod val="65000"/>
                </a:schemeClr>
              </a:solidFill>
              <a:effectLst/>
              <a:latin typeface="Times New Roman" panose="02020603050405020304" pitchFamily="18" charset="0"/>
              <a:ea typeface="Times New Roman" panose="02020603050405020304" pitchFamily="18" charset="0"/>
            </a:endParaRPr>
          </a:p>
          <a:p>
            <a:pPr algn="just">
              <a:lnSpc>
                <a:spcPct val="150000"/>
              </a:lnSpc>
            </a:pPr>
            <a:endParaRPr lang="pt-BR" sz="1800">
              <a:effectLst/>
              <a:latin typeface="Times New Roman" panose="02020603050405020304" pitchFamily="18" charset="0"/>
              <a:ea typeface="Times New Roman" panose="02020603050405020304" pitchFamily="18" charset="0"/>
            </a:endParaRPr>
          </a:p>
          <a:p>
            <a:pPr algn="just">
              <a:lnSpc>
                <a:spcPct val="150000"/>
              </a:lnSpc>
            </a:pPr>
            <a:endParaRPr lang="pt-BR" sz="2000" i="1">
              <a:solidFill>
                <a:schemeClr val="tx1">
                  <a:lumMod val="65000"/>
                </a:schemeClr>
              </a:solidFill>
            </a:endParaRPr>
          </a:p>
        </p:txBody>
      </p:sp>
      <p:sp>
        <p:nvSpPr>
          <p:cNvPr id="5" name="CaixaDeTexto 4">
            <a:extLst>
              <a:ext uri="{FF2B5EF4-FFF2-40B4-BE49-F238E27FC236}">
                <a16:creationId xmlns:a16="http://schemas.microsoft.com/office/drawing/2014/main" id="{CA537998-FD1E-4520-9597-BE4904761780}"/>
              </a:ext>
            </a:extLst>
          </p:cNvPr>
          <p:cNvSpPr txBox="1"/>
          <p:nvPr/>
        </p:nvSpPr>
        <p:spPr>
          <a:xfrm>
            <a:off x="1198138" y="4811659"/>
            <a:ext cx="9795724" cy="1425327"/>
          </a:xfrm>
          <a:prstGeom prst="rect">
            <a:avLst/>
          </a:prstGeom>
          <a:noFill/>
        </p:spPr>
        <p:txBody>
          <a:bodyPr wrap="square" rtlCol="0">
            <a:spAutoFit/>
          </a:bodyPr>
          <a:lstStyle/>
          <a:p>
            <a:pPr algn="just">
              <a:lnSpc>
                <a:spcPct val="150000"/>
              </a:lnSpc>
            </a:pPr>
            <a:r>
              <a:rPr lang="pt-BR" sz="2000" i="1">
                <a:solidFill>
                  <a:schemeClr val="tx1">
                    <a:lumMod val="65000"/>
                  </a:schemeClr>
                </a:solidFill>
              </a:rPr>
              <a:t>Há uma vontade, por parte dos consumidores, de se envolver com o músico de alguma forma mais próxima e, neste ato, receberem algum bem, no caso, exclusividade de músicas.</a:t>
            </a:r>
          </a:p>
        </p:txBody>
      </p:sp>
      <p:sp>
        <p:nvSpPr>
          <p:cNvPr id="7" name="CaixaDeTexto 6">
            <a:extLst>
              <a:ext uri="{FF2B5EF4-FFF2-40B4-BE49-F238E27FC236}">
                <a16:creationId xmlns:a16="http://schemas.microsoft.com/office/drawing/2014/main" id="{1B491973-80FA-4DE9-BD0E-F1B3B9B05109}"/>
              </a:ext>
            </a:extLst>
          </p:cNvPr>
          <p:cNvSpPr txBox="1"/>
          <p:nvPr/>
        </p:nvSpPr>
        <p:spPr>
          <a:xfrm>
            <a:off x="7998940" y="1389050"/>
            <a:ext cx="2994922" cy="400110"/>
          </a:xfrm>
          <a:prstGeom prst="rect">
            <a:avLst/>
          </a:prstGeom>
          <a:noFill/>
        </p:spPr>
        <p:txBody>
          <a:bodyPr wrap="none" rtlCol="0">
            <a:spAutoFit/>
          </a:bodyPr>
          <a:lstStyle/>
          <a:p>
            <a:r>
              <a:rPr lang="pt-BR" sz="2000">
                <a:solidFill>
                  <a:schemeClr val="tx1">
                    <a:lumMod val="50000"/>
                  </a:schemeClr>
                </a:solidFill>
              </a:rPr>
              <a:t>Questões sobre Ganhos</a:t>
            </a:r>
            <a:endParaRPr lang="pt-BR" sz="1600">
              <a:solidFill>
                <a:schemeClr val="tx1">
                  <a:lumMod val="50000"/>
                </a:schemeClr>
              </a:solidFill>
            </a:endParaRPr>
          </a:p>
        </p:txBody>
      </p:sp>
      <p:sp>
        <p:nvSpPr>
          <p:cNvPr id="8" name="CaixaDeTexto 7">
            <a:extLst>
              <a:ext uri="{FF2B5EF4-FFF2-40B4-BE49-F238E27FC236}">
                <a16:creationId xmlns:a16="http://schemas.microsoft.com/office/drawing/2014/main" id="{D0CAE83D-1C75-4C35-A66D-4E4152D1BBB1}"/>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17 de 25</a:t>
            </a:r>
            <a:endParaRPr lang="pt-BR">
              <a:solidFill>
                <a:schemeClr val="tx1">
                  <a:lumMod val="50000"/>
                </a:schemeClr>
              </a:solidFill>
            </a:endParaRPr>
          </a:p>
        </p:txBody>
      </p:sp>
    </p:spTree>
    <p:extLst>
      <p:ext uri="{BB962C8B-B14F-4D97-AF65-F5344CB8AC3E}">
        <p14:creationId xmlns:p14="http://schemas.microsoft.com/office/powerpoint/2010/main" val="32685387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03441" y="521866"/>
            <a:ext cx="6157776" cy="707886"/>
          </a:xfrm>
          <a:prstGeom prst="rect">
            <a:avLst/>
          </a:prstGeom>
          <a:noFill/>
        </p:spPr>
        <p:txBody>
          <a:bodyPr wrap="none" rtlCol="0">
            <a:spAutoFit/>
          </a:bodyPr>
          <a:lstStyle/>
          <a:p>
            <a:r>
              <a:rPr lang="pt-BR" sz="4000">
                <a:solidFill>
                  <a:schemeClr val="tx1">
                    <a:lumMod val="50000"/>
                  </a:schemeClr>
                </a:solidFill>
              </a:rPr>
              <a:t>Personas – Considerações</a:t>
            </a:r>
            <a:endParaRPr lang="pt-BR" sz="3200">
              <a:solidFill>
                <a:schemeClr val="tx1">
                  <a:lumMod val="50000"/>
                </a:schemeClr>
              </a:solidFill>
            </a:endParaRPr>
          </a:p>
        </p:txBody>
      </p:sp>
      <p:sp>
        <p:nvSpPr>
          <p:cNvPr id="10" name="CaixaDeTexto 9">
            <a:extLst>
              <a:ext uri="{FF2B5EF4-FFF2-40B4-BE49-F238E27FC236}">
                <a16:creationId xmlns:a16="http://schemas.microsoft.com/office/drawing/2014/main" id="{EA27A375-B8E4-495E-ABE4-4F6AC9DADD6B}"/>
              </a:ext>
            </a:extLst>
          </p:cNvPr>
          <p:cNvSpPr txBox="1"/>
          <p:nvPr/>
        </p:nvSpPr>
        <p:spPr>
          <a:xfrm>
            <a:off x="1198138" y="1416189"/>
            <a:ext cx="9795724" cy="5441811"/>
          </a:xfrm>
          <a:prstGeom prst="rect">
            <a:avLst/>
          </a:prstGeom>
          <a:noFill/>
        </p:spPr>
        <p:txBody>
          <a:bodyPr wrap="square" rtlCol="0">
            <a:spAutoFit/>
          </a:bodyPr>
          <a:lstStyle/>
          <a:p>
            <a:pPr indent="450215" algn="just">
              <a:lnSpc>
                <a:spcPct val="150000"/>
              </a:lnSpc>
            </a:pPr>
            <a:r>
              <a:rPr lang="pt-BR" sz="140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Este capítulo ajudou na contextualização do cenário musical, um ponto desprezado por produtores e gravadoras: a independência e vontade dos músicos em se autoproduzir e gerar renda, sem abusos de receita ou cláusulas de contrato leoninas; e, também, a desassociação da ideia de que uma empresa detém os direitos de propriedade intelectual sobre sua arte: também, dessa forma, aproximando o consumidor de seus artistas com a possibilidade de deter a propriedade de conteúdos exclusivos. As entrevistas levantaram pontos esperados e ajudaram a estipular que pessoas interessadas em apoiar algum artista também estão dispostas a comprar colecionáveis. Durante as entrevistas, um novo canal de renda para a plataforma Diskify veio à tona, segundo à perspectiva equipe, seria interessante adicionar a ideia de passes VIP para shows como NFTs para venda na plataforma. Os passes seriam emitidos pelos artistas, tendo a distinção de passes vitalícios que permitiriam aos seus donos de participaram de backstages (espaço ao lado ou atrás do palco em que fãs ou ajudantes ficam durante os shows), e, se não conseguissem participar de algum evento, poderia alugar ou revender o seu passe – sempre, nessas negociações, realizando royalties para os artistas e uma porcentagem ao projeto Diskify.</a:t>
            </a:r>
          </a:p>
          <a:p>
            <a:pPr indent="450215" algn="just">
              <a:lnSpc>
                <a:spcPct val="150000"/>
              </a:lnSpc>
            </a:pPr>
            <a:r>
              <a:rPr lang="pt-BR" sz="1400">
                <a:solidFill>
                  <a:schemeClr val="tx1">
                    <a:lumMod val="65000"/>
                  </a:schemeClr>
                </a:solidFill>
                <a:effectLst/>
                <a:latin typeface="Arial" panose="020B0604020202020204" pitchFamily="34" charset="0"/>
                <a:ea typeface="Times New Roman" panose="02020603050405020304" pitchFamily="18" charset="0"/>
                <a:cs typeface="Times New Roman" panose="02020603050405020304" pitchFamily="18" charset="0"/>
              </a:rPr>
              <a:t>Ter a visão dos músicos entrevistados ajudou a adicionar termos e compreender dinâmicas de mercado e subsistência pelas as quais eles se conformam, e como criar um modelo de negócio disruptivo – a Diskify.</a:t>
            </a:r>
          </a:p>
          <a:p>
            <a:pPr algn="just">
              <a:lnSpc>
                <a:spcPct val="150000"/>
              </a:lnSpc>
            </a:pPr>
            <a:endParaRPr lang="pt-BR" sz="1800">
              <a:effectLst/>
              <a:latin typeface="Times New Roman" panose="02020603050405020304" pitchFamily="18" charset="0"/>
              <a:ea typeface="Times New Roman" panose="02020603050405020304" pitchFamily="18" charset="0"/>
            </a:endParaRPr>
          </a:p>
          <a:p>
            <a:pPr algn="just">
              <a:lnSpc>
                <a:spcPct val="150000"/>
              </a:lnSpc>
            </a:pPr>
            <a:endParaRPr lang="pt-BR" sz="2000" i="1">
              <a:solidFill>
                <a:schemeClr val="tx1">
                  <a:lumMod val="65000"/>
                </a:schemeClr>
              </a:solidFill>
            </a:endParaRPr>
          </a:p>
        </p:txBody>
      </p:sp>
      <p:sp>
        <p:nvSpPr>
          <p:cNvPr id="7" name="CaixaDeTexto 6">
            <a:extLst>
              <a:ext uri="{FF2B5EF4-FFF2-40B4-BE49-F238E27FC236}">
                <a16:creationId xmlns:a16="http://schemas.microsoft.com/office/drawing/2014/main" id="{4BB855D5-9035-434F-B160-726BC4DE7DAF}"/>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18 de 25</a:t>
            </a:r>
            <a:endParaRPr lang="pt-BR">
              <a:solidFill>
                <a:schemeClr val="tx1">
                  <a:lumMod val="50000"/>
                </a:schemeClr>
              </a:solidFill>
            </a:endParaRPr>
          </a:p>
        </p:txBody>
      </p:sp>
    </p:spTree>
    <p:extLst>
      <p:ext uri="{BB962C8B-B14F-4D97-AF65-F5344CB8AC3E}">
        <p14:creationId xmlns:p14="http://schemas.microsoft.com/office/powerpoint/2010/main" val="27075652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03441" y="521866"/>
            <a:ext cx="3871573" cy="584775"/>
          </a:xfrm>
          <a:prstGeom prst="rect">
            <a:avLst/>
          </a:prstGeom>
          <a:noFill/>
        </p:spPr>
        <p:txBody>
          <a:bodyPr wrap="none" rtlCol="0">
            <a:spAutoFit/>
          </a:bodyPr>
          <a:lstStyle/>
          <a:p>
            <a:r>
              <a:rPr lang="pt-BR" sz="3200">
                <a:solidFill>
                  <a:schemeClr val="tx1">
                    <a:lumMod val="50000"/>
                  </a:schemeClr>
                </a:solidFill>
              </a:rPr>
              <a:t>Modelo de negócio</a:t>
            </a:r>
          </a:p>
        </p:txBody>
      </p:sp>
      <p:pic>
        <p:nvPicPr>
          <p:cNvPr id="9" name="Imagem 8" descr="Imagem em preto e branco&#10;&#10;Descrição gerada automaticamente">
            <a:extLst>
              <a:ext uri="{FF2B5EF4-FFF2-40B4-BE49-F238E27FC236}">
                <a16:creationId xmlns:a16="http://schemas.microsoft.com/office/drawing/2014/main" id="{E5EB99A2-5B23-42DA-89E3-43C63F8BB28A}"/>
              </a:ext>
            </a:extLst>
          </p:cNvPr>
          <p:cNvPicPr>
            <a:picLocks noChangeAspect="1"/>
          </p:cNvPicPr>
          <p:nvPr/>
        </p:nvPicPr>
        <p:blipFill>
          <a:blip r:embed="rId3">
            <a:lum bright="70000" contrast="-70000"/>
            <a:alphaModFix amt="35000"/>
            <a:extLst>
              <a:ext uri="{28A0092B-C50C-407E-A947-70E740481C1C}">
                <a14:useLocalDpi xmlns:a14="http://schemas.microsoft.com/office/drawing/2010/main" val="0"/>
              </a:ext>
            </a:extLst>
          </a:blip>
          <a:stretch>
            <a:fillRect/>
          </a:stretch>
        </p:blipFill>
        <p:spPr>
          <a:xfrm>
            <a:off x="3014395" y="2089887"/>
            <a:ext cx="1905000" cy="1905000"/>
          </a:xfrm>
          <a:prstGeom prst="rect">
            <a:avLst/>
          </a:prstGeom>
          <a:noFill/>
        </p:spPr>
      </p:pic>
      <p:pic>
        <p:nvPicPr>
          <p:cNvPr id="11" name="Imagem 10" descr="Imagem em preto e branco&#10;&#10;Descrição gerada automaticamente">
            <a:extLst>
              <a:ext uri="{FF2B5EF4-FFF2-40B4-BE49-F238E27FC236}">
                <a16:creationId xmlns:a16="http://schemas.microsoft.com/office/drawing/2014/main" id="{BE02B8D0-8098-4E5A-9697-F013AB94AC13}"/>
              </a:ext>
            </a:extLst>
          </p:cNvPr>
          <p:cNvPicPr>
            <a:picLocks noChangeAspect="1"/>
          </p:cNvPicPr>
          <p:nvPr/>
        </p:nvPicPr>
        <p:blipFill>
          <a:blip r:embed="rId3">
            <a:lum bright="70000" contrast="-70000"/>
            <a:alphaModFix amt="35000"/>
            <a:extLst>
              <a:ext uri="{28A0092B-C50C-407E-A947-70E740481C1C}">
                <a14:useLocalDpi xmlns:a14="http://schemas.microsoft.com/office/drawing/2010/main" val="0"/>
              </a:ext>
            </a:extLst>
          </a:blip>
          <a:stretch>
            <a:fillRect/>
          </a:stretch>
        </p:blipFill>
        <p:spPr>
          <a:xfrm>
            <a:off x="3014395" y="4593229"/>
            <a:ext cx="1905000" cy="1905000"/>
          </a:xfrm>
          <a:prstGeom prst="rect">
            <a:avLst/>
          </a:prstGeom>
          <a:noFill/>
        </p:spPr>
      </p:pic>
      <p:sp>
        <p:nvSpPr>
          <p:cNvPr id="12" name="CaixaDeTexto 11">
            <a:extLst>
              <a:ext uri="{FF2B5EF4-FFF2-40B4-BE49-F238E27FC236}">
                <a16:creationId xmlns:a16="http://schemas.microsoft.com/office/drawing/2014/main" id="{1E1EB991-9F48-4FD8-BCC0-012B95649030}"/>
              </a:ext>
            </a:extLst>
          </p:cNvPr>
          <p:cNvSpPr txBox="1"/>
          <p:nvPr/>
        </p:nvSpPr>
        <p:spPr>
          <a:xfrm>
            <a:off x="1249563" y="2749999"/>
            <a:ext cx="1518364" cy="584775"/>
          </a:xfrm>
          <a:prstGeom prst="rect">
            <a:avLst/>
          </a:prstGeom>
          <a:noFill/>
        </p:spPr>
        <p:txBody>
          <a:bodyPr wrap="none" rtlCol="0">
            <a:spAutoFit/>
          </a:bodyPr>
          <a:lstStyle/>
          <a:p>
            <a:r>
              <a:rPr lang="pt-BR" sz="3200">
                <a:solidFill>
                  <a:schemeClr val="tx1">
                    <a:lumMod val="65000"/>
                  </a:schemeClr>
                </a:solidFill>
              </a:rPr>
              <a:t>Músico</a:t>
            </a:r>
          </a:p>
        </p:txBody>
      </p:sp>
      <p:sp>
        <p:nvSpPr>
          <p:cNvPr id="13" name="CaixaDeTexto 12">
            <a:extLst>
              <a:ext uri="{FF2B5EF4-FFF2-40B4-BE49-F238E27FC236}">
                <a16:creationId xmlns:a16="http://schemas.microsoft.com/office/drawing/2014/main" id="{B60FDCEE-15AB-4C75-AF6D-B7D8C512A057}"/>
              </a:ext>
            </a:extLst>
          </p:cNvPr>
          <p:cNvSpPr txBox="1"/>
          <p:nvPr/>
        </p:nvSpPr>
        <p:spPr>
          <a:xfrm>
            <a:off x="761545" y="5218915"/>
            <a:ext cx="2494401" cy="584775"/>
          </a:xfrm>
          <a:prstGeom prst="rect">
            <a:avLst/>
          </a:prstGeom>
          <a:noFill/>
        </p:spPr>
        <p:txBody>
          <a:bodyPr wrap="none" rtlCol="0">
            <a:spAutoFit/>
          </a:bodyPr>
          <a:lstStyle/>
          <a:p>
            <a:r>
              <a:rPr lang="pt-BR" sz="3200">
                <a:solidFill>
                  <a:schemeClr val="tx1">
                    <a:lumMod val="65000"/>
                  </a:schemeClr>
                </a:solidFill>
              </a:rPr>
              <a:t>Consumidor</a:t>
            </a:r>
          </a:p>
        </p:txBody>
      </p:sp>
      <p:pic>
        <p:nvPicPr>
          <p:cNvPr id="14" name="Imagem 13" descr="Logotipo&#10;&#10;Descrição gerada automaticamente">
            <a:extLst>
              <a:ext uri="{FF2B5EF4-FFF2-40B4-BE49-F238E27FC236}">
                <a16:creationId xmlns:a16="http://schemas.microsoft.com/office/drawing/2014/main" id="{725022B5-7ADD-487D-9612-B7416B43A922}"/>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b="12198"/>
          <a:stretch/>
        </p:blipFill>
        <p:spPr>
          <a:xfrm>
            <a:off x="6310944" y="2959405"/>
            <a:ext cx="3775969" cy="2155066"/>
          </a:xfrm>
          <a:custGeom>
            <a:avLst/>
            <a:gdLst/>
            <a:ahLst/>
            <a:cxnLst/>
            <a:rect l="l" t="t" r="r" b="b"/>
            <a:pathLst>
              <a:path w="12192000" h="6858000">
                <a:moveTo>
                  <a:pt x="0" y="0"/>
                </a:moveTo>
                <a:lnTo>
                  <a:pt x="12192000" y="0"/>
                </a:lnTo>
                <a:lnTo>
                  <a:pt x="12192000" y="6858000"/>
                </a:lnTo>
                <a:lnTo>
                  <a:pt x="0" y="6858000"/>
                </a:lnTo>
                <a:close/>
              </a:path>
            </a:pathLst>
          </a:custGeom>
          <a:ln>
            <a:noFill/>
          </a:ln>
        </p:spPr>
      </p:pic>
      <p:sp>
        <p:nvSpPr>
          <p:cNvPr id="15" name="CaixaDeTexto 14">
            <a:extLst>
              <a:ext uri="{FF2B5EF4-FFF2-40B4-BE49-F238E27FC236}">
                <a16:creationId xmlns:a16="http://schemas.microsoft.com/office/drawing/2014/main" id="{AB863AD1-3147-499E-936E-8976A38784FA}"/>
              </a:ext>
            </a:extLst>
          </p:cNvPr>
          <p:cNvSpPr txBox="1"/>
          <p:nvPr/>
        </p:nvSpPr>
        <p:spPr>
          <a:xfrm>
            <a:off x="7112350" y="2624966"/>
            <a:ext cx="2173159" cy="584775"/>
          </a:xfrm>
          <a:prstGeom prst="rect">
            <a:avLst/>
          </a:prstGeom>
          <a:noFill/>
        </p:spPr>
        <p:txBody>
          <a:bodyPr wrap="none" rtlCol="0">
            <a:spAutoFit/>
          </a:bodyPr>
          <a:lstStyle/>
          <a:p>
            <a:r>
              <a:rPr lang="pt-BR" sz="3200">
                <a:solidFill>
                  <a:schemeClr val="tx1">
                    <a:lumMod val="65000"/>
                  </a:schemeClr>
                </a:solidFill>
              </a:rPr>
              <a:t>Plataforma</a:t>
            </a:r>
          </a:p>
        </p:txBody>
      </p:sp>
      <p:cxnSp>
        <p:nvCxnSpPr>
          <p:cNvPr id="8" name="Conector de Seta Reta 7">
            <a:extLst>
              <a:ext uri="{FF2B5EF4-FFF2-40B4-BE49-F238E27FC236}">
                <a16:creationId xmlns:a16="http://schemas.microsoft.com/office/drawing/2014/main" id="{387CD77B-3288-4BB5-B199-0B970FA95ABE}"/>
              </a:ext>
            </a:extLst>
          </p:cNvPr>
          <p:cNvCxnSpPr>
            <a:cxnSpLocks/>
          </p:cNvCxnSpPr>
          <p:nvPr/>
        </p:nvCxnSpPr>
        <p:spPr>
          <a:xfrm>
            <a:off x="4919395" y="3042386"/>
            <a:ext cx="1579059" cy="765697"/>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9" name="Conector de Seta Reta 18">
            <a:extLst>
              <a:ext uri="{FF2B5EF4-FFF2-40B4-BE49-F238E27FC236}">
                <a16:creationId xmlns:a16="http://schemas.microsoft.com/office/drawing/2014/main" id="{B1552350-AD26-4293-A15E-D541DAAEFD9A}"/>
              </a:ext>
            </a:extLst>
          </p:cNvPr>
          <p:cNvCxnSpPr>
            <a:cxnSpLocks/>
          </p:cNvCxnSpPr>
          <p:nvPr/>
        </p:nvCxnSpPr>
        <p:spPr>
          <a:xfrm flipV="1">
            <a:off x="4960882" y="4373199"/>
            <a:ext cx="1537572" cy="117253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2" name="CaixaDeTexto 21">
            <a:extLst>
              <a:ext uri="{FF2B5EF4-FFF2-40B4-BE49-F238E27FC236}">
                <a16:creationId xmlns:a16="http://schemas.microsoft.com/office/drawing/2014/main" id="{D299DBD1-498C-4503-978A-A885607C66CD}"/>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19 de 25</a:t>
            </a:r>
            <a:endParaRPr lang="pt-BR">
              <a:solidFill>
                <a:schemeClr val="tx1">
                  <a:lumMod val="50000"/>
                </a:schemeClr>
              </a:solidFill>
            </a:endParaRPr>
          </a:p>
        </p:txBody>
      </p:sp>
    </p:spTree>
    <p:extLst>
      <p:ext uri="{BB962C8B-B14F-4D97-AF65-F5344CB8AC3E}">
        <p14:creationId xmlns:p14="http://schemas.microsoft.com/office/powerpoint/2010/main" val="15025695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03441" y="521866"/>
            <a:ext cx="3871573" cy="584775"/>
          </a:xfrm>
          <a:prstGeom prst="rect">
            <a:avLst/>
          </a:prstGeom>
          <a:noFill/>
        </p:spPr>
        <p:txBody>
          <a:bodyPr wrap="none" rtlCol="0">
            <a:spAutoFit/>
          </a:bodyPr>
          <a:lstStyle/>
          <a:p>
            <a:r>
              <a:rPr lang="pt-BR" sz="3200">
                <a:solidFill>
                  <a:schemeClr val="tx1">
                    <a:lumMod val="50000"/>
                  </a:schemeClr>
                </a:solidFill>
              </a:rPr>
              <a:t>Modelo de negócio</a:t>
            </a:r>
          </a:p>
        </p:txBody>
      </p:sp>
      <p:pic>
        <p:nvPicPr>
          <p:cNvPr id="9" name="Imagem 8" descr="Imagem em preto e branco&#10;&#10;Descrição gerada automaticamente">
            <a:extLst>
              <a:ext uri="{FF2B5EF4-FFF2-40B4-BE49-F238E27FC236}">
                <a16:creationId xmlns:a16="http://schemas.microsoft.com/office/drawing/2014/main" id="{E5EB99A2-5B23-42DA-89E3-43C63F8BB28A}"/>
              </a:ext>
            </a:extLst>
          </p:cNvPr>
          <p:cNvPicPr>
            <a:picLocks noChangeAspect="1"/>
          </p:cNvPicPr>
          <p:nvPr/>
        </p:nvPicPr>
        <p:blipFill>
          <a:blip r:embed="rId3">
            <a:lum bright="70000" contrast="-70000"/>
            <a:alphaModFix amt="35000"/>
            <a:extLst>
              <a:ext uri="{28A0092B-C50C-407E-A947-70E740481C1C}">
                <a14:useLocalDpi xmlns:a14="http://schemas.microsoft.com/office/drawing/2010/main" val="0"/>
              </a:ext>
            </a:extLst>
          </a:blip>
          <a:stretch>
            <a:fillRect/>
          </a:stretch>
        </p:blipFill>
        <p:spPr>
          <a:xfrm>
            <a:off x="820863" y="1957796"/>
            <a:ext cx="952500" cy="952500"/>
          </a:xfrm>
          <a:prstGeom prst="rect">
            <a:avLst/>
          </a:prstGeom>
          <a:noFill/>
        </p:spPr>
      </p:pic>
      <p:sp>
        <p:nvSpPr>
          <p:cNvPr id="12" name="CaixaDeTexto 11">
            <a:extLst>
              <a:ext uri="{FF2B5EF4-FFF2-40B4-BE49-F238E27FC236}">
                <a16:creationId xmlns:a16="http://schemas.microsoft.com/office/drawing/2014/main" id="{1E1EB991-9F48-4FD8-BCC0-012B95649030}"/>
              </a:ext>
            </a:extLst>
          </p:cNvPr>
          <p:cNvSpPr txBox="1"/>
          <p:nvPr/>
        </p:nvSpPr>
        <p:spPr>
          <a:xfrm>
            <a:off x="792620" y="3028890"/>
            <a:ext cx="1518364" cy="400110"/>
          </a:xfrm>
          <a:prstGeom prst="rect">
            <a:avLst/>
          </a:prstGeom>
          <a:noFill/>
        </p:spPr>
        <p:txBody>
          <a:bodyPr wrap="square" rtlCol="0">
            <a:spAutoFit/>
          </a:bodyPr>
          <a:lstStyle/>
          <a:p>
            <a:r>
              <a:rPr lang="pt-BR" sz="2000">
                <a:solidFill>
                  <a:schemeClr val="tx1">
                    <a:lumMod val="65000"/>
                  </a:schemeClr>
                </a:solidFill>
              </a:rPr>
              <a:t>Músico</a:t>
            </a:r>
          </a:p>
        </p:txBody>
      </p:sp>
      <p:pic>
        <p:nvPicPr>
          <p:cNvPr id="14" name="Imagem 13" descr="Logotipo&#10;&#10;Descrição gerada automaticamente">
            <a:extLst>
              <a:ext uri="{FF2B5EF4-FFF2-40B4-BE49-F238E27FC236}">
                <a16:creationId xmlns:a16="http://schemas.microsoft.com/office/drawing/2014/main" id="{725022B5-7ADD-487D-9612-B7416B43A922}"/>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b="12198"/>
          <a:stretch/>
        </p:blipFill>
        <p:spPr>
          <a:xfrm>
            <a:off x="4774386" y="3248518"/>
            <a:ext cx="2283441" cy="1303233"/>
          </a:xfrm>
          <a:custGeom>
            <a:avLst/>
            <a:gdLst/>
            <a:ahLst/>
            <a:cxnLst/>
            <a:rect l="l" t="t" r="r" b="b"/>
            <a:pathLst>
              <a:path w="12192000" h="6858000">
                <a:moveTo>
                  <a:pt x="0" y="0"/>
                </a:moveTo>
                <a:lnTo>
                  <a:pt x="12192000" y="0"/>
                </a:lnTo>
                <a:lnTo>
                  <a:pt x="12192000" y="6858000"/>
                </a:lnTo>
                <a:lnTo>
                  <a:pt x="0" y="6858000"/>
                </a:lnTo>
                <a:close/>
              </a:path>
            </a:pathLst>
          </a:custGeom>
          <a:ln>
            <a:noFill/>
          </a:ln>
        </p:spPr>
      </p:pic>
      <p:sp>
        <p:nvSpPr>
          <p:cNvPr id="15" name="CaixaDeTexto 14">
            <a:extLst>
              <a:ext uri="{FF2B5EF4-FFF2-40B4-BE49-F238E27FC236}">
                <a16:creationId xmlns:a16="http://schemas.microsoft.com/office/drawing/2014/main" id="{AB863AD1-3147-499E-936E-8976A38784FA}"/>
              </a:ext>
            </a:extLst>
          </p:cNvPr>
          <p:cNvSpPr txBox="1"/>
          <p:nvPr/>
        </p:nvSpPr>
        <p:spPr>
          <a:xfrm>
            <a:off x="5087054" y="2990015"/>
            <a:ext cx="2173159" cy="461665"/>
          </a:xfrm>
          <a:prstGeom prst="rect">
            <a:avLst/>
          </a:prstGeom>
          <a:noFill/>
        </p:spPr>
        <p:txBody>
          <a:bodyPr wrap="square" rtlCol="0">
            <a:spAutoFit/>
          </a:bodyPr>
          <a:lstStyle/>
          <a:p>
            <a:r>
              <a:rPr lang="pt-BR" sz="2400">
                <a:solidFill>
                  <a:schemeClr val="tx1">
                    <a:lumMod val="65000"/>
                  </a:schemeClr>
                </a:solidFill>
              </a:rPr>
              <a:t>Plataforma</a:t>
            </a:r>
          </a:p>
        </p:txBody>
      </p:sp>
      <p:cxnSp>
        <p:nvCxnSpPr>
          <p:cNvPr id="16" name="Conector de Seta Reta 15">
            <a:extLst>
              <a:ext uri="{FF2B5EF4-FFF2-40B4-BE49-F238E27FC236}">
                <a16:creationId xmlns:a16="http://schemas.microsoft.com/office/drawing/2014/main" id="{696BD0AB-8261-47CF-AC57-A441655D04E6}"/>
              </a:ext>
            </a:extLst>
          </p:cNvPr>
          <p:cNvCxnSpPr>
            <a:cxnSpLocks/>
          </p:cNvCxnSpPr>
          <p:nvPr/>
        </p:nvCxnSpPr>
        <p:spPr>
          <a:xfrm>
            <a:off x="2485827" y="2743200"/>
            <a:ext cx="2086173" cy="818712"/>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pic>
        <p:nvPicPr>
          <p:cNvPr id="3" name="Imagem 2" descr="Placa vermelha com letras brancas em fundo preto&#10;&#10;Descrição gerada automaticamente com confiança média">
            <a:extLst>
              <a:ext uri="{FF2B5EF4-FFF2-40B4-BE49-F238E27FC236}">
                <a16:creationId xmlns:a16="http://schemas.microsoft.com/office/drawing/2014/main" id="{6B529625-0BDC-4C12-AE8B-08D4A38AEC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98104" y="1602227"/>
            <a:ext cx="1308069" cy="1308069"/>
          </a:xfrm>
          <a:prstGeom prst="rect">
            <a:avLst/>
          </a:prstGeom>
        </p:spPr>
      </p:pic>
      <p:sp>
        <p:nvSpPr>
          <p:cNvPr id="17" name="CaixaDeTexto 16">
            <a:extLst>
              <a:ext uri="{FF2B5EF4-FFF2-40B4-BE49-F238E27FC236}">
                <a16:creationId xmlns:a16="http://schemas.microsoft.com/office/drawing/2014/main" id="{17B80AEE-ABBB-474A-9BA1-0D8F9BC9205D}"/>
              </a:ext>
            </a:extLst>
          </p:cNvPr>
          <p:cNvSpPr txBox="1"/>
          <p:nvPr/>
        </p:nvSpPr>
        <p:spPr>
          <a:xfrm>
            <a:off x="8844965" y="3823465"/>
            <a:ext cx="1441073" cy="369332"/>
          </a:xfrm>
          <a:prstGeom prst="rect">
            <a:avLst/>
          </a:prstGeom>
          <a:noFill/>
        </p:spPr>
        <p:txBody>
          <a:bodyPr wrap="square" rtlCol="0">
            <a:spAutoFit/>
          </a:bodyPr>
          <a:lstStyle/>
          <a:p>
            <a:r>
              <a:rPr lang="pt-BR">
                <a:solidFill>
                  <a:schemeClr val="tx1">
                    <a:lumMod val="65000"/>
                  </a:schemeClr>
                </a:solidFill>
              </a:rPr>
              <a:t>NFT</a:t>
            </a:r>
          </a:p>
        </p:txBody>
      </p:sp>
      <p:pic>
        <p:nvPicPr>
          <p:cNvPr id="5" name="Imagem 4" descr="Padrão do plano de fundo&#10;&#10;Descrição gerada automaticamente">
            <a:extLst>
              <a:ext uri="{FF2B5EF4-FFF2-40B4-BE49-F238E27FC236}">
                <a16:creationId xmlns:a16="http://schemas.microsoft.com/office/drawing/2014/main" id="{97481A07-C444-42B1-A2E4-7F36CFC255B7}"/>
              </a:ext>
            </a:extLst>
          </p:cNvPr>
          <p:cNvPicPr>
            <a:picLocks noChangeAspect="1"/>
          </p:cNvPicPr>
          <p:nvPr/>
        </p:nvPicPr>
        <p:blipFill>
          <a:blip r:embed="rId5">
            <a:lum bright="70000" contrast="-70000"/>
            <a:alphaModFix amt="35000"/>
            <a:extLst>
              <a:ext uri="{28A0092B-C50C-407E-A947-70E740481C1C}">
                <a14:useLocalDpi xmlns:a14="http://schemas.microsoft.com/office/drawing/2010/main" val="0"/>
              </a:ext>
            </a:extLst>
          </a:blip>
          <a:stretch>
            <a:fillRect/>
          </a:stretch>
        </p:blipFill>
        <p:spPr>
          <a:xfrm>
            <a:off x="1852391" y="3228945"/>
            <a:ext cx="1101332" cy="884077"/>
          </a:xfrm>
          <a:prstGeom prst="rect">
            <a:avLst/>
          </a:prstGeom>
        </p:spPr>
      </p:pic>
      <p:cxnSp>
        <p:nvCxnSpPr>
          <p:cNvPr id="21" name="Conector de Seta Reta 20">
            <a:extLst>
              <a:ext uri="{FF2B5EF4-FFF2-40B4-BE49-F238E27FC236}">
                <a16:creationId xmlns:a16="http://schemas.microsoft.com/office/drawing/2014/main" id="{24F3D0CA-9BFF-461C-ACEF-AD99909DCD61}"/>
              </a:ext>
            </a:extLst>
          </p:cNvPr>
          <p:cNvCxnSpPr>
            <a:cxnSpLocks/>
          </p:cNvCxnSpPr>
          <p:nvPr/>
        </p:nvCxnSpPr>
        <p:spPr>
          <a:xfrm flipV="1">
            <a:off x="7008912" y="2692819"/>
            <a:ext cx="1441072" cy="813148"/>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pic>
        <p:nvPicPr>
          <p:cNvPr id="25" name="Imagem 24" descr="Padrão do plano de fundo&#10;&#10;Descrição gerada automaticamente">
            <a:extLst>
              <a:ext uri="{FF2B5EF4-FFF2-40B4-BE49-F238E27FC236}">
                <a16:creationId xmlns:a16="http://schemas.microsoft.com/office/drawing/2014/main" id="{3AD43E38-7066-4EA7-BDB9-6BB83B6526C4}"/>
              </a:ext>
            </a:extLst>
          </p:cNvPr>
          <p:cNvPicPr>
            <a:picLocks noChangeAspect="1"/>
          </p:cNvPicPr>
          <p:nvPr/>
        </p:nvPicPr>
        <p:blipFill>
          <a:blip r:embed="rId5">
            <a:lum bright="70000" contrast="-70000"/>
            <a:alphaModFix amt="35000"/>
            <a:extLst>
              <a:ext uri="{28A0092B-C50C-407E-A947-70E740481C1C}">
                <a14:useLocalDpi xmlns:a14="http://schemas.microsoft.com/office/drawing/2010/main" val="0"/>
              </a:ext>
            </a:extLst>
          </a:blip>
          <a:stretch>
            <a:fillRect/>
          </a:stretch>
        </p:blipFill>
        <p:spPr>
          <a:xfrm>
            <a:off x="8604841" y="4236338"/>
            <a:ext cx="1101332" cy="884077"/>
          </a:xfrm>
          <a:prstGeom prst="rect">
            <a:avLst/>
          </a:prstGeom>
        </p:spPr>
      </p:pic>
      <p:cxnSp>
        <p:nvCxnSpPr>
          <p:cNvPr id="26" name="Conector de Seta Reta 25">
            <a:extLst>
              <a:ext uri="{FF2B5EF4-FFF2-40B4-BE49-F238E27FC236}">
                <a16:creationId xmlns:a16="http://schemas.microsoft.com/office/drawing/2014/main" id="{F987AAB4-2942-409E-9521-92C47799F323}"/>
              </a:ext>
            </a:extLst>
          </p:cNvPr>
          <p:cNvCxnSpPr>
            <a:cxnSpLocks/>
          </p:cNvCxnSpPr>
          <p:nvPr/>
        </p:nvCxnSpPr>
        <p:spPr>
          <a:xfrm>
            <a:off x="7034852" y="4113022"/>
            <a:ext cx="1415132" cy="54144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pic>
        <p:nvPicPr>
          <p:cNvPr id="29" name="Imagem 28" descr="Imagem em preto e branco&#10;&#10;Descrição gerada automaticamente">
            <a:extLst>
              <a:ext uri="{FF2B5EF4-FFF2-40B4-BE49-F238E27FC236}">
                <a16:creationId xmlns:a16="http://schemas.microsoft.com/office/drawing/2014/main" id="{ACC338F6-D2C1-417F-A9FE-D55FCBAFF0F5}"/>
              </a:ext>
            </a:extLst>
          </p:cNvPr>
          <p:cNvPicPr>
            <a:picLocks noChangeAspect="1"/>
          </p:cNvPicPr>
          <p:nvPr/>
        </p:nvPicPr>
        <p:blipFill>
          <a:blip r:embed="rId3">
            <a:lum bright="70000" contrast="-70000"/>
            <a:alphaModFix amt="35000"/>
            <a:extLst>
              <a:ext uri="{28A0092B-C50C-407E-A947-70E740481C1C}">
                <a14:useLocalDpi xmlns:a14="http://schemas.microsoft.com/office/drawing/2010/main" val="0"/>
              </a:ext>
            </a:extLst>
          </a:blip>
          <a:stretch>
            <a:fillRect/>
          </a:stretch>
        </p:blipFill>
        <p:spPr>
          <a:xfrm>
            <a:off x="820863" y="4679515"/>
            <a:ext cx="952500" cy="952500"/>
          </a:xfrm>
          <a:prstGeom prst="rect">
            <a:avLst/>
          </a:prstGeom>
          <a:noFill/>
        </p:spPr>
      </p:pic>
      <p:sp>
        <p:nvSpPr>
          <p:cNvPr id="31" name="CaixaDeTexto 30">
            <a:extLst>
              <a:ext uri="{FF2B5EF4-FFF2-40B4-BE49-F238E27FC236}">
                <a16:creationId xmlns:a16="http://schemas.microsoft.com/office/drawing/2014/main" id="{DBDB5C1C-8A31-4BF3-862B-B625208401E8}"/>
              </a:ext>
            </a:extLst>
          </p:cNvPr>
          <p:cNvSpPr txBox="1"/>
          <p:nvPr/>
        </p:nvSpPr>
        <p:spPr>
          <a:xfrm>
            <a:off x="578022" y="5722928"/>
            <a:ext cx="2086172" cy="400110"/>
          </a:xfrm>
          <a:prstGeom prst="rect">
            <a:avLst/>
          </a:prstGeom>
          <a:noFill/>
        </p:spPr>
        <p:txBody>
          <a:bodyPr wrap="square" rtlCol="0">
            <a:spAutoFit/>
          </a:bodyPr>
          <a:lstStyle/>
          <a:p>
            <a:r>
              <a:rPr lang="pt-BR" sz="2000">
                <a:solidFill>
                  <a:schemeClr val="tx1">
                    <a:lumMod val="65000"/>
                  </a:schemeClr>
                </a:solidFill>
              </a:rPr>
              <a:t>Consumidor</a:t>
            </a:r>
          </a:p>
        </p:txBody>
      </p:sp>
      <p:cxnSp>
        <p:nvCxnSpPr>
          <p:cNvPr id="32" name="Conector de Seta Reta 31">
            <a:extLst>
              <a:ext uri="{FF2B5EF4-FFF2-40B4-BE49-F238E27FC236}">
                <a16:creationId xmlns:a16="http://schemas.microsoft.com/office/drawing/2014/main" id="{5621FA12-D094-4BF5-83D0-DC0F131065FF}"/>
              </a:ext>
            </a:extLst>
          </p:cNvPr>
          <p:cNvCxnSpPr>
            <a:cxnSpLocks/>
          </p:cNvCxnSpPr>
          <p:nvPr/>
        </p:nvCxnSpPr>
        <p:spPr>
          <a:xfrm flipV="1">
            <a:off x="2403057" y="4463718"/>
            <a:ext cx="2168943" cy="88753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37" name="CaixaDeTexto 36">
            <a:extLst>
              <a:ext uri="{FF2B5EF4-FFF2-40B4-BE49-F238E27FC236}">
                <a16:creationId xmlns:a16="http://schemas.microsoft.com/office/drawing/2014/main" id="{35CDA4B7-BA74-4859-9F4D-FC7DF23FEA69}"/>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20 de 25</a:t>
            </a:r>
            <a:endParaRPr lang="pt-BR">
              <a:solidFill>
                <a:schemeClr val="tx1">
                  <a:lumMod val="50000"/>
                </a:schemeClr>
              </a:solidFill>
            </a:endParaRPr>
          </a:p>
        </p:txBody>
      </p:sp>
    </p:spTree>
    <p:extLst>
      <p:ext uri="{BB962C8B-B14F-4D97-AF65-F5344CB8AC3E}">
        <p14:creationId xmlns:p14="http://schemas.microsoft.com/office/powerpoint/2010/main" val="23298481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03441" y="521866"/>
            <a:ext cx="5646097" cy="584775"/>
          </a:xfrm>
          <a:prstGeom prst="rect">
            <a:avLst/>
          </a:prstGeom>
          <a:noFill/>
        </p:spPr>
        <p:txBody>
          <a:bodyPr wrap="none" rtlCol="0">
            <a:spAutoFit/>
          </a:bodyPr>
          <a:lstStyle/>
          <a:p>
            <a:r>
              <a:rPr lang="pt-BR" sz="3200">
                <a:solidFill>
                  <a:schemeClr val="tx1">
                    <a:lumMod val="50000"/>
                  </a:schemeClr>
                </a:solidFill>
              </a:rPr>
              <a:t>Modelo de negócio - Ganhos</a:t>
            </a:r>
          </a:p>
        </p:txBody>
      </p:sp>
      <p:sp>
        <p:nvSpPr>
          <p:cNvPr id="12" name="CaixaDeTexto 11">
            <a:extLst>
              <a:ext uri="{FF2B5EF4-FFF2-40B4-BE49-F238E27FC236}">
                <a16:creationId xmlns:a16="http://schemas.microsoft.com/office/drawing/2014/main" id="{1E1EB991-9F48-4FD8-BCC0-012B95649030}"/>
              </a:ext>
            </a:extLst>
          </p:cNvPr>
          <p:cNvSpPr txBox="1"/>
          <p:nvPr/>
        </p:nvSpPr>
        <p:spPr>
          <a:xfrm>
            <a:off x="5182741" y="1700655"/>
            <a:ext cx="1518364" cy="400110"/>
          </a:xfrm>
          <a:prstGeom prst="rect">
            <a:avLst/>
          </a:prstGeom>
          <a:noFill/>
        </p:spPr>
        <p:txBody>
          <a:bodyPr wrap="square" rtlCol="0">
            <a:spAutoFit/>
          </a:bodyPr>
          <a:lstStyle/>
          <a:p>
            <a:r>
              <a:rPr lang="pt-BR" sz="2000">
                <a:solidFill>
                  <a:schemeClr val="tx1">
                    <a:lumMod val="65000"/>
                  </a:schemeClr>
                </a:solidFill>
              </a:rPr>
              <a:t>Músico</a:t>
            </a:r>
          </a:p>
        </p:txBody>
      </p:sp>
      <p:pic>
        <p:nvPicPr>
          <p:cNvPr id="14" name="Imagem 13" descr="Logotipo&#10;&#10;Descrição gerada automaticamente">
            <a:extLst>
              <a:ext uri="{FF2B5EF4-FFF2-40B4-BE49-F238E27FC236}">
                <a16:creationId xmlns:a16="http://schemas.microsoft.com/office/drawing/2014/main" id="{725022B5-7ADD-487D-9612-B7416B43A922}"/>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b="12198"/>
          <a:stretch/>
        </p:blipFill>
        <p:spPr>
          <a:xfrm>
            <a:off x="1052420" y="1961063"/>
            <a:ext cx="2283441" cy="1303233"/>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15" name="CaixaDeTexto 14">
            <a:extLst>
              <a:ext uri="{FF2B5EF4-FFF2-40B4-BE49-F238E27FC236}">
                <a16:creationId xmlns:a16="http://schemas.microsoft.com/office/drawing/2014/main" id="{AB863AD1-3147-499E-936E-8976A38784FA}"/>
              </a:ext>
            </a:extLst>
          </p:cNvPr>
          <p:cNvSpPr txBox="1"/>
          <p:nvPr/>
        </p:nvSpPr>
        <p:spPr>
          <a:xfrm>
            <a:off x="1368306" y="1639100"/>
            <a:ext cx="2173159" cy="461665"/>
          </a:xfrm>
          <a:prstGeom prst="rect">
            <a:avLst/>
          </a:prstGeom>
          <a:noFill/>
        </p:spPr>
        <p:txBody>
          <a:bodyPr wrap="square" rtlCol="0">
            <a:spAutoFit/>
          </a:bodyPr>
          <a:lstStyle/>
          <a:p>
            <a:r>
              <a:rPr lang="pt-BR" sz="2400">
                <a:solidFill>
                  <a:schemeClr val="tx1">
                    <a:lumMod val="65000"/>
                  </a:schemeClr>
                </a:solidFill>
              </a:rPr>
              <a:t>Plataforma</a:t>
            </a:r>
          </a:p>
        </p:txBody>
      </p:sp>
      <p:pic>
        <p:nvPicPr>
          <p:cNvPr id="29" name="Imagem 28" descr="Imagem em preto e branco&#10;&#10;Descrição gerada automaticamente">
            <a:extLst>
              <a:ext uri="{FF2B5EF4-FFF2-40B4-BE49-F238E27FC236}">
                <a16:creationId xmlns:a16="http://schemas.microsoft.com/office/drawing/2014/main" id="{ACC338F6-D2C1-417F-A9FE-D55FCBAFF0F5}"/>
              </a:ext>
            </a:extLst>
          </p:cNvPr>
          <p:cNvPicPr>
            <a:picLocks noChangeAspect="1"/>
          </p:cNvPicPr>
          <p:nvPr/>
        </p:nvPicPr>
        <p:blipFill>
          <a:blip r:embed="rId3">
            <a:lum bright="70000" contrast="-70000"/>
            <a:alphaModFix amt="35000"/>
            <a:extLst>
              <a:ext uri="{28A0092B-C50C-407E-A947-70E740481C1C}">
                <a14:useLocalDpi xmlns:a14="http://schemas.microsoft.com/office/drawing/2010/main" val="0"/>
              </a:ext>
            </a:extLst>
          </a:blip>
          <a:stretch>
            <a:fillRect/>
          </a:stretch>
        </p:blipFill>
        <p:spPr>
          <a:xfrm>
            <a:off x="5313947" y="2244885"/>
            <a:ext cx="735591" cy="735591"/>
          </a:xfrm>
          <a:prstGeom prst="rect">
            <a:avLst/>
          </a:prstGeom>
          <a:noFill/>
        </p:spPr>
      </p:pic>
      <p:sp>
        <p:nvSpPr>
          <p:cNvPr id="31" name="CaixaDeTexto 30">
            <a:extLst>
              <a:ext uri="{FF2B5EF4-FFF2-40B4-BE49-F238E27FC236}">
                <a16:creationId xmlns:a16="http://schemas.microsoft.com/office/drawing/2014/main" id="{DBDB5C1C-8A31-4BF3-862B-B625208401E8}"/>
              </a:ext>
            </a:extLst>
          </p:cNvPr>
          <p:cNvSpPr txBox="1"/>
          <p:nvPr/>
        </p:nvSpPr>
        <p:spPr>
          <a:xfrm>
            <a:off x="8552881" y="1639100"/>
            <a:ext cx="2086172" cy="400110"/>
          </a:xfrm>
          <a:prstGeom prst="rect">
            <a:avLst/>
          </a:prstGeom>
          <a:noFill/>
        </p:spPr>
        <p:txBody>
          <a:bodyPr wrap="square" rtlCol="0">
            <a:spAutoFit/>
          </a:bodyPr>
          <a:lstStyle/>
          <a:p>
            <a:r>
              <a:rPr lang="pt-BR" sz="2000">
                <a:solidFill>
                  <a:schemeClr val="tx1">
                    <a:lumMod val="65000"/>
                  </a:schemeClr>
                </a:solidFill>
              </a:rPr>
              <a:t>Consumidor</a:t>
            </a:r>
          </a:p>
        </p:txBody>
      </p:sp>
      <p:pic>
        <p:nvPicPr>
          <p:cNvPr id="18" name="Imagem 17" descr="Imagem em preto e branco&#10;&#10;Descrição gerada automaticamente">
            <a:extLst>
              <a:ext uri="{FF2B5EF4-FFF2-40B4-BE49-F238E27FC236}">
                <a16:creationId xmlns:a16="http://schemas.microsoft.com/office/drawing/2014/main" id="{9C2611BE-29E6-4C17-87F6-FAEC3AE7B4CB}"/>
              </a:ext>
            </a:extLst>
          </p:cNvPr>
          <p:cNvPicPr>
            <a:picLocks noChangeAspect="1"/>
          </p:cNvPicPr>
          <p:nvPr/>
        </p:nvPicPr>
        <p:blipFill>
          <a:blip r:embed="rId3">
            <a:lum bright="70000" contrast="-70000"/>
            <a:alphaModFix amt="35000"/>
            <a:extLst>
              <a:ext uri="{28A0092B-C50C-407E-A947-70E740481C1C}">
                <a14:useLocalDpi xmlns:a14="http://schemas.microsoft.com/office/drawing/2010/main" val="0"/>
              </a:ext>
            </a:extLst>
          </a:blip>
          <a:stretch>
            <a:fillRect/>
          </a:stretch>
        </p:blipFill>
        <p:spPr>
          <a:xfrm>
            <a:off x="8860376" y="2244883"/>
            <a:ext cx="735591" cy="735591"/>
          </a:xfrm>
          <a:prstGeom prst="rect">
            <a:avLst/>
          </a:prstGeom>
          <a:noFill/>
        </p:spPr>
      </p:pic>
      <p:sp>
        <p:nvSpPr>
          <p:cNvPr id="19" name="CaixaDeTexto 18">
            <a:extLst>
              <a:ext uri="{FF2B5EF4-FFF2-40B4-BE49-F238E27FC236}">
                <a16:creationId xmlns:a16="http://schemas.microsoft.com/office/drawing/2014/main" id="{FBC46606-855E-4313-82A4-4A985BA38232}"/>
              </a:ext>
            </a:extLst>
          </p:cNvPr>
          <p:cNvSpPr txBox="1"/>
          <p:nvPr/>
        </p:nvSpPr>
        <p:spPr>
          <a:xfrm>
            <a:off x="1052420" y="3595924"/>
            <a:ext cx="2433905" cy="2677656"/>
          </a:xfrm>
          <a:prstGeom prst="rect">
            <a:avLst/>
          </a:prstGeom>
          <a:noFill/>
        </p:spPr>
        <p:txBody>
          <a:bodyPr wrap="square" rtlCol="0">
            <a:spAutoFit/>
          </a:bodyPr>
          <a:lstStyle/>
          <a:p>
            <a:pPr marL="342900" indent="-342900">
              <a:buFontTx/>
              <a:buChar char="-"/>
            </a:pPr>
            <a:r>
              <a:rPr lang="pt-BR">
                <a:solidFill>
                  <a:schemeClr val="tx1">
                    <a:lumMod val="65000"/>
                  </a:schemeClr>
                </a:solidFill>
              </a:rPr>
              <a:t>Porcentagem em registro de NFTs</a:t>
            </a:r>
          </a:p>
          <a:p>
            <a:pPr marL="342900" indent="-342900">
              <a:buFontTx/>
              <a:buChar char="-"/>
            </a:pPr>
            <a:endParaRPr lang="pt-BR">
              <a:solidFill>
                <a:schemeClr val="tx1">
                  <a:lumMod val="65000"/>
                </a:schemeClr>
              </a:solidFill>
            </a:endParaRPr>
          </a:p>
          <a:p>
            <a:pPr marL="342900" indent="-342900">
              <a:buFontTx/>
              <a:buChar char="-"/>
            </a:pPr>
            <a:r>
              <a:rPr lang="pt-BR">
                <a:solidFill>
                  <a:schemeClr val="tx1">
                    <a:lumMod val="65000"/>
                  </a:schemeClr>
                </a:solidFill>
              </a:rPr>
              <a:t>Royalties em Vendas</a:t>
            </a:r>
          </a:p>
          <a:p>
            <a:pPr marL="342900" indent="-342900">
              <a:buFontTx/>
              <a:buChar char="-"/>
            </a:pPr>
            <a:endParaRPr lang="pt-BR">
              <a:solidFill>
                <a:schemeClr val="tx1">
                  <a:lumMod val="65000"/>
                </a:schemeClr>
              </a:solidFill>
            </a:endParaRPr>
          </a:p>
          <a:p>
            <a:pPr marL="342900" indent="-342900">
              <a:buFontTx/>
              <a:buChar char="-"/>
            </a:pPr>
            <a:r>
              <a:rPr lang="pt-BR">
                <a:solidFill>
                  <a:schemeClr val="tx1">
                    <a:lumMod val="65000"/>
                  </a:schemeClr>
                </a:solidFill>
              </a:rPr>
              <a:t>Royalties em Revendas</a:t>
            </a:r>
          </a:p>
          <a:p>
            <a:pPr marL="342900" indent="-342900">
              <a:buFontTx/>
              <a:buChar char="-"/>
            </a:pPr>
            <a:endParaRPr lang="pt-BR" sz="2400">
              <a:solidFill>
                <a:schemeClr val="tx1">
                  <a:lumMod val="65000"/>
                </a:schemeClr>
              </a:solidFill>
            </a:endParaRPr>
          </a:p>
        </p:txBody>
      </p:sp>
      <p:sp>
        <p:nvSpPr>
          <p:cNvPr id="20" name="CaixaDeTexto 19">
            <a:extLst>
              <a:ext uri="{FF2B5EF4-FFF2-40B4-BE49-F238E27FC236}">
                <a16:creationId xmlns:a16="http://schemas.microsoft.com/office/drawing/2014/main" id="{9BB3549D-DC4C-4B3B-8108-2BCA0727B9E8}"/>
              </a:ext>
            </a:extLst>
          </p:cNvPr>
          <p:cNvSpPr txBox="1"/>
          <p:nvPr/>
        </p:nvSpPr>
        <p:spPr>
          <a:xfrm>
            <a:off x="4855343" y="3812012"/>
            <a:ext cx="2173159" cy="1846659"/>
          </a:xfrm>
          <a:prstGeom prst="rect">
            <a:avLst/>
          </a:prstGeom>
          <a:noFill/>
        </p:spPr>
        <p:txBody>
          <a:bodyPr wrap="square" rtlCol="0">
            <a:spAutoFit/>
          </a:bodyPr>
          <a:lstStyle/>
          <a:p>
            <a:r>
              <a:rPr lang="pt-BR">
                <a:solidFill>
                  <a:schemeClr val="tx1">
                    <a:lumMod val="65000"/>
                  </a:schemeClr>
                </a:solidFill>
              </a:rPr>
              <a:t>- Com a Venda  de seus NFTs</a:t>
            </a:r>
          </a:p>
          <a:p>
            <a:pPr marL="342900" indent="-342900">
              <a:buFontTx/>
              <a:buChar char="-"/>
            </a:pPr>
            <a:endParaRPr lang="pt-BR">
              <a:solidFill>
                <a:schemeClr val="tx1">
                  <a:lumMod val="65000"/>
                </a:schemeClr>
              </a:solidFill>
            </a:endParaRPr>
          </a:p>
          <a:p>
            <a:r>
              <a:rPr lang="pt-BR">
                <a:solidFill>
                  <a:schemeClr val="tx1">
                    <a:lumMod val="65000"/>
                  </a:schemeClr>
                </a:solidFill>
              </a:rPr>
              <a:t>- Royalties em Revendas</a:t>
            </a:r>
          </a:p>
          <a:p>
            <a:pPr marL="342900" indent="-342900">
              <a:buFontTx/>
              <a:buChar char="-"/>
            </a:pPr>
            <a:endParaRPr lang="pt-BR" sz="2400">
              <a:solidFill>
                <a:schemeClr val="tx1">
                  <a:lumMod val="65000"/>
                </a:schemeClr>
              </a:solidFill>
            </a:endParaRPr>
          </a:p>
        </p:txBody>
      </p:sp>
      <p:sp>
        <p:nvSpPr>
          <p:cNvPr id="22" name="CaixaDeTexto 21">
            <a:extLst>
              <a:ext uri="{FF2B5EF4-FFF2-40B4-BE49-F238E27FC236}">
                <a16:creationId xmlns:a16="http://schemas.microsoft.com/office/drawing/2014/main" id="{529AAC3B-7240-4606-A44D-65ED9D5951F9}"/>
              </a:ext>
            </a:extLst>
          </p:cNvPr>
          <p:cNvSpPr txBox="1"/>
          <p:nvPr/>
        </p:nvSpPr>
        <p:spPr>
          <a:xfrm>
            <a:off x="8251460" y="3678310"/>
            <a:ext cx="2433905" cy="2400657"/>
          </a:xfrm>
          <a:prstGeom prst="rect">
            <a:avLst/>
          </a:prstGeom>
          <a:noFill/>
        </p:spPr>
        <p:txBody>
          <a:bodyPr wrap="square" rtlCol="0">
            <a:spAutoFit/>
          </a:bodyPr>
          <a:lstStyle/>
          <a:p>
            <a:r>
              <a:rPr lang="pt-BR">
                <a:solidFill>
                  <a:schemeClr val="tx1">
                    <a:lumMod val="65000"/>
                  </a:schemeClr>
                </a:solidFill>
              </a:rPr>
              <a:t>- Aquisição de bens de propriedade intelectual – álbuns.</a:t>
            </a:r>
          </a:p>
          <a:p>
            <a:pPr marL="285750" indent="-285750">
              <a:buFontTx/>
              <a:buChar char="-"/>
            </a:pPr>
            <a:endParaRPr lang="pt-BR">
              <a:solidFill>
                <a:schemeClr val="tx1">
                  <a:lumMod val="65000"/>
                </a:schemeClr>
              </a:solidFill>
            </a:endParaRPr>
          </a:p>
          <a:p>
            <a:r>
              <a:rPr lang="pt-BR">
                <a:solidFill>
                  <a:schemeClr val="tx1">
                    <a:lumMod val="65000"/>
                  </a:schemeClr>
                </a:solidFill>
              </a:rPr>
              <a:t>- Possibilidade de Revenda por um valor subjetivo maior.</a:t>
            </a:r>
          </a:p>
          <a:p>
            <a:pPr marL="342900" indent="-342900">
              <a:buFontTx/>
              <a:buChar char="-"/>
            </a:pPr>
            <a:endParaRPr lang="pt-BR" sz="2400">
              <a:solidFill>
                <a:schemeClr val="tx1">
                  <a:lumMod val="65000"/>
                </a:schemeClr>
              </a:solidFill>
            </a:endParaRPr>
          </a:p>
        </p:txBody>
      </p:sp>
      <p:sp>
        <p:nvSpPr>
          <p:cNvPr id="23" name="CaixaDeTexto 22">
            <a:extLst>
              <a:ext uri="{FF2B5EF4-FFF2-40B4-BE49-F238E27FC236}">
                <a16:creationId xmlns:a16="http://schemas.microsoft.com/office/drawing/2014/main" id="{F77D9D25-8840-472F-8824-3D327EBAED7C}"/>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21 de 25</a:t>
            </a:r>
            <a:endParaRPr lang="pt-BR">
              <a:solidFill>
                <a:schemeClr val="tx1">
                  <a:lumMod val="50000"/>
                </a:schemeClr>
              </a:solidFill>
            </a:endParaRPr>
          </a:p>
        </p:txBody>
      </p:sp>
    </p:spTree>
    <p:extLst>
      <p:ext uri="{BB962C8B-B14F-4D97-AF65-F5344CB8AC3E}">
        <p14:creationId xmlns:p14="http://schemas.microsoft.com/office/powerpoint/2010/main" val="6082711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12" name="CaixaDeTexto 11">
            <a:extLst>
              <a:ext uri="{FF2B5EF4-FFF2-40B4-BE49-F238E27FC236}">
                <a16:creationId xmlns:a16="http://schemas.microsoft.com/office/drawing/2014/main" id="{1E1EB991-9F48-4FD8-BCC0-012B95649030}"/>
              </a:ext>
            </a:extLst>
          </p:cNvPr>
          <p:cNvSpPr txBox="1"/>
          <p:nvPr/>
        </p:nvSpPr>
        <p:spPr>
          <a:xfrm>
            <a:off x="793353" y="1485634"/>
            <a:ext cx="1518364" cy="338554"/>
          </a:xfrm>
          <a:prstGeom prst="rect">
            <a:avLst/>
          </a:prstGeom>
          <a:noFill/>
        </p:spPr>
        <p:txBody>
          <a:bodyPr wrap="square" rtlCol="0">
            <a:spAutoFit/>
          </a:bodyPr>
          <a:lstStyle/>
          <a:p>
            <a:r>
              <a:rPr lang="pt-BR" sz="1600">
                <a:solidFill>
                  <a:schemeClr val="tx1">
                    <a:lumMod val="65000"/>
                  </a:schemeClr>
                </a:solidFill>
              </a:rPr>
              <a:t>Músico</a:t>
            </a:r>
          </a:p>
        </p:txBody>
      </p:sp>
      <p:pic>
        <p:nvPicPr>
          <p:cNvPr id="14" name="Imagem 13" descr="Logotipo&#10;&#10;Descrição gerada automaticamente">
            <a:extLst>
              <a:ext uri="{FF2B5EF4-FFF2-40B4-BE49-F238E27FC236}">
                <a16:creationId xmlns:a16="http://schemas.microsoft.com/office/drawing/2014/main" id="{725022B5-7ADD-487D-9612-B7416B43A922}"/>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b="12198"/>
          <a:stretch/>
        </p:blipFill>
        <p:spPr>
          <a:xfrm>
            <a:off x="295405" y="3029474"/>
            <a:ext cx="2081791" cy="1188145"/>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15" name="CaixaDeTexto 14">
            <a:extLst>
              <a:ext uri="{FF2B5EF4-FFF2-40B4-BE49-F238E27FC236}">
                <a16:creationId xmlns:a16="http://schemas.microsoft.com/office/drawing/2014/main" id="{AB863AD1-3147-499E-936E-8976A38784FA}"/>
              </a:ext>
            </a:extLst>
          </p:cNvPr>
          <p:cNvSpPr txBox="1"/>
          <p:nvPr/>
        </p:nvSpPr>
        <p:spPr>
          <a:xfrm>
            <a:off x="710579" y="2923914"/>
            <a:ext cx="2173159" cy="369332"/>
          </a:xfrm>
          <a:prstGeom prst="rect">
            <a:avLst/>
          </a:prstGeom>
          <a:noFill/>
        </p:spPr>
        <p:txBody>
          <a:bodyPr wrap="square" rtlCol="0">
            <a:spAutoFit/>
          </a:bodyPr>
          <a:lstStyle/>
          <a:p>
            <a:r>
              <a:rPr lang="pt-BR">
                <a:solidFill>
                  <a:schemeClr val="tx1">
                    <a:lumMod val="65000"/>
                  </a:schemeClr>
                </a:solidFill>
              </a:rPr>
              <a:t>Plataforma</a:t>
            </a:r>
          </a:p>
        </p:txBody>
      </p:sp>
      <p:pic>
        <p:nvPicPr>
          <p:cNvPr id="29" name="Imagem 28" descr="Imagem em preto e branco&#10;&#10;Descrição gerada automaticamente">
            <a:extLst>
              <a:ext uri="{FF2B5EF4-FFF2-40B4-BE49-F238E27FC236}">
                <a16:creationId xmlns:a16="http://schemas.microsoft.com/office/drawing/2014/main" id="{ACC338F6-D2C1-417F-A9FE-D55FCBAFF0F5}"/>
              </a:ext>
            </a:extLst>
          </p:cNvPr>
          <p:cNvPicPr>
            <a:picLocks noChangeAspect="1"/>
          </p:cNvPicPr>
          <p:nvPr/>
        </p:nvPicPr>
        <p:blipFill>
          <a:blip r:embed="rId3">
            <a:lum bright="70000" contrast="-70000"/>
            <a:alphaModFix amt="35000"/>
            <a:extLst>
              <a:ext uri="{28A0092B-C50C-407E-A947-70E740481C1C}">
                <a14:useLocalDpi xmlns:a14="http://schemas.microsoft.com/office/drawing/2010/main" val="0"/>
              </a:ext>
            </a:extLst>
          </a:blip>
          <a:stretch>
            <a:fillRect/>
          </a:stretch>
        </p:blipFill>
        <p:spPr>
          <a:xfrm>
            <a:off x="919499" y="1929150"/>
            <a:ext cx="567537" cy="567537"/>
          </a:xfrm>
          <a:prstGeom prst="rect">
            <a:avLst/>
          </a:prstGeom>
          <a:noFill/>
        </p:spPr>
      </p:pic>
      <p:pic>
        <p:nvPicPr>
          <p:cNvPr id="3" name="Imagem 2" descr="Placa branca com letras pretas&#10;&#10;Descrição gerada automaticamente">
            <a:extLst>
              <a:ext uri="{FF2B5EF4-FFF2-40B4-BE49-F238E27FC236}">
                <a16:creationId xmlns:a16="http://schemas.microsoft.com/office/drawing/2014/main" id="{352978AB-ABDC-41D6-BE17-7C8335606530}"/>
              </a:ext>
            </a:extLst>
          </p:cNvPr>
          <p:cNvPicPr>
            <a:picLocks noChangeAspect="1"/>
          </p:cNvPicPr>
          <p:nvPr/>
        </p:nvPicPr>
        <p:blipFill>
          <a:blip r:embed="rId4">
            <a:lum bright="70000" contrast="-70000"/>
            <a:alphaModFix amt="35000"/>
            <a:extLst>
              <a:ext uri="{28A0092B-C50C-407E-A947-70E740481C1C}">
                <a14:useLocalDpi xmlns:a14="http://schemas.microsoft.com/office/drawing/2010/main" val="0"/>
              </a:ext>
            </a:extLst>
          </a:blip>
          <a:stretch>
            <a:fillRect/>
          </a:stretch>
        </p:blipFill>
        <p:spPr>
          <a:xfrm>
            <a:off x="1552535" y="4655781"/>
            <a:ext cx="1011850" cy="1011850"/>
          </a:xfrm>
          <a:prstGeom prst="rect">
            <a:avLst/>
          </a:prstGeom>
        </p:spPr>
      </p:pic>
      <p:sp>
        <p:nvSpPr>
          <p:cNvPr id="16" name="CaixaDeTexto 15">
            <a:extLst>
              <a:ext uri="{FF2B5EF4-FFF2-40B4-BE49-F238E27FC236}">
                <a16:creationId xmlns:a16="http://schemas.microsoft.com/office/drawing/2014/main" id="{F9CD8A58-7DFC-4AF6-9050-9674E13E08D8}"/>
              </a:ext>
            </a:extLst>
          </p:cNvPr>
          <p:cNvSpPr txBox="1"/>
          <p:nvPr/>
        </p:nvSpPr>
        <p:spPr>
          <a:xfrm>
            <a:off x="403441" y="521866"/>
            <a:ext cx="5864106" cy="584775"/>
          </a:xfrm>
          <a:prstGeom prst="rect">
            <a:avLst/>
          </a:prstGeom>
          <a:noFill/>
        </p:spPr>
        <p:txBody>
          <a:bodyPr wrap="none" rtlCol="0">
            <a:spAutoFit/>
          </a:bodyPr>
          <a:lstStyle/>
          <a:p>
            <a:r>
              <a:rPr lang="pt-BR" sz="3200">
                <a:solidFill>
                  <a:schemeClr val="tx1">
                    <a:lumMod val="50000"/>
                  </a:schemeClr>
                </a:solidFill>
              </a:rPr>
              <a:t>Modelo de negócio – Pós MVP</a:t>
            </a:r>
          </a:p>
        </p:txBody>
      </p:sp>
      <p:pic>
        <p:nvPicPr>
          <p:cNvPr id="17" name="Imagem 16" descr="Placa vermelha com letras brancas em fundo preto&#10;&#10;Descrição gerada automaticamente com confiança média">
            <a:extLst>
              <a:ext uri="{FF2B5EF4-FFF2-40B4-BE49-F238E27FC236}">
                <a16:creationId xmlns:a16="http://schemas.microsoft.com/office/drawing/2014/main" id="{538F79B1-5F52-4F72-A739-B94FFAC6E3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4415" y="4593834"/>
            <a:ext cx="932327" cy="932327"/>
          </a:xfrm>
          <a:prstGeom prst="rect">
            <a:avLst/>
          </a:prstGeom>
        </p:spPr>
      </p:pic>
      <p:cxnSp>
        <p:nvCxnSpPr>
          <p:cNvPr id="21" name="Conector de Seta Reta 20">
            <a:extLst>
              <a:ext uri="{FF2B5EF4-FFF2-40B4-BE49-F238E27FC236}">
                <a16:creationId xmlns:a16="http://schemas.microsoft.com/office/drawing/2014/main" id="{59A9E82A-C13B-4366-8FFF-EF20C275AE19}"/>
              </a:ext>
            </a:extLst>
          </p:cNvPr>
          <p:cNvCxnSpPr>
            <a:cxnSpLocks/>
          </p:cNvCxnSpPr>
          <p:nvPr/>
        </p:nvCxnSpPr>
        <p:spPr>
          <a:xfrm>
            <a:off x="1487036" y="3911827"/>
            <a:ext cx="310122" cy="507693"/>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3" name="CaixaDeTexto 22">
            <a:extLst>
              <a:ext uri="{FF2B5EF4-FFF2-40B4-BE49-F238E27FC236}">
                <a16:creationId xmlns:a16="http://schemas.microsoft.com/office/drawing/2014/main" id="{EDA554ED-C46C-4201-9887-AB73EDE7220C}"/>
              </a:ext>
            </a:extLst>
          </p:cNvPr>
          <p:cNvSpPr txBox="1"/>
          <p:nvPr/>
        </p:nvSpPr>
        <p:spPr>
          <a:xfrm>
            <a:off x="2180996" y="4684385"/>
            <a:ext cx="1518364" cy="338554"/>
          </a:xfrm>
          <a:prstGeom prst="rect">
            <a:avLst/>
          </a:prstGeom>
          <a:noFill/>
        </p:spPr>
        <p:txBody>
          <a:bodyPr wrap="square" rtlCol="0">
            <a:spAutoFit/>
          </a:bodyPr>
          <a:lstStyle/>
          <a:p>
            <a:r>
              <a:rPr lang="pt-BR" sz="1600">
                <a:solidFill>
                  <a:schemeClr val="tx1">
                    <a:lumMod val="65000"/>
                  </a:schemeClr>
                </a:solidFill>
              </a:rPr>
              <a:t>NFT</a:t>
            </a:r>
          </a:p>
        </p:txBody>
      </p:sp>
      <p:cxnSp>
        <p:nvCxnSpPr>
          <p:cNvPr id="24" name="Conector de Seta Reta 23">
            <a:extLst>
              <a:ext uri="{FF2B5EF4-FFF2-40B4-BE49-F238E27FC236}">
                <a16:creationId xmlns:a16="http://schemas.microsoft.com/office/drawing/2014/main" id="{D2EE52E7-F83F-4640-91DB-BDB88BCB34C7}"/>
              </a:ext>
            </a:extLst>
          </p:cNvPr>
          <p:cNvCxnSpPr>
            <a:cxnSpLocks/>
            <a:stCxn id="29" idx="2"/>
          </p:cNvCxnSpPr>
          <p:nvPr/>
        </p:nvCxnSpPr>
        <p:spPr>
          <a:xfrm>
            <a:off x="1203268" y="2496687"/>
            <a:ext cx="0" cy="455503"/>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5" name="Conector de Seta Reta 24">
            <a:extLst>
              <a:ext uri="{FF2B5EF4-FFF2-40B4-BE49-F238E27FC236}">
                <a16:creationId xmlns:a16="http://schemas.microsoft.com/office/drawing/2014/main" id="{177AA366-E329-44A1-BAD7-D983024D1D2F}"/>
              </a:ext>
            </a:extLst>
          </p:cNvPr>
          <p:cNvCxnSpPr>
            <a:cxnSpLocks/>
          </p:cNvCxnSpPr>
          <p:nvPr/>
        </p:nvCxnSpPr>
        <p:spPr>
          <a:xfrm flipH="1">
            <a:off x="793354" y="3911827"/>
            <a:ext cx="383388" cy="571396"/>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30" name="CaixaDeTexto 29">
            <a:extLst>
              <a:ext uri="{FF2B5EF4-FFF2-40B4-BE49-F238E27FC236}">
                <a16:creationId xmlns:a16="http://schemas.microsoft.com/office/drawing/2014/main" id="{DBF0BD32-239F-4EF4-BDA6-62D94B67FBE0}"/>
              </a:ext>
            </a:extLst>
          </p:cNvPr>
          <p:cNvSpPr txBox="1"/>
          <p:nvPr/>
        </p:nvSpPr>
        <p:spPr>
          <a:xfrm>
            <a:off x="3765703" y="2458826"/>
            <a:ext cx="7632943" cy="3046988"/>
          </a:xfrm>
          <a:prstGeom prst="rect">
            <a:avLst/>
          </a:prstGeom>
          <a:noFill/>
        </p:spPr>
        <p:txBody>
          <a:bodyPr wrap="square" rtlCol="0">
            <a:spAutoFit/>
          </a:bodyPr>
          <a:lstStyle/>
          <a:p>
            <a:pPr algn="just"/>
            <a:r>
              <a:rPr lang="pt-BR" sz="1600">
                <a:solidFill>
                  <a:schemeClr val="tx1">
                    <a:lumMod val="50000"/>
                  </a:schemeClr>
                </a:solidFill>
              </a:rPr>
              <a:t>- Surgiu como uma ideia de segundo produto para a plataforma durante as entrevistas.</a:t>
            </a:r>
          </a:p>
          <a:p>
            <a:pPr algn="just"/>
            <a:endParaRPr lang="pt-BR" sz="1600">
              <a:solidFill>
                <a:schemeClr val="tx1">
                  <a:lumMod val="50000"/>
                </a:schemeClr>
              </a:solidFill>
            </a:endParaRPr>
          </a:p>
          <a:p>
            <a:pPr algn="just"/>
            <a:r>
              <a:rPr lang="pt-BR" sz="1600">
                <a:solidFill>
                  <a:schemeClr val="tx1">
                    <a:lumMod val="50000"/>
                  </a:schemeClr>
                </a:solidFill>
              </a:rPr>
              <a:t>- Permite a criação de um passe VIP vitalício que o dono-ouvinte pode alugar para alguém interessado no próximo show da banda; cada transação gera royalties para a banda e para a Diskify, fora os ganhos do dono.</a:t>
            </a:r>
          </a:p>
          <a:p>
            <a:pPr algn="just"/>
            <a:endParaRPr lang="pt-BR" sz="1600">
              <a:solidFill>
                <a:schemeClr val="tx1">
                  <a:lumMod val="50000"/>
                </a:schemeClr>
              </a:solidFill>
            </a:endParaRPr>
          </a:p>
          <a:p>
            <a:pPr algn="just"/>
            <a:r>
              <a:rPr lang="pt-BR" sz="1600">
                <a:solidFill>
                  <a:schemeClr val="tx1">
                    <a:lumMod val="50000"/>
                  </a:schemeClr>
                </a:solidFill>
              </a:rPr>
              <a:t>- Permite a  criação de um passe para um show; depois do uso no show, vira um colecionável. Isto aconteceu com passes da Lollapalooza, sendo revendidos pós-uso no Ebay, esse fenômeno se assemelha as obras de Beeple, porém, com uma utilidade no mundo físico.</a:t>
            </a:r>
          </a:p>
          <a:p>
            <a:endParaRPr lang="pt-BR" sz="1600">
              <a:solidFill>
                <a:schemeClr val="tx1">
                  <a:lumMod val="50000"/>
                </a:schemeClr>
              </a:solidFill>
            </a:endParaRPr>
          </a:p>
        </p:txBody>
      </p:sp>
      <p:sp>
        <p:nvSpPr>
          <p:cNvPr id="32" name="CaixaDeTexto 31">
            <a:extLst>
              <a:ext uri="{FF2B5EF4-FFF2-40B4-BE49-F238E27FC236}">
                <a16:creationId xmlns:a16="http://schemas.microsoft.com/office/drawing/2014/main" id="{0CAA13BF-2265-4165-8B00-2214A004F90A}"/>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22 de 25</a:t>
            </a:r>
            <a:endParaRPr lang="pt-BR">
              <a:solidFill>
                <a:schemeClr val="tx1">
                  <a:lumMod val="50000"/>
                </a:schemeClr>
              </a:solidFill>
            </a:endParaRPr>
          </a:p>
        </p:txBody>
      </p:sp>
    </p:spTree>
    <p:extLst>
      <p:ext uri="{BB962C8B-B14F-4D97-AF65-F5344CB8AC3E}">
        <p14:creationId xmlns:p14="http://schemas.microsoft.com/office/powerpoint/2010/main" val="42744212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pic>
        <p:nvPicPr>
          <p:cNvPr id="5" name="Imagem 4">
            <a:extLst>
              <a:ext uri="{FF2B5EF4-FFF2-40B4-BE49-F238E27FC236}">
                <a16:creationId xmlns:a16="http://schemas.microsoft.com/office/drawing/2014/main" id="{A11CA3D5-D93C-4893-BA5A-48EEEED5866D}"/>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109662" y="1134502"/>
            <a:ext cx="9972675" cy="5343011"/>
          </a:xfrm>
          <a:prstGeom prst="rect">
            <a:avLst/>
          </a:prstGeom>
          <a:noFill/>
          <a:ln>
            <a:noFill/>
          </a:ln>
        </p:spPr>
      </p:pic>
      <p:sp>
        <p:nvSpPr>
          <p:cNvPr id="6" name="CaixaDeTexto 5">
            <a:extLst>
              <a:ext uri="{FF2B5EF4-FFF2-40B4-BE49-F238E27FC236}">
                <a16:creationId xmlns:a16="http://schemas.microsoft.com/office/drawing/2014/main" id="{DFEF4B81-767E-4387-842D-88F2F3020E17}"/>
              </a:ext>
            </a:extLst>
          </p:cNvPr>
          <p:cNvSpPr txBox="1"/>
          <p:nvPr/>
        </p:nvSpPr>
        <p:spPr>
          <a:xfrm>
            <a:off x="374866" y="285237"/>
            <a:ext cx="6343403" cy="707886"/>
          </a:xfrm>
          <a:prstGeom prst="rect">
            <a:avLst/>
          </a:prstGeom>
          <a:noFill/>
        </p:spPr>
        <p:txBody>
          <a:bodyPr wrap="none" rtlCol="0">
            <a:spAutoFit/>
          </a:bodyPr>
          <a:lstStyle/>
          <a:p>
            <a:r>
              <a:rPr lang="pt-BR" sz="4000">
                <a:solidFill>
                  <a:schemeClr val="tx1">
                    <a:lumMod val="50000"/>
                  </a:schemeClr>
                </a:solidFill>
              </a:rPr>
              <a:t>Plano de desenvolvimento</a:t>
            </a:r>
            <a:endParaRPr lang="pt-BR" sz="3200">
              <a:solidFill>
                <a:schemeClr val="tx1">
                  <a:lumMod val="50000"/>
                </a:schemeClr>
              </a:solidFill>
            </a:endParaRPr>
          </a:p>
        </p:txBody>
      </p:sp>
      <p:sp>
        <p:nvSpPr>
          <p:cNvPr id="7" name="CaixaDeTexto 6">
            <a:extLst>
              <a:ext uri="{FF2B5EF4-FFF2-40B4-BE49-F238E27FC236}">
                <a16:creationId xmlns:a16="http://schemas.microsoft.com/office/drawing/2014/main" id="{853CA6C7-E1ED-4B27-97EE-D6823C426EBA}"/>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23 de 25</a:t>
            </a:r>
            <a:endParaRPr lang="pt-BR">
              <a:solidFill>
                <a:schemeClr val="tx1">
                  <a:lumMod val="50000"/>
                </a:schemeClr>
              </a:solidFill>
            </a:endParaRPr>
          </a:p>
        </p:txBody>
      </p:sp>
    </p:spTree>
    <p:extLst>
      <p:ext uri="{BB962C8B-B14F-4D97-AF65-F5344CB8AC3E}">
        <p14:creationId xmlns:p14="http://schemas.microsoft.com/office/powerpoint/2010/main" val="15372738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m 146" descr="Logotipo&#10;&#10;Descrição gerada automaticamente">
            <a:extLst>
              <a:ext uri="{FF2B5EF4-FFF2-40B4-BE49-F238E27FC236}">
                <a16:creationId xmlns:a16="http://schemas.microsoft.com/office/drawing/2014/main" id="{2AB39122-7DF8-4AAB-A5DE-083B65F568AE}"/>
              </a:ext>
            </a:extLst>
          </p:cNvPr>
          <p:cNvPicPr>
            <a:picLocks noChangeAspect="1"/>
          </p:cNvPicPr>
          <p:nvPr/>
        </p:nvPicPr>
        <p:blipFill rotWithShape="1">
          <a:blip r:embed="rId2">
            <a:extLst>
              <a:ext uri="{28A0092B-C50C-407E-A947-70E740481C1C}">
                <a14:useLocalDpi xmlns:a14="http://schemas.microsoft.com/office/drawing/2010/main" val="0"/>
              </a:ext>
            </a:extLst>
          </a:blip>
          <a:srcRect t="11789" r="53021" b="59777"/>
          <a:stretch/>
        </p:blipFill>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6" name="CaixaDeTexto 5">
            <a:extLst>
              <a:ext uri="{FF2B5EF4-FFF2-40B4-BE49-F238E27FC236}">
                <a16:creationId xmlns:a16="http://schemas.microsoft.com/office/drawing/2014/main" id="{DFEF4B81-767E-4387-842D-88F2F3020E17}"/>
              </a:ext>
            </a:extLst>
          </p:cNvPr>
          <p:cNvSpPr txBox="1"/>
          <p:nvPr/>
        </p:nvSpPr>
        <p:spPr>
          <a:xfrm>
            <a:off x="403441" y="521866"/>
            <a:ext cx="2402196" cy="584775"/>
          </a:xfrm>
          <a:prstGeom prst="rect">
            <a:avLst/>
          </a:prstGeom>
          <a:noFill/>
        </p:spPr>
        <p:txBody>
          <a:bodyPr wrap="none" rtlCol="0">
            <a:spAutoFit/>
          </a:bodyPr>
          <a:lstStyle/>
          <a:p>
            <a:r>
              <a:rPr lang="pt-BR" sz="3200">
                <a:solidFill>
                  <a:schemeClr val="tx1">
                    <a:lumMod val="50000"/>
                  </a:schemeClr>
                </a:solidFill>
              </a:rPr>
              <a:t>Tecnologias</a:t>
            </a:r>
          </a:p>
        </p:txBody>
      </p:sp>
      <p:pic>
        <p:nvPicPr>
          <p:cNvPr id="3" name="Imagem 2" descr="Uma imagem contendo Ícone&#10;&#10;Descrição gerada automaticamente">
            <a:extLst>
              <a:ext uri="{FF2B5EF4-FFF2-40B4-BE49-F238E27FC236}">
                <a16:creationId xmlns:a16="http://schemas.microsoft.com/office/drawing/2014/main" id="{199D75E4-1CA5-4D30-83DE-DF106B953599}"/>
              </a:ext>
            </a:extLst>
          </p:cNvPr>
          <p:cNvPicPr>
            <a:picLocks noChangeAspect="1"/>
          </p:cNvPicPr>
          <p:nvPr/>
        </p:nvPicPr>
        <p:blipFill>
          <a:blip r:embed="rId3">
            <a:lum bright="70000" contrast="-70000"/>
            <a:alphaModFix amt="50000"/>
            <a:extLst>
              <a:ext uri="{28A0092B-C50C-407E-A947-70E740481C1C}">
                <a14:useLocalDpi xmlns:a14="http://schemas.microsoft.com/office/drawing/2010/main" val="0"/>
              </a:ext>
            </a:extLst>
          </a:blip>
          <a:stretch>
            <a:fillRect/>
          </a:stretch>
        </p:blipFill>
        <p:spPr>
          <a:xfrm>
            <a:off x="890566" y="1628507"/>
            <a:ext cx="1529919" cy="1529919"/>
          </a:xfrm>
          <a:prstGeom prst="rect">
            <a:avLst/>
          </a:prstGeom>
        </p:spPr>
      </p:pic>
      <p:pic>
        <p:nvPicPr>
          <p:cNvPr id="5" name="Imagem 4" descr="Logotipo, nome da empresa&#10;&#10;Descrição gerada automaticamente">
            <a:extLst>
              <a:ext uri="{FF2B5EF4-FFF2-40B4-BE49-F238E27FC236}">
                <a16:creationId xmlns:a16="http://schemas.microsoft.com/office/drawing/2014/main" id="{EEFA5043-C352-49BD-BBC6-F4965D3C7B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5637" y="1898742"/>
            <a:ext cx="2214636" cy="1107318"/>
          </a:xfrm>
          <a:prstGeom prst="rect">
            <a:avLst/>
          </a:prstGeom>
        </p:spPr>
      </p:pic>
      <p:pic>
        <p:nvPicPr>
          <p:cNvPr id="8" name="Imagem 7" descr="Placa vermelha com letras brancas em fundo preto&#10;&#10;Descrição gerada automaticamente com confiança média">
            <a:extLst>
              <a:ext uri="{FF2B5EF4-FFF2-40B4-BE49-F238E27FC236}">
                <a16:creationId xmlns:a16="http://schemas.microsoft.com/office/drawing/2014/main" id="{AD843596-CE5B-4BDE-A7CF-13930910A3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42210" y="1850357"/>
            <a:ext cx="1308069" cy="1308069"/>
          </a:xfrm>
          <a:prstGeom prst="rect">
            <a:avLst/>
          </a:prstGeom>
        </p:spPr>
      </p:pic>
      <p:pic>
        <p:nvPicPr>
          <p:cNvPr id="9" name="Imagem 8" descr="Diagrama, Texto&#10;&#10;Descrição gerada automaticamente">
            <a:extLst>
              <a:ext uri="{FF2B5EF4-FFF2-40B4-BE49-F238E27FC236}">
                <a16:creationId xmlns:a16="http://schemas.microsoft.com/office/drawing/2014/main" id="{4A95A25A-B8B0-47CA-BC62-5D26287B6E51}"/>
              </a:ext>
            </a:extLst>
          </p:cNvPr>
          <p:cNvPicPr>
            <a:picLocks noChangeAspect="1"/>
          </p:cNvPicPr>
          <p:nvPr/>
        </p:nvPicPr>
        <p:blipFill>
          <a:blip r:embed="rId6">
            <a:lum bright="70000" contrast="-70000"/>
            <a:alphaModFix amt="35000"/>
            <a:extLst>
              <a:ext uri="{28A0092B-C50C-407E-A947-70E740481C1C}">
                <a14:useLocalDpi xmlns:a14="http://schemas.microsoft.com/office/drawing/2010/main" val="0"/>
              </a:ext>
            </a:extLst>
          </a:blip>
          <a:stretch>
            <a:fillRect/>
          </a:stretch>
        </p:blipFill>
        <p:spPr>
          <a:xfrm>
            <a:off x="839579" y="4208628"/>
            <a:ext cx="1631895" cy="1631895"/>
          </a:xfrm>
          <a:prstGeom prst="rect">
            <a:avLst/>
          </a:prstGeom>
        </p:spPr>
      </p:pic>
      <p:pic>
        <p:nvPicPr>
          <p:cNvPr id="11" name="Imagem 10" descr="Logotipo&#10;&#10;Descrição gerada automaticamente">
            <a:extLst>
              <a:ext uri="{FF2B5EF4-FFF2-40B4-BE49-F238E27FC236}">
                <a16:creationId xmlns:a16="http://schemas.microsoft.com/office/drawing/2014/main" id="{693F960E-697F-473E-AD3D-B37584B0021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05637" y="3994951"/>
            <a:ext cx="2214979" cy="2214979"/>
          </a:xfrm>
          <a:prstGeom prst="rect">
            <a:avLst/>
          </a:prstGeom>
        </p:spPr>
      </p:pic>
      <p:sp>
        <p:nvSpPr>
          <p:cNvPr id="12" name="Retângulo 11">
            <a:extLst>
              <a:ext uri="{FF2B5EF4-FFF2-40B4-BE49-F238E27FC236}">
                <a16:creationId xmlns:a16="http://schemas.microsoft.com/office/drawing/2014/main" id="{616F72C7-54EE-4790-B79E-591978A7951B}"/>
              </a:ext>
            </a:extLst>
          </p:cNvPr>
          <p:cNvSpPr/>
          <p:nvPr/>
        </p:nvSpPr>
        <p:spPr>
          <a:xfrm>
            <a:off x="6115086" y="1632508"/>
            <a:ext cx="45719" cy="4208015"/>
          </a:xfrm>
          <a:prstGeom prst="rect">
            <a:avLst/>
          </a:prstGeom>
          <a:solidFill>
            <a:schemeClr val="bg1">
              <a:lumMod val="65000"/>
              <a:lumOff val="35000"/>
            </a:schemeClr>
          </a:solidFill>
          <a:ln>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6" name="Imagem 15" descr="Forma&#10;&#10;Descrição gerada automaticamente com confiança média">
            <a:extLst>
              <a:ext uri="{FF2B5EF4-FFF2-40B4-BE49-F238E27FC236}">
                <a16:creationId xmlns:a16="http://schemas.microsoft.com/office/drawing/2014/main" id="{BCBDAE79-F741-44AE-980E-BF0F856E5F3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010325" y="2297155"/>
            <a:ext cx="1928159" cy="1284938"/>
          </a:xfrm>
          <a:prstGeom prst="rect">
            <a:avLst/>
          </a:prstGeom>
        </p:spPr>
      </p:pic>
      <p:pic>
        <p:nvPicPr>
          <p:cNvPr id="14" name="Imagem 13" descr="Desenho de uma pessoa&#10;&#10;Descrição gerada automaticamente com confiança média">
            <a:extLst>
              <a:ext uri="{FF2B5EF4-FFF2-40B4-BE49-F238E27FC236}">
                <a16:creationId xmlns:a16="http://schemas.microsoft.com/office/drawing/2014/main" id="{A1C43ACD-2261-4D70-AE16-D0E42188240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150706" y="1562230"/>
            <a:ext cx="1409400" cy="1409400"/>
          </a:xfrm>
          <a:prstGeom prst="rect">
            <a:avLst/>
          </a:prstGeom>
        </p:spPr>
      </p:pic>
      <p:pic>
        <p:nvPicPr>
          <p:cNvPr id="18" name="Imagem 17" descr="Uma imagem contendo objeto, relógio, luz&#10;&#10;Descrição gerada automaticamente">
            <a:extLst>
              <a:ext uri="{FF2B5EF4-FFF2-40B4-BE49-F238E27FC236}">
                <a16:creationId xmlns:a16="http://schemas.microsoft.com/office/drawing/2014/main" id="{DEAB194A-6548-400D-A163-DA669124265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471989" y="4829453"/>
            <a:ext cx="1227151" cy="1227151"/>
          </a:xfrm>
          <a:prstGeom prst="rect">
            <a:avLst/>
          </a:prstGeom>
        </p:spPr>
      </p:pic>
      <p:pic>
        <p:nvPicPr>
          <p:cNvPr id="20" name="Imagem 19" descr="Logotipo&#10;&#10;Descrição gerada automaticamente">
            <a:extLst>
              <a:ext uri="{FF2B5EF4-FFF2-40B4-BE49-F238E27FC236}">
                <a16:creationId xmlns:a16="http://schemas.microsoft.com/office/drawing/2014/main" id="{57985BFC-D076-42DB-BA15-02CD7AEA72F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651129" y="4829453"/>
            <a:ext cx="1588881" cy="1205358"/>
          </a:xfrm>
          <a:prstGeom prst="rect">
            <a:avLst/>
          </a:prstGeom>
        </p:spPr>
      </p:pic>
      <p:sp>
        <p:nvSpPr>
          <p:cNvPr id="22" name="CaixaDeTexto 21">
            <a:extLst>
              <a:ext uri="{FF2B5EF4-FFF2-40B4-BE49-F238E27FC236}">
                <a16:creationId xmlns:a16="http://schemas.microsoft.com/office/drawing/2014/main" id="{4E777BB1-97CF-4521-B175-E10A625CBD6C}"/>
              </a:ext>
            </a:extLst>
          </p:cNvPr>
          <p:cNvSpPr txBox="1"/>
          <p:nvPr/>
        </p:nvSpPr>
        <p:spPr>
          <a:xfrm>
            <a:off x="7603701" y="5725113"/>
            <a:ext cx="963725" cy="400110"/>
          </a:xfrm>
          <a:prstGeom prst="rect">
            <a:avLst/>
          </a:prstGeom>
          <a:noFill/>
        </p:spPr>
        <p:txBody>
          <a:bodyPr wrap="none" rtlCol="0">
            <a:spAutoFit/>
          </a:bodyPr>
          <a:lstStyle/>
          <a:p>
            <a:r>
              <a:rPr lang="pt-BR" sz="2000" i="1">
                <a:solidFill>
                  <a:schemeClr val="tx1">
                    <a:lumMod val="65000"/>
                  </a:schemeClr>
                </a:solidFill>
              </a:rPr>
              <a:t>Solana</a:t>
            </a:r>
          </a:p>
        </p:txBody>
      </p:sp>
      <p:sp>
        <p:nvSpPr>
          <p:cNvPr id="23" name="CaixaDeTexto 22">
            <a:extLst>
              <a:ext uri="{FF2B5EF4-FFF2-40B4-BE49-F238E27FC236}">
                <a16:creationId xmlns:a16="http://schemas.microsoft.com/office/drawing/2014/main" id="{7DF1A7D8-B159-41AC-9364-10136C0530E0}"/>
              </a:ext>
            </a:extLst>
          </p:cNvPr>
          <p:cNvSpPr txBox="1"/>
          <p:nvPr/>
        </p:nvSpPr>
        <p:spPr>
          <a:xfrm>
            <a:off x="10515221" y="183312"/>
            <a:ext cx="1414170" cy="461665"/>
          </a:xfrm>
          <a:prstGeom prst="rect">
            <a:avLst/>
          </a:prstGeom>
          <a:noFill/>
        </p:spPr>
        <p:txBody>
          <a:bodyPr wrap="none" rtlCol="0">
            <a:spAutoFit/>
          </a:bodyPr>
          <a:lstStyle/>
          <a:p>
            <a:r>
              <a:rPr lang="pt-BR" sz="2400">
                <a:solidFill>
                  <a:schemeClr val="tx1">
                    <a:lumMod val="50000"/>
                  </a:schemeClr>
                </a:solidFill>
              </a:rPr>
              <a:t>24 de 25</a:t>
            </a:r>
            <a:endParaRPr lang="pt-BR">
              <a:solidFill>
                <a:schemeClr val="tx1">
                  <a:lumMod val="50000"/>
                </a:schemeClr>
              </a:solidFill>
            </a:endParaRPr>
          </a:p>
        </p:txBody>
      </p:sp>
    </p:spTree>
    <p:extLst>
      <p:ext uri="{BB962C8B-B14F-4D97-AF65-F5344CB8AC3E}">
        <p14:creationId xmlns:p14="http://schemas.microsoft.com/office/powerpoint/2010/main" val="537584030"/>
      </p:ext>
    </p:extLst>
  </p:cSld>
  <p:clrMapOvr>
    <a:masterClrMapping/>
  </p:clrMapOvr>
</p:sld>
</file>

<file path=ppt/theme/theme1.xml><?xml version="1.0" encoding="utf-8"?>
<a:theme xmlns:a="http://schemas.openxmlformats.org/drawingml/2006/main" name="LeafVTI">
  <a:themeElements>
    <a:clrScheme name="Leaf">
      <a:dk1>
        <a:sysClr val="windowText" lastClr="000000"/>
      </a:dk1>
      <a:lt1>
        <a:sysClr val="window" lastClr="FFFFFF"/>
      </a:lt1>
      <a:dk2>
        <a:srgbClr val="732124"/>
      </a:dk2>
      <a:lt2>
        <a:srgbClr val="F0EDE5"/>
      </a:lt2>
      <a:accent1>
        <a:srgbClr val="D34817"/>
      </a:accent1>
      <a:accent2>
        <a:srgbClr val="A68D65"/>
      </a:accent2>
      <a:accent3>
        <a:srgbClr val="728377"/>
      </a:accent3>
      <a:accent4>
        <a:srgbClr val="B4797B"/>
      </a:accent4>
      <a:accent5>
        <a:srgbClr val="CE8439"/>
      </a:accent5>
      <a:accent6>
        <a:srgbClr val="CF3A2A"/>
      </a:accent6>
      <a:hlink>
        <a:srgbClr val="D06853"/>
      </a:hlink>
      <a:folHlink>
        <a:srgbClr val="B67779"/>
      </a:folHlink>
    </a:clrScheme>
    <a:fontScheme name="Leaf">
      <a:majorFont>
        <a:latin typeface="Rockwell Nova Light"/>
        <a:ea typeface=""/>
        <a:cs typeface=""/>
      </a:majorFont>
      <a:minorFont>
        <a:latin typeface="Avenir Next LT Pro Ligh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afVTI" id="{AD13D32C-3873-4EF1-A28C-5D0E64FF0913}" vid="{0D2E0FD0-9C17-4337-BD21-33917FC300A9}"/>
    </a:ext>
  </a:extLst>
</a:theme>
</file>

<file path=docProps/app.xml><?xml version="1.0" encoding="utf-8"?>
<Properties xmlns="http://schemas.openxmlformats.org/officeDocument/2006/extended-properties" xmlns:vt="http://schemas.openxmlformats.org/officeDocument/2006/docPropsVTypes">
  <TotalTime>2339</TotalTime>
  <Words>3018</Words>
  <Application>Microsoft Office PowerPoint</Application>
  <PresentationFormat>Widescreen</PresentationFormat>
  <Paragraphs>272</Paragraphs>
  <Slides>53</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53</vt:i4>
      </vt:variant>
    </vt:vector>
  </HeadingPairs>
  <TitlesOfParts>
    <vt:vector size="59" baseType="lpstr">
      <vt:lpstr>Arial</vt:lpstr>
      <vt:lpstr>Avenir Next LT Pro Light</vt:lpstr>
      <vt:lpstr>Rockwell Nova Light</vt:lpstr>
      <vt:lpstr>Times New Roman</vt:lpstr>
      <vt:lpstr>Wingdings</vt:lpstr>
      <vt:lpstr>LeafVTI</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Gustavo</dc:creator>
  <cp:lastModifiedBy>Gustavo</cp:lastModifiedBy>
  <cp:revision>38</cp:revision>
  <dcterms:created xsi:type="dcterms:W3CDTF">2021-04-29T23:00:06Z</dcterms:created>
  <dcterms:modified xsi:type="dcterms:W3CDTF">2021-06-18T00:03:08Z</dcterms:modified>
</cp:coreProperties>
</file>